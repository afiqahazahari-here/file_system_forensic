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87" r:id="rId2"/>
    <p:sldId id="286" r:id="rId3"/>
    <p:sldId id="256" r:id="rId4"/>
    <p:sldId id="291" r:id="rId5"/>
    <p:sldId id="292"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79" r:id="rId19"/>
    <p:sldId id="269" r:id="rId20"/>
    <p:sldId id="270" r:id="rId21"/>
    <p:sldId id="271" r:id="rId22"/>
    <p:sldId id="272" r:id="rId23"/>
    <p:sldId id="295" r:id="rId24"/>
    <p:sldId id="296" r:id="rId25"/>
    <p:sldId id="273" r:id="rId26"/>
    <p:sldId id="274" r:id="rId27"/>
    <p:sldId id="275" r:id="rId28"/>
    <p:sldId id="276" r:id="rId29"/>
    <p:sldId id="288" r:id="rId30"/>
    <p:sldId id="290" r:id="rId31"/>
    <p:sldId id="289" r:id="rId32"/>
    <p:sldId id="293" r:id="rId33"/>
    <p:sldId id="294" r:id="rId34"/>
    <p:sldId id="277" r:id="rId35"/>
    <p:sldId id="278" r:id="rId36"/>
    <p:sldId id="297" r:id="rId37"/>
    <p:sldId id="298" r:id="rId38"/>
    <p:sldId id="299" r:id="rId39"/>
    <p:sldId id="300" r:id="rId40"/>
    <p:sldId id="301" r:id="rId41"/>
    <p:sldId id="302" r:id="rId42"/>
    <p:sldId id="303" r:id="rId43"/>
    <p:sldId id="304" r:id="rId44"/>
    <p:sldId id="305"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9613" autoAdjust="0"/>
  </p:normalViewPr>
  <p:slideViewPr>
    <p:cSldViewPr snapToGrid="0">
      <p:cViewPr varScale="1">
        <p:scale>
          <a:sx n="77" d="100"/>
          <a:sy n="77" d="100"/>
        </p:scale>
        <p:origin x="191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0DC6EC-8AC4-4172-92CA-8CF9CBEE6D98}" type="datetimeFigureOut">
              <a:rPr lang="en-MY" smtClean="0"/>
              <a:t>11/11/2025</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0D48F8-7E2E-437A-88E4-D331DE2A215D}" type="slidenum">
              <a:rPr lang="en-MY" smtClean="0"/>
              <a:t>‹#›</a:t>
            </a:fld>
            <a:endParaRPr lang="en-MY"/>
          </a:p>
        </p:txBody>
      </p:sp>
    </p:spTree>
    <p:extLst>
      <p:ext uri="{BB962C8B-B14F-4D97-AF65-F5344CB8AC3E}">
        <p14:creationId xmlns:p14="http://schemas.microsoft.com/office/powerpoint/2010/main" val="2958104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6</a:t>
            </a:fld>
            <a:endParaRPr lang="en-MY"/>
          </a:p>
        </p:txBody>
      </p:sp>
    </p:spTree>
    <p:extLst>
      <p:ext uri="{BB962C8B-B14F-4D97-AF65-F5344CB8AC3E}">
        <p14:creationId xmlns:p14="http://schemas.microsoft.com/office/powerpoint/2010/main" val="4230368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Little endian – the smallest piece of data (the least significant byte) is stored first in memory.</a:t>
            </a:r>
          </a:p>
          <a:p>
            <a:r>
              <a:rPr lang="en-MY" dirty="0"/>
              <a:t>Lets take: 0x12345678</a:t>
            </a:r>
          </a:p>
          <a:p>
            <a:r>
              <a:rPr lang="en-US" dirty="0"/>
              <a:t>Each pair of digits (</a:t>
            </a:r>
            <a:r>
              <a:rPr lang="en-US" sz="1200" kern="1200" dirty="0">
                <a:solidFill>
                  <a:schemeClr val="tx1"/>
                </a:solidFill>
                <a:latin typeface="+mn-lt"/>
                <a:ea typeface="+mn-ea"/>
                <a:cs typeface="+mn-cs"/>
              </a:rPr>
              <a:t>12</a:t>
            </a:r>
            <a:r>
              <a:rPr lang="en-US" dirty="0"/>
              <a:t>, </a:t>
            </a:r>
            <a:r>
              <a:rPr lang="en-US" sz="1200" kern="1200" dirty="0">
                <a:solidFill>
                  <a:schemeClr val="tx1"/>
                </a:solidFill>
                <a:latin typeface="+mn-lt"/>
                <a:ea typeface="+mn-ea"/>
                <a:cs typeface="+mn-cs"/>
              </a:rPr>
              <a:t>34</a:t>
            </a:r>
            <a:r>
              <a:rPr lang="en-US" dirty="0"/>
              <a:t>, </a:t>
            </a:r>
            <a:r>
              <a:rPr lang="en-US" sz="1200" kern="1200" dirty="0">
                <a:solidFill>
                  <a:schemeClr val="tx1"/>
                </a:solidFill>
                <a:latin typeface="+mn-lt"/>
                <a:ea typeface="+mn-ea"/>
                <a:cs typeface="+mn-cs"/>
              </a:rPr>
              <a:t>56</a:t>
            </a:r>
            <a:r>
              <a:rPr lang="en-US" dirty="0"/>
              <a:t>, </a:t>
            </a:r>
            <a:r>
              <a:rPr lang="en-US" sz="1200" kern="1200" dirty="0">
                <a:solidFill>
                  <a:schemeClr val="tx1"/>
                </a:solidFill>
                <a:latin typeface="+mn-lt"/>
                <a:ea typeface="+mn-ea"/>
                <a:cs typeface="+mn-cs"/>
              </a:rPr>
              <a:t>78</a:t>
            </a:r>
            <a:r>
              <a:rPr lang="en-US" dirty="0"/>
              <a:t>) is one byte.</a:t>
            </a:r>
          </a:p>
          <a:p>
            <a:r>
              <a:rPr lang="en-MY" dirty="0"/>
              <a:t>How its store in little-endian: 78 56 34 12</a:t>
            </a:r>
          </a:p>
          <a:p>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7</a:t>
            </a:fld>
            <a:endParaRPr lang="en-MY"/>
          </a:p>
        </p:txBody>
      </p:sp>
    </p:spTree>
    <p:extLst>
      <p:ext uri="{BB962C8B-B14F-4D97-AF65-F5344CB8AC3E}">
        <p14:creationId xmlns:p14="http://schemas.microsoft.com/office/powerpoint/2010/main" val="1357092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Traditionally (i.e. FAT12 and FAT16) the beginning of the data area always contains the root directory structure from which the contents of the entire file system can be listed. In FAT32 the root directory is no longer guaranteed to appear at the very beginning of the data area; instead, it can be found anywhere inside the data area. Its location is found in the VBR (although it is still commonly found at the beginning of the data area).</a:t>
            </a:r>
            <a:r>
              <a:rPr lang="en-US" dirty="0"/>
              <a:t> </a:t>
            </a:r>
          </a:p>
          <a:p>
            <a:endParaRPr lang="en-US" dirty="0"/>
          </a:p>
          <a:p>
            <a:r>
              <a:rPr lang="en-US" dirty="0"/>
              <a:t>-- Volume boot record: This book is written in FAT32 format, chapters start at page X, and here’s how to find them.</a:t>
            </a:r>
            <a:br>
              <a:rPr lang="en-US" dirty="0"/>
            </a:br>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8</a:t>
            </a:fld>
            <a:endParaRPr lang="en-MY"/>
          </a:p>
        </p:txBody>
      </p:sp>
    </p:spTree>
    <p:extLst>
      <p:ext uri="{BB962C8B-B14F-4D97-AF65-F5344CB8AC3E}">
        <p14:creationId xmlns:p14="http://schemas.microsoft.com/office/powerpoint/2010/main" val="4048751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9</a:t>
            </a:fld>
            <a:endParaRPr lang="en-MY"/>
          </a:p>
        </p:txBody>
      </p:sp>
    </p:spTree>
    <p:extLst>
      <p:ext uri="{BB962C8B-B14F-4D97-AF65-F5344CB8AC3E}">
        <p14:creationId xmlns:p14="http://schemas.microsoft.com/office/powerpoint/2010/main" val="3638976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first 36</a:t>
            </a:r>
            <a:r>
              <a:rPr lang="en-US" sz="1200" b="0" i="1" kern="1200" dirty="0">
                <a:solidFill>
                  <a:schemeClr val="tx1"/>
                </a:solidFill>
                <a:effectLst/>
                <a:latin typeface="+mn-lt"/>
                <a:ea typeface="+mn-ea"/>
                <a:cs typeface="+mn-cs"/>
              </a:rPr>
              <a:t>d </a:t>
            </a:r>
            <a:r>
              <a:rPr lang="en-US" sz="1200" b="0" i="0" kern="1200" dirty="0">
                <a:solidFill>
                  <a:schemeClr val="tx1"/>
                </a:solidFill>
                <a:effectLst/>
                <a:latin typeface="+mn-lt"/>
                <a:ea typeface="+mn-ea"/>
                <a:cs typeface="+mn-cs"/>
              </a:rPr>
              <a:t>bytes in the VBR which are common to all FAT file system variants</a:t>
            </a:r>
            <a:r>
              <a:rPr lang="en-US" dirty="0"/>
              <a:t> </a:t>
            </a:r>
            <a:br>
              <a:rPr lang="en-US" dirty="0"/>
            </a:br>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10</a:t>
            </a:fld>
            <a:endParaRPr lang="en-MY"/>
          </a:p>
        </p:txBody>
      </p:sp>
    </p:spTree>
    <p:extLst>
      <p:ext uri="{BB962C8B-B14F-4D97-AF65-F5344CB8AC3E}">
        <p14:creationId xmlns:p14="http://schemas.microsoft.com/office/powerpoint/2010/main" val="2660975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contains information about the subsequent bytes in the structure as found in a FAT32 volume</a:t>
            </a:r>
            <a:r>
              <a:rPr lang="en-US" b="1" dirty="0"/>
              <a:t> </a:t>
            </a:r>
            <a:br>
              <a:rPr lang="en-US" dirty="0"/>
            </a:br>
            <a:r>
              <a:rPr lang="en-US" sz="1200" b="0" i="0" kern="1200" dirty="0">
                <a:solidFill>
                  <a:schemeClr val="tx1"/>
                </a:solidFill>
                <a:effectLst/>
                <a:latin typeface="+mn-lt"/>
                <a:ea typeface="+mn-ea"/>
                <a:cs typeface="+mn-cs"/>
              </a:rPr>
              <a:t>The bytes at offset </a:t>
            </a:r>
            <a:r>
              <a:rPr lang="en-US" sz="1200" b="1" i="0" kern="1200" dirty="0">
                <a:solidFill>
                  <a:schemeClr val="tx1"/>
                </a:solidFill>
                <a:effectLst/>
                <a:latin typeface="+mn-lt"/>
                <a:ea typeface="+mn-ea"/>
                <a:cs typeface="+mn-cs"/>
              </a:rPr>
              <a:t>510</a:t>
            </a:r>
            <a:r>
              <a:rPr lang="en-US" sz="1200" b="1" i="1" kern="1200" dirty="0">
                <a:solidFill>
                  <a:schemeClr val="tx1"/>
                </a:solidFill>
                <a:effectLst/>
                <a:latin typeface="+mn-lt"/>
                <a:ea typeface="+mn-ea"/>
                <a:cs typeface="+mn-cs"/>
              </a:rPr>
              <a:t>d </a:t>
            </a:r>
            <a:r>
              <a:rPr lang="en-US" sz="1200" b="1" i="0" kern="1200" dirty="0">
                <a:solidFill>
                  <a:schemeClr val="tx1"/>
                </a:solidFill>
                <a:effectLst/>
                <a:latin typeface="+mn-lt"/>
                <a:ea typeface="+mn-ea"/>
                <a:cs typeface="+mn-cs"/>
              </a:rPr>
              <a:t>and 511</a:t>
            </a:r>
            <a:r>
              <a:rPr lang="en-US" sz="1200" b="1" i="1" kern="1200" dirty="0">
                <a:solidFill>
                  <a:schemeClr val="tx1"/>
                </a:solidFill>
                <a:effectLst/>
                <a:latin typeface="+mn-lt"/>
                <a:ea typeface="+mn-ea"/>
                <a:cs typeface="+mn-cs"/>
              </a:rPr>
              <a:t>d </a:t>
            </a:r>
            <a:r>
              <a:rPr lang="en-US" sz="1200" b="0" i="0" kern="1200" dirty="0">
                <a:solidFill>
                  <a:schemeClr val="tx1"/>
                </a:solidFill>
                <a:effectLst/>
                <a:latin typeface="+mn-lt"/>
                <a:ea typeface="+mn-ea"/>
                <a:cs typeface="+mn-cs"/>
              </a:rPr>
              <a:t>(i.e. the final two bytes in sector 0) must always have the values 0x55 and 0xAA, respectively.</a:t>
            </a:r>
          </a:p>
          <a:p>
            <a:r>
              <a:rPr lang="en-US" sz="1200" b="0" i="0" kern="1200" dirty="0">
                <a:solidFill>
                  <a:schemeClr val="tx1"/>
                </a:solidFill>
                <a:effectLst/>
                <a:latin typeface="+mn-lt"/>
                <a:ea typeface="+mn-ea"/>
                <a:cs typeface="+mn-cs"/>
              </a:rPr>
              <a:t>This is identical to the final two bytes in the master boot record (MBR) sector.</a:t>
            </a:r>
            <a:r>
              <a:rPr lang="en-US" dirty="0"/>
              <a:t> </a:t>
            </a:r>
            <a:br>
              <a:rPr lang="en-US" dirty="0"/>
            </a:br>
            <a:br>
              <a:rPr lang="en-US" dirty="0"/>
            </a:br>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11</a:t>
            </a:fld>
            <a:endParaRPr lang="en-MY"/>
          </a:p>
        </p:txBody>
      </p:sp>
    </p:spTree>
    <p:extLst>
      <p:ext uri="{BB962C8B-B14F-4D97-AF65-F5344CB8AC3E}">
        <p14:creationId xmlns:p14="http://schemas.microsoft.com/office/powerpoint/2010/main" val="1077788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name of the file system variant is actually derived from the number of bits used to represent a cluster in the FAT table.</a:t>
            </a:r>
            <a:r>
              <a:rPr lang="en-US" dirty="0"/>
              <a:t> </a:t>
            </a:r>
            <a:br>
              <a:rPr lang="en-US" dirty="0"/>
            </a:br>
            <a:endParaRPr lang="en-US" dirty="0"/>
          </a:p>
          <a:p>
            <a:r>
              <a:rPr lang="en-US" dirty="0"/>
              <a:t>The </a:t>
            </a:r>
            <a:r>
              <a:rPr lang="en-US" b="1" dirty="0"/>
              <a:t>File Allocation Table</a:t>
            </a:r>
            <a:r>
              <a:rPr lang="en-US" dirty="0"/>
              <a:t> is like a </a:t>
            </a:r>
            <a:r>
              <a:rPr lang="en-US" b="1" dirty="0"/>
              <a:t>map or index</a:t>
            </a:r>
            <a:r>
              <a:rPr lang="en-US" dirty="0"/>
              <a:t> that helps the computer keep track of where every piece of a file is stored on the disk.</a:t>
            </a:r>
          </a:p>
          <a:p>
            <a:endParaRPr lang="en-US" dirty="0"/>
          </a:p>
          <a:p>
            <a:r>
              <a:rPr lang="en-US" dirty="0"/>
              <a:t>Think of your disk as a </a:t>
            </a:r>
            <a:r>
              <a:rPr lang="en-US" b="1" dirty="0"/>
              <a:t>big notebook</a:t>
            </a:r>
            <a:r>
              <a:rPr lang="en-US" dirty="0"/>
              <a:t> divided into </a:t>
            </a:r>
            <a:r>
              <a:rPr lang="en-US" b="1" dirty="0"/>
              <a:t>pages</a:t>
            </a:r>
            <a:r>
              <a:rPr lang="en-US" dirty="0"/>
              <a:t> (clusters).</a:t>
            </a:r>
            <a:br>
              <a:rPr lang="en-US" dirty="0"/>
            </a:br>
            <a:r>
              <a:rPr lang="en-US" dirty="0"/>
              <a:t>When you save a file, it might not fit on one page -- it could be spread across many.</a:t>
            </a:r>
            <a:br>
              <a:rPr lang="en-US" dirty="0"/>
            </a:br>
            <a:r>
              <a:rPr lang="en-US" dirty="0"/>
              <a:t>The </a:t>
            </a:r>
            <a:r>
              <a:rPr lang="en-US" b="1" dirty="0"/>
              <a:t>FAT</a:t>
            </a:r>
            <a:r>
              <a:rPr lang="en-US" dirty="0"/>
              <a:t> works like a </a:t>
            </a:r>
            <a:r>
              <a:rPr lang="en-US" b="1" dirty="0"/>
              <a:t>table of contents</a:t>
            </a:r>
            <a:r>
              <a:rPr lang="en-US" dirty="0"/>
              <a:t> that says:</a:t>
            </a:r>
          </a:p>
          <a:p>
            <a:r>
              <a:rPr lang="en-US" dirty="0"/>
              <a:t>“Page 1 of this file is here, the next part is on Page 7, then Page 12 and so on…”</a:t>
            </a:r>
          </a:p>
          <a:p>
            <a:r>
              <a:rPr lang="en-US" dirty="0"/>
              <a:t>So, the computer uses the FAT to </a:t>
            </a:r>
            <a:r>
              <a:rPr lang="en-US" b="1" dirty="0"/>
              <a:t>follow the chain of clusters</a:t>
            </a:r>
            <a:r>
              <a:rPr lang="en-US" dirty="0"/>
              <a:t> and read your file in the right order.</a:t>
            </a:r>
            <a:br>
              <a:rPr lang="en-US" dirty="0"/>
            </a:br>
            <a:endParaRPr lang="en-US" dirty="0"/>
          </a:p>
          <a:p>
            <a:r>
              <a:rPr lang="en-US" dirty="0"/>
              <a:t>How FAT is important</a:t>
            </a:r>
            <a:br>
              <a:rPr lang="en-US" dirty="0"/>
            </a:br>
            <a:r>
              <a:rPr lang="en-US" b="1" dirty="0"/>
              <a:t>Shows which clusters are free or used</a:t>
            </a:r>
            <a:r>
              <a:rPr lang="en-US" dirty="0"/>
              <a:t> — like marking empty or filled pages.</a:t>
            </a:r>
          </a:p>
          <a:p>
            <a:r>
              <a:rPr lang="en-US" b="1" dirty="0"/>
              <a:t>Shows where the next cluster of a file is located</a:t>
            </a:r>
            <a:r>
              <a:rPr lang="en-US" dirty="0"/>
              <a:t> — helping the system follow the file’s trail across the disk.</a:t>
            </a:r>
          </a:p>
          <a:p>
            <a:endParaRPr lang="en-US" dirty="0"/>
          </a:p>
          <a:p>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13</a:t>
            </a:fld>
            <a:endParaRPr lang="en-MY"/>
          </a:p>
        </p:txBody>
      </p:sp>
    </p:spTree>
    <p:extLst>
      <p:ext uri="{BB962C8B-B14F-4D97-AF65-F5344CB8AC3E}">
        <p14:creationId xmlns:p14="http://schemas.microsoft.com/office/powerpoint/2010/main" val="4176615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your disk as a </a:t>
            </a:r>
            <a:r>
              <a:rPr lang="en-US" b="1" dirty="0"/>
              <a:t>big cupboard</a:t>
            </a:r>
            <a:r>
              <a:rPr lang="en-US" dirty="0"/>
              <a:t>, and each shelf is divided into </a:t>
            </a:r>
            <a:r>
              <a:rPr lang="en-US" b="1" dirty="0"/>
              <a:t>tiny boxes</a:t>
            </a:r>
            <a:r>
              <a:rPr lang="en-US" dirty="0"/>
              <a:t> — those boxes are </a:t>
            </a:r>
            <a:r>
              <a:rPr lang="en-US" b="1" dirty="0"/>
              <a:t>clusters</a:t>
            </a:r>
            <a:r>
              <a:rPr lang="en-US" dirty="0"/>
              <a:t>.</a:t>
            </a:r>
          </a:p>
          <a:p>
            <a:r>
              <a:rPr lang="en-US" dirty="0"/>
              <a:t>Each </a:t>
            </a:r>
            <a:r>
              <a:rPr lang="en-US" b="1" dirty="0"/>
              <a:t>cluster</a:t>
            </a:r>
            <a:r>
              <a:rPr lang="en-US" dirty="0"/>
              <a:t> holds a piece of a file.</a:t>
            </a:r>
          </a:p>
          <a:p>
            <a:r>
              <a:rPr lang="en-US" dirty="0"/>
              <a:t>A file may need </a:t>
            </a:r>
            <a:r>
              <a:rPr lang="en-US" b="1" dirty="0"/>
              <a:t>many clusters</a:t>
            </a:r>
            <a:r>
              <a:rPr lang="en-US" dirty="0"/>
              <a:t> if it’s big.</a:t>
            </a:r>
          </a:p>
          <a:p>
            <a:r>
              <a:rPr lang="en-US" dirty="0"/>
              <a:t>If a file is very small, it still uses </a:t>
            </a:r>
            <a:r>
              <a:rPr lang="en-US" b="1" dirty="0"/>
              <a:t>one full cluster</a:t>
            </a:r>
            <a:r>
              <a:rPr lang="en-US" dirty="0"/>
              <a:t>, even if part of it is empty.</a:t>
            </a:r>
          </a:p>
          <a:p>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14</a:t>
            </a:fld>
            <a:endParaRPr lang="en-MY"/>
          </a:p>
        </p:txBody>
      </p:sp>
    </p:spTree>
    <p:extLst>
      <p:ext uri="{BB962C8B-B14F-4D97-AF65-F5344CB8AC3E}">
        <p14:creationId xmlns:p14="http://schemas.microsoft.com/office/powerpoint/2010/main" val="2348387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entry in the table corresponds to </a:t>
            </a:r>
            <a:r>
              <a:rPr lang="en-US" b="1" dirty="0"/>
              <a:t>one cluster</a:t>
            </a:r>
            <a:r>
              <a:rPr lang="en-US" dirty="0"/>
              <a:t> and tells the computer what comes next in that file’s chain of clusters.</a:t>
            </a:r>
          </a:p>
          <a:p>
            <a:endParaRPr lang="en-US" dirty="0"/>
          </a:p>
          <a:p>
            <a:r>
              <a:rPr lang="en-US" b="1" dirty="0"/>
              <a:t>Let’s explain step by step:</a:t>
            </a:r>
          </a:p>
          <a:p>
            <a:r>
              <a:rPr lang="en-US" b="1" dirty="0"/>
              <a:t>Start from cluster 3</a:t>
            </a:r>
            <a:br>
              <a:rPr lang="en-US" dirty="0"/>
            </a:br>
            <a:r>
              <a:rPr lang="en-US" dirty="0"/>
              <a:t>The directory entry (the file’s record) says the file begins at </a:t>
            </a:r>
            <a:r>
              <a:rPr lang="en-US" b="1" dirty="0"/>
              <a:t>cluster 3</a:t>
            </a:r>
            <a:r>
              <a:rPr lang="en-US" dirty="0"/>
              <a:t>.</a:t>
            </a:r>
          </a:p>
          <a:p>
            <a:r>
              <a:rPr lang="en-US" b="1" dirty="0"/>
              <a:t>Check the FAT entry for cluster 3</a:t>
            </a:r>
            <a:br>
              <a:rPr lang="en-US" dirty="0"/>
            </a:br>
            <a:r>
              <a:rPr lang="en-US" dirty="0"/>
              <a:t>In the FAT, the entry for cluster 3 has the value </a:t>
            </a:r>
            <a:r>
              <a:rPr lang="en-US" b="1" dirty="0"/>
              <a:t>0x06</a:t>
            </a:r>
            <a:r>
              <a:rPr lang="en-US" dirty="0"/>
              <a:t>.</a:t>
            </a:r>
            <a:br>
              <a:rPr lang="en-US" dirty="0"/>
            </a:br>
            <a:r>
              <a:rPr lang="en-US" dirty="0"/>
              <a:t>👉 This means: “After cluster 3, go to cluster </a:t>
            </a:r>
            <a:r>
              <a:rPr lang="en-US" b="1" dirty="0"/>
              <a:t>6</a:t>
            </a:r>
            <a:r>
              <a:rPr lang="en-US" dirty="0"/>
              <a:t>.”</a:t>
            </a:r>
          </a:p>
          <a:p>
            <a:r>
              <a:rPr lang="en-US" b="1" dirty="0"/>
              <a:t>Check the FAT entry for cluster 6</a:t>
            </a:r>
            <a:br>
              <a:rPr lang="en-US" dirty="0"/>
            </a:br>
            <a:r>
              <a:rPr lang="en-US" dirty="0"/>
              <a:t>The FAT entry for cluster 6 says </a:t>
            </a:r>
            <a:r>
              <a:rPr lang="en-US" b="1" dirty="0"/>
              <a:t>0x04</a:t>
            </a:r>
            <a:r>
              <a:rPr lang="en-US" dirty="0"/>
              <a:t>.</a:t>
            </a:r>
            <a:br>
              <a:rPr lang="en-US" dirty="0"/>
            </a:br>
            <a:r>
              <a:rPr lang="en-US" dirty="0"/>
              <a:t>👉 That means: “After cluster 6, go to cluster </a:t>
            </a:r>
            <a:r>
              <a:rPr lang="en-US" b="1" dirty="0"/>
              <a:t>4</a:t>
            </a:r>
            <a:r>
              <a:rPr lang="en-US" dirty="0"/>
              <a:t>.”</a:t>
            </a:r>
          </a:p>
          <a:p>
            <a:r>
              <a:rPr lang="en-US" b="1" dirty="0"/>
              <a:t>Check the FAT entry for cluster 4</a:t>
            </a:r>
            <a:br>
              <a:rPr lang="en-US" dirty="0"/>
            </a:br>
            <a:r>
              <a:rPr lang="en-US" dirty="0"/>
              <a:t>The FAT entry for cluster 4 contains </a:t>
            </a:r>
            <a:r>
              <a:rPr lang="en-US" b="1" dirty="0"/>
              <a:t>0x0FFFFFFF</a:t>
            </a:r>
            <a:r>
              <a:rPr lang="en-US" dirty="0"/>
              <a:t>.</a:t>
            </a:r>
            <a:br>
              <a:rPr lang="en-US" dirty="0"/>
            </a:br>
            <a:r>
              <a:rPr lang="en-US" dirty="0"/>
              <a:t>👉 That’s the </a:t>
            </a:r>
            <a:r>
              <a:rPr lang="en-US" b="1" dirty="0"/>
              <a:t>End of File marker (EOF)</a:t>
            </a:r>
            <a:r>
              <a:rPr lang="en-US" dirty="0"/>
              <a:t> — the file ends here.</a:t>
            </a:r>
            <a:br>
              <a:rPr lang="en-US" dirty="0"/>
            </a:br>
            <a:br>
              <a:rPr lang="en-US" dirty="0"/>
            </a:br>
            <a:r>
              <a:rPr lang="en-US" dirty="0"/>
              <a:t>So the sequence of clusters is: 3 → 6 → 4 → [EOF]</a:t>
            </a:r>
          </a:p>
          <a:p>
            <a:endParaRPr lang="en-US" dirty="0"/>
          </a:p>
          <a:p>
            <a:r>
              <a:rPr lang="en-US" dirty="0"/>
              <a:t>Imagine a book (the file) whose pages are </a:t>
            </a:r>
            <a:r>
              <a:rPr lang="en-US" b="1" dirty="0"/>
              <a:t>scattered</a:t>
            </a:r>
            <a:r>
              <a:rPr lang="en-US" dirty="0"/>
              <a:t> all over a shelf (the disk).</a:t>
            </a:r>
            <a:br>
              <a:rPr lang="en-US" dirty="0"/>
            </a:br>
            <a:r>
              <a:rPr lang="en-US" dirty="0"/>
              <a:t>The FAT table acts like </a:t>
            </a:r>
            <a:r>
              <a:rPr lang="en-US" b="1" dirty="0"/>
              <a:t>sticky notes</a:t>
            </a:r>
            <a:r>
              <a:rPr lang="en-US" dirty="0"/>
              <a:t> that say:</a:t>
            </a:r>
          </a:p>
          <a:p>
            <a:r>
              <a:rPr lang="en-US" dirty="0"/>
              <a:t>“Start reading at page 3.”</a:t>
            </a:r>
          </a:p>
          <a:p>
            <a:r>
              <a:rPr lang="en-US" dirty="0"/>
              <a:t>“At the end of page 3, go to page 6.”</a:t>
            </a:r>
          </a:p>
          <a:p>
            <a:r>
              <a:rPr lang="en-US" dirty="0"/>
              <a:t>“At the end of page 6, go to page 4.”</a:t>
            </a:r>
          </a:p>
          <a:p>
            <a:r>
              <a:rPr lang="en-US" dirty="0"/>
              <a:t>“At the end of page 4 — stop, you’ve finished!”</a:t>
            </a:r>
          </a:p>
          <a:p>
            <a:r>
              <a:rPr lang="en-US" dirty="0"/>
              <a:t>That’s how the system knows how to put the file back together.</a:t>
            </a:r>
          </a:p>
          <a:p>
            <a:endParaRPr lang="en-US" dirty="0"/>
          </a:p>
          <a:p>
            <a:endParaRPr lang="en-US" dirty="0"/>
          </a:p>
          <a:p>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16</a:t>
            </a:fld>
            <a:endParaRPr lang="en-MY"/>
          </a:p>
        </p:txBody>
      </p:sp>
    </p:spTree>
    <p:extLst>
      <p:ext uri="{BB962C8B-B14F-4D97-AF65-F5344CB8AC3E}">
        <p14:creationId xmlns:p14="http://schemas.microsoft.com/office/powerpoint/2010/main" val="2317092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There are some points to note about the FAT directory entry structure. </a:t>
            </a:r>
          </a:p>
          <a:p>
            <a:r>
              <a:rPr lang="en-US" sz="1200" b="0" i="0" kern="1200" dirty="0">
                <a:solidFill>
                  <a:schemeClr val="tx1"/>
                </a:solidFill>
                <a:effectLst/>
                <a:latin typeface="+mn-lt"/>
                <a:ea typeface="+mn-ea"/>
                <a:cs typeface="+mn-cs"/>
              </a:rPr>
              <a:t>Firstly, 32</a:t>
            </a:r>
            <a:r>
              <a:rPr lang="en-US" sz="1200" b="0" i="1" kern="1200" dirty="0">
                <a:solidFill>
                  <a:schemeClr val="tx1"/>
                </a:solidFill>
                <a:effectLst/>
                <a:latin typeface="+mn-lt"/>
                <a:ea typeface="+mn-ea"/>
                <a:cs typeface="+mn-cs"/>
              </a:rPr>
              <a:t>d </a:t>
            </a:r>
            <a:r>
              <a:rPr lang="en-US" sz="1200" b="0" i="0" kern="1200" dirty="0">
                <a:solidFill>
                  <a:schemeClr val="tx1"/>
                </a:solidFill>
                <a:effectLst/>
                <a:latin typeface="+mn-lt"/>
                <a:ea typeface="+mn-ea"/>
                <a:cs typeface="+mn-cs"/>
              </a:rPr>
              <a:t>bytes is not much space in which to store very detailed information about a file. </a:t>
            </a:r>
          </a:p>
          <a:p>
            <a:r>
              <a:rPr lang="en-US" sz="1200" b="0" i="0" kern="1200" dirty="0">
                <a:solidFill>
                  <a:schemeClr val="tx1"/>
                </a:solidFill>
                <a:effectLst/>
                <a:latin typeface="+mn-lt"/>
                <a:ea typeface="+mn-ea"/>
                <a:cs typeface="+mn-cs"/>
              </a:rPr>
              <a:t>If you compare the output of Sleuth Kit’s </a:t>
            </a:r>
            <a:r>
              <a:rPr lang="en-US" sz="1200" b="1" i="0" kern="1200" dirty="0" err="1">
                <a:solidFill>
                  <a:schemeClr val="tx1"/>
                </a:solidFill>
                <a:effectLst/>
                <a:latin typeface="+mn-lt"/>
                <a:ea typeface="+mn-ea"/>
                <a:cs typeface="+mn-cs"/>
              </a:rPr>
              <a:t>istat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command when run on a FAT file system to a more modern and complex file system you will see a large difference in the volume of reported information.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Listing 5.2 shows an example of this with the output from both FAT32 and ext4 file systems. </a:t>
            </a:r>
          </a:p>
          <a:p>
            <a:r>
              <a:rPr lang="en-US" sz="1200" b="0" i="0" kern="1200" dirty="0">
                <a:solidFill>
                  <a:schemeClr val="tx1"/>
                </a:solidFill>
                <a:effectLst/>
                <a:latin typeface="+mn-lt"/>
                <a:ea typeface="+mn-ea"/>
                <a:cs typeface="+mn-cs"/>
              </a:rPr>
              <a:t>It is clear that ext4 contains more metadata information than FAT. There are four timestamps for instance and not just three that are found in FAT. </a:t>
            </a:r>
            <a:br>
              <a:rPr lang="en-US" dirty="0"/>
            </a:br>
            <a:r>
              <a:rPr lang="en-US" sz="1200" b="0" i="0" kern="1200" dirty="0">
                <a:solidFill>
                  <a:schemeClr val="tx1"/>
                </a:solidFill>
                <a:effectLst/>
                <a:latin typeface="+mn-lt"/>
                <a:ea typeface="+mn-ea"/>
                <a:cs typeface="+mn-cs"/>
              </a:rPr>
              <a:t>Ext4 also provides a generation ID, UID, GID, mode and number of links, none of which FAT provides.</a:t>
            </a:r>
            <a:r>
              <a:rPr lang="en-US" dirty="0"/>
              <a:t> </a:t>
            </a:r>
            <a:br>
              <a:rPr lang="en-US" dirty="0"/>
            </a:br>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17</a:t>
            </a:fld>
            <a:endParaRPr lang="en-MY"/>
          </a:p>
        </p:txBody>
      </p:sp>
    </p:spTree>
    <p:extLst>
      <p:ext uri="{BB962C8B-B14F-4D97-AF65-F5344CB8AC3E}">
        <p14:creationId xmlns:p14="http://schemas.microsoft.com/office/powerpoint/2010/main" val="16617167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Differences in </a:t>
            </a:r>
            <a:r>
              <a:rPr lang="en-US" sz="1200" b="1" i="0" kern="1200" dirty="0" err="1">
                <a:solidFill>
                  <a:schemeClr val="tx1"/>
                </a:solidFill>
                <a:effectLst/>
                <a:latin typeface="+mn-lt"/>
                <a:ea typeface="+mn-ea"/>
                <a:cs typeface="+mn-cs"/>
              </a:rPr>
              <a:t>istat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output between different file systems. The output on the left is from the FAT file system, while the right is from ext4 (Chapter 9). Note the ext4 timestamps have been truncated</a:t>
            </a:r>
            <a:r>
              <a:rPr lang="en-US" dirty="0"/>
              <a:t> </a:t>
            </a:r>
            <a:br>
              <a:rPr lang="en-US" dirty="0"/>
            </a:br>
            <a:endParaRPr lang="en-US" dirty="0"/>
          </a:p>
          <a:p>
            <a:r>
              <a:rPr lang="en-US" dirty="0"/>
              <a:t>== </a:t>
            </a:r>
            <a:r>
              <a:rPr lang="en-US" sz="1200" b="0" i="0" kern="1200" dirty="0">
                <a:solidFill>
                  <a:schemeClr val="tx1"/>
                </a:solidFill>
                <a:effectLst/>
                <a:latin typeface="+mn-lt"/>
                <a:ea typeface="+mn-ea"/>
                <a:cs typeface="+mn-cs"/>
              </a:rPr>
              <a:t>There is no access time structure in the FAT directory entry! Sleuth Kit (and many other tools) choose to display a value of 00:00:00, when in reality there is no value.</a:t>
            </a:r>
            <a:r>
              <a:rPr lang="en-US" dirty="0"/>
              <a:t> </a:t>
            </a:r>
            <a:br>
              <a:rPr lang="en-US" dirty="0"/>
            </a:br>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19</a:t>
            </a:fld>
            <a:endParaRPr lang="en-MY"/>
          </a:p>
        </p:txBody>
      </p:sp>
    </p:spTree>
    <p:extLst>
      <p:ext uri="{BB962C8B-B14F-4D97-AF65-F5344CB8AC3E}">
        <p14:creationId xmlns:p14="http://schemas.microsoft.com/office/powerpoint/2010/main" val="2564142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structure of an LFN entry is shown in Table 5.6. </a:t>
            </a:r>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21</a:t>
            </a:fld>
            <a:endParaRPr lang="en-MY"/>
          </a:p>
        </p:txBody>
      </p:sp>
    </p:spTree>
    <p:extLst>
      <p:ext uri="{BB962C8B-B14F-4D97-AF65-F5344CB8AC3E}">
        <p14:creationId xmlns:p14="http://schemas.microsoft.com/office/powerpoint/2010/main" val="381930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Listing 5.3 each of the LFN directory entries has a flag value of 0x0F (underlined). In each case the checksum value is 0xA0 showing the LFNs are most likely belonging to the same file (obviously with only a single byte checksum there is a large probability of collision occurring). The first byte in each of the entries represents the sequence. These bytes are 0x42 and 0x01. As stated previously the sequence byte in the first entry is </a:t>
            </a:r>
            <a:r>
              <a:rPr lang="en-US" sz="1200" b="0" i="0" kern="1200" dirty="0" err="1">
                <a:solidFill>
                  <a:schemeClr val="tx1"/>
                </a:solidFill>
                <a:effectLst/>
                <a:latin typeface="+mn-lt"/>
                <a:ea typeface="+mn-ea"/>
                <a:cs typeface="+mn-cs"/>
              </a:rPr>
              <a:t>XOR’d</a:t>
            </a:r>
            <a:r>
              <a:rPr lang="en-US" sz="1200" b="0" i="0" kern="1200" dirty="0">
                <a:solidFill>
                  <a:schemeClr val="tx1"/>
                </a:solidFill>
                <a:effectLst/>
                <a:latin typeface="+mn-lt"/>
                <a:ea typeface="+mn-ea"/>
                <a:cs typeface="+mn-cs"/>
              </a:rPr>
              <a:t> with 0x40 giving:</a:t>
            </a:r>
            <a:r>
              <a:rPr lang="en-US" dirty="0"/>
              <a:t> </a:t>
            </a:r>
            <a:br>
              <a:rPr lang="en-US" dirty="0"/>
            </a:br>
            <a:r>
              <a:rPr lang="en-US" sz="1200" b="0" i="0" kern="1200" dirty="0">
                <a:solidFill>
                  <a:schemeClr val="tx1"/>
                </a:solidFill>
                <a:effectLst/>
                <a:latin typeface="+mn-lt"/>
                <a:ea typeface="+mn-ea"/>
                <a:cs typeface="+mn-cs"/>
              </a:rPr>
              <a:t>01000010 </a:t>
            </a:r>
            <a:r>
              <a:rPr lang="en-US" sz="1200" b="0" i="1"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01000000 = 00000010 = 0</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02</a:t>
            </a:r>
          </a:p>
          <a:p>
            <a:r>
              <a:rPr lang="en-US" sz="1200" b="0" i="0" kern="1200" dirty="0">
                <a:solidFill>
                  <a:schemeClr val="tx1"/>
                </a:solidFill>
                <a:effectLst/>
                <a:latin typeface="+mn-lt"/>
                <a:ea typeface="+mn-ea"/>
                <a:cs typeface="+mn-cs"/>
              </a:rPr>
              <a:t>This result shows the first LFN entry is the last part of the filename, sequence number 2. The name components of each of the LFN directories can be combined to give: </a:t>
            </a:r>
            <a:r>
              <a:rPr lang="en-US" sz="1200" b="1" i="0" kern="1200" dirty="0">
                <a:solidFill>
                  <a:schemeClr val="tx1"/>
                </a:solidFill>
                <a:effectLst/>
                <a:latin typeface="+mn-lt"/>
                <a:ea typeface="+mn-ea"/>
                <a:cs typeface="+mn-cs"/>
              </a:rPr>
              <a:t>thelongbridge.jpg</a:t>
            </a:r>
            <a:r>
              <a:rPr lang="en-US" sz="1200" b="0" i="0" kern="1200" dirty="0">
                <a:solidFill>
                  <a:schemeClr val="tx1"/>
                </a:solidFill>
                <a:effectLst/>
                <a:latin typeface="+mn-lt"/>
                <a:ea typeface="+mn-ea"/>
                <a:cs typeface="+mn-cs"/>
              </a:rPr>
              <a:t>.</a:t>
            </a:r>
            <a:r>
              <a:rPr lang="en-US" dirty="0"/>
              <a:t> </a:t>
            </a:r>
          </a:p>
          <a:p>
            <a:endParaRPr lang="en-US" dirty="0"/>
          </a:p>
          <a:p>
            <a:r>
              <a:rPr lang="en-US" sz="1200" b="0" i="0" kern="1200" dirty="0">
                <a:solidFill>
                  <a:schemeClr val="tx1"/>
                </a:solidFill>
                <a:effectLst/>
                <a:latin typeface="+mn-lt"/>
                <a:ea typeface="+mn-ea"/>
                <a:cs typeface="+mn-cs"/>
              </a:rPr>
              <a:t>Listing 5.3 shows an example of a file with a LFN (this file is in the </a:t>
            </a:r>
            <a:r>
              <a:rPr lang="en-US" sz="1200" b="1" i="0" kern="1200" dirty="0">
                <a:solidFill>
                  <a:schemeClr val="tx1"/>
                </a:solidFill>
                <a:effectLst/>
                <a:latin typeface="+mn-lt"/>
                <a:ea typeface="+mn-ea"/>
                <a:cs typeface="+mn-cs"/>
              </a:rPr>
              <a:t>FAT32_V2.E01 </a:t>
            </a:r>
            <a:r>
              <a:rPr lang="en-US" sz="1200" b="0" i="0" kern="1200" dirty="0">
                <a:solidFill>
                  <a:schemeClr val="tx1"/>
                </a:solidFill>
                <a:effectLst/>
                <a:latin typeface="+mn-lt"/>
                <a:ea typeface="+mn-ea"/>
                <a:cs typeface="+mn-cs"/>
              </a:rPr>
              <a:t>disk image – see Section 5.2.2)</a:t>
            </a:r>
            <a:r>
              <a:rPr lang="en-US" dirty="0"/>
              <a:t> </a:t>
            </a:r>
          </a:p>
          <a:p>
            <a:endParaRPr lang="en-US" dirty="0"/>
          </a:p>
          <a:p>
            <a:endParaRPr lang="en-US" dirty="0"/>
          </a:p>
          <a:p>
            <a:r>
              <a:rPr lang="en-US" b="1" dirty="0"/>
              <a:t>The 0x0F Flag</a:t>
            </a:r>
          </a:p>
          <a:p>
            <a:r>
              <a:rPr lang="en-US" dirty="0"/>
              <a:t>In your hex dump, you see values like </a:t>
            </a:r>
            <a:r>
              <a:rPr lang="en-US" sz="1200" b="1" kern="1200" dirty="0">
                <a:solidFill>
                  <a:schemeClr val="tx1"/>
                </a:solidFill>
                <a:latin typeface="+mn-lt"/>
                <a:ea typeface="+mn-ea"/>
                <a:cs typeface="+mn-cs"/>
              </a:rPr>
              <a:t>0x0F</a:t>
            </a:r>
            <a:r>
              <a:rPr lang="en-US" dirty="0"/>
              <a:t> (underlined).</a:t>
            </a:r>
            <a:br>
              <a:rPr lang="en-US" dirty="0"/>
            </a:br>
            <a:r>
              <a:rPr lang="en-US" dirty="0"/>
              <a:t>That’s the </a:t>
            </a:r>
            <a:r>
              <a:rPr lang="en-US" b="1" dirty="0"/>
              <a:t>attribute flag</a:t>
            </a:r>
            <a:r>
              <a:rPr lang="en-US" dirty="0"/>
              <a:t> field of an LFN entry.</a:t>
            </a:r>
            <a:br>
              <a:rPr lang="en-US" dirty="0"/>
            </a:br>
            <a:r>
              <a:rPr lang="en-US" dirty="0"/>
              <a:t>It tells the system:</a:t>
            </a:r>
          </a:p>
          <a:p>
            <a:r>
              <a:rPr lang="en-US" dirty="0"/>
              <a:t>“This is not a normal file entry — this is part of a long filename.”</a:t>
            </a:r>
          </a:p>
          <a:p>
            <a:r>
              <a:rPr lang="en-US" dirty="0"/>
              <a:t>So every time FAT sees </a:t>
            </a:r>
            <a:r>
              <a:rPr lang="en-US" sz="1200" kern="1200" dirty="0">
                <a:solidFill>
                  <a:schemeClr val="tx1"/>
                </a:solidFill>
                <a:latin typeface="+mn-lt"/>
                <a:ea typeface="+mn-ea"/>
                <a:cs typeface="+mn-cs"/>
              </a:rPr>
              <a:t>0x0F</a:t>
            </a:r>
            <a:r>
              <a:rPr lang="en-US" dirty="0"/>
              <a:t>, it knows the entry belongs to a long name rather than a normal 8.3 file.</a:t>
            </a:r>
          </a:p>
          <a:p>
            <a:r>
              <a:rPr lang="en-US" b="1" dirty="0"/>
              <a:t>The Checksum (0xA0)</a:t>
            </a:r>
          </a:p>
          <a:p>
            <a:r>
              <a:rPr lang="en-US" dirty="0"/>
              <a:t>Each LFN entry also stores a </a:t>
            </a:r>
            <a:r>
              <a:rPr lang="en-US" b="1" dirty="0"/>
              <a:t>checksum</a:t>
            </a:r>
            <a:r>
              <a:rPr lang="en-US" dirty="0"/>
              <a:t> of the 8.3 short filename entry that follows it.</a:t>
            </a:r>
            <a:br>
              <a:rPr lang="en-US" dirty="0"/>
            </a:br>
            <a:r>
              <a:rPr lang="en-US" dirty="0"/>
              <a:t>This checksum is used to link all those LFN entries to the same short-name entry.</a:t>
            </a:r>
          </a:p>
          <a:p>
            <a:r>
              <a:rPr lang="en-US" dirty="0"/>
              <a:t>So if several LFN entries have the same checksum (like </a:t>
            </a:r>
            <a:r>
              <a:rPr lang="en-US" sz="1200" kern="1200" dirty="0">
                <a:solidFill>
                  <a:schemeClr val="tx1"/>
                </a:solidFill>
                <a:latin typeface="+mn-lt"/>
                <a:ea typeface="+mn-ea"/>
                <a:cs typeface="+mn-cs"/>
              </a:rPr>
              <a:t>0xA0</a:t>
            </a:r>
            <a:r>
              <a:rPr lang="en-US" dirty="0"/>
              <a:t> here), they all belong to </a:t>
            </a:r>
            <a:r>
              <a:rPr lang="en-US" b="1" dirty="0"/>
              <a:t>the same file</a:t>
            </a:r>
            <a:r>
              <a:rPr lang="en-US" dirty="0"/>
              <a:t> (e.g., </a:t>
            </a:r>
            <a:r>
              <a:rPr lang="en-US" sz="1200" kern="1200" dirty="0">
                <a:solidFill>
                  <a:schemeClr val="tx1"/>
                </a:solidFill>
                <a:latin typeface="+mn-lt"/>
                <a:ea typeface="+mn-ea"/>
                <a:cs typeface="+mn-cs"/>
              </a:rPr>
              <a:t>Thelongbridge.jpg</a:t>
            </a:r>
            <a:r>
              <a:rPr lang="en-US" dirty="0"/>
              <a:t>).</a:t>
            </a:r>
            <a:br>
              <a:rPr lang="en-US" dirty="0"/>
            </a:br>
            <a:br>
              <a:rPr lang="en-US" dirty="0"/>
            </a:br>
            <a:br>
              <a:rPr lang="en-US" dirty="0"/>
            </a:br>
            <a:br>
              <a:rPr lang="en-US" dirty="0"/>
            </a:br>
            <a:br>
              <a:rPr lang="en-US" dirty="0"/>
            </a:br>
            <a:r>
              <a:rPr lang="en-US" dirty="0"/>
              <a:t>In a </a:t>
            </a:r>
            <a:r>
              <a:rPr lang="en-US" b="1" dirty="0"/>
              <a:t>FAT directory</a:t>
            </a:r>
            <a:r>
              <a:rPr lang="en-US" dirty="0"/>
              <a:t>, when a file has a </a:t>
            </a:r>
            <a:r>
              <a:rPr lang="en-US" b="1" dirty="0"/>
              <a:t>long name</a:t>
            </a:r>
            <a:r>
              <a:rPr lang="en-US" dirty="0"/>
              <a:t> (like </a:t>
            </a:r>
            <a:r>
              <a:rPr lang="en-US" sz="1200" kern="1200" dirty="0">
                <a:solidFill>
                  <a:schemeClr val="tx1"/>
                </a:solidFill>
                <a:latin typeface="+mn-lt"/>
                <a:ea typeface="+mn-ea"/>
                <a:cs typeface="+mn-cs"/>
              </a:rPr>
              <a:t>Thelongbridge.jpg</a:t>
            </a:r>
            <a:r>
              <a:rPr lang="en-US" dirty="0"/>
              <a:t>), the system also keeps a </a:t>
            </a:r>
            <a:r>
              <a:rPr lang="en-US" b="1" dirty="0"/>
              <a:t>short version</a:t>
            </a:r>
            <a:r>
              <a:rPr lang="en-US" dirty="0"/>
              <a:t> (like </a:t>
            </a:r>
            <a:r>
              <a:rPr lang="en-US" sz="1200" kern="1200" dirty="0">
                <a:solidFill>
                  <a:schemeClr val="tx1"/>
                </a:solidFill>
                <a:latin typeface="+mn-lt"/>
                <a:ea typeface="+mn-ea"/>
                <a:cs typeface="+mn-cs"/>
              </a:rPr>
              <a:t>THELON~1JPG</a:t>
            </a:r>
            <a:r>
              <a:rPr lang="en-US" dirty="0"/>
              <a:t>) for older software.</a:t>
            </a:r>
          </a:p>
          <a:p>
            <a:br>
              <a:rPr lang="en-US" dirty="0"/>
            </a:br>
            <a:r>
              <a:rPr lang="en-US" dirty="0"/>
              <a:t>Imagine you have three puzzle pieces (</a:t>
            </a:r>
            <a:r>
              <a:rPr lang="en-US" sz="1200" kern="1200" dirty="0">
                <a:solidFill>
                  <a:schemeClr val="tx1"/>
                </a:solidFill>
                <a:latin typeface="+mn-lt"/>
                <a:ea typeface="+mn-ea"/>
                <a:cs typeface="+mn-cs"/>
              </a:rPr>
              <a:t>The</a:t>
            </a:r>
            <a:r>
              <a:rPr lang="en-US" dirty="0"/>
              <a:t>, </a:t>
            </a:r>
            <a:r>
              <a:rPr lang="en-US" sz="1200" kern="1200" dirty="0">
                <a:solidFill>
                  <a:schemeClr val="tx1"/>
                </a:solidFill>
                <a:latin typeface="+mn-lt"/>
                <a:ea typeface="+mn-ea"/>
                <a:cs typeface="+mn-cs"/>
              </a:rPr>
              <a:t>long</a:t>
            </a:r>
            <a:r>
              <a:rPr lang="en-US" dirty="0"/>
              <a:t>, </a:t>
            </a:r>
            <a:r>
              <a:rPr lang="en-US" sz="1200" kern="1200" dirty="0">
                <a:solidFill>
                  <a:schemeClr val="tx1"/>
                </a:solidFill>
                <a:latin typeface="+mn-lt"/>
                <a:ea typeface="+mn-ea"/>
                <a:cs typeface="+mn-cs"/>
              </a:rPr>
              <a:t>bridge.jpg</a:t>
            </a:r>
            <a:r>
              <a:rPr lang="en-US" dirty="0"/>
              <a:t>) — these are your </a:t>
            </a:r>
            <a:r>
              <a:rPr lang="en-US" b="1" dirty="0"/>
              <a:t>LFN entries</a:t>
            </a:r>
            <a:r>
              <a:rPr lang="en-US" dirty="0"/>
              <a:t>.</a:t>
            </a:r>
            <a:br>
              <a:rPr lang="en-US" dirty="0"/>
            </a:br>
            <a:r>
              <a:rPr lang="en-US" dirty="0"/>
              <a:t>You also have the box cover that shows the whole picture (</a:t>
            </a:r>
            <a:r>
              <a:rPr lang="en-US" sz="1200" kern="1200" dirty="0">
                <a:solidFill>
                  <a:schemeClr val="tx1"/>
                </a:solidFill>
                <a:latin typeface="+mn-lt"/>
                <a:ea typeface="+mn-ea"/>
                <a:cs typeface="+mn-cs"/>
              </a:rPr>
              <a:t>THELON~1JPG</a:t>
            </a:r>
            <a:r>
              <a:rPr lang="en-US" dirty="0"/>
              <a:t>) — that’s your </a:t>
            </a:r>
            <a:r>
              <a:rPr lang="en-US" b="1" dirty="0"/>
              <a:t>short name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make sure all those pieces belong to the same puzzle, you print the same </a:t>
            </a:r>
            <a:r>
              <a:rPr lang="en-US" b="1" dirty="0"/>
              <a:t>code number</a:t>
            </a:r>
            <a:r>
              <a:rPr lang="en-US" dirty="0"/>
              <a:t> (checksum) on each piece and the box.</a:t>
            </a:r>
            <a:br>
              <a:rPr lang="en-US" dirty="0"/>
            </a:br>
            <a:r>
              <a:rPr lang="en-US" dirty="0"/>
              <a:t>In this example, that code is </a:t>
            </a:r>
            <a:r>
              <a:rPr lang="en-US" b="1" dirty="0"/>
              <a:t>0xA0</a:t>
            </a:r>
            <a:r>
              <a:rPr lang="en-US" dirty="0"/>
              <a:t>.</a:t>
            </a:r>
            <a:br>
              <a:rPr lang="en-US" dirty="0"/>
            </a:br>
            <a:br>
              <a:rPr lang="en-US" dirty="0"/>
            </a:br>
            <a:br>
              <a:rPr lang="en-US" dirty="0"/>
            </a:br>
            <a:r>
              <a:rPr lang="en-US" dirty="0"/>
              <a:t>Step Description Example Result 1 Take the short name (8.3) </a:t>
            </a:r>
            <a:r>
              <a:rPr lang="en-US" sz="1200" kern="1200" dirty="0">
                <a:solidFill>
                  <a:schemeClr val="tx1"/>
                </a:solidFill>
                <a:latin typeface="+mn-lt"/>
                <a:ea typeface="+mn-ea"/>
                <a:cs typeface="+mn-cs"/>
              </a:rPr>
              <a:t>THELON~1JPG</a:t>
            </a:r>
            <a:r>
              <a:rPr lang="en-US" dirty="0"/>
              <a:t> 2 Convert to ASCII bytes </a:t>
            </a:r>
            <a:r>
              <a:rPr lang="en-US" sz="1200" kern="1200" dirty="0">
                <a:solidFill>
                  <a:schemeClr val="tx1"/>
                </a:solidFill>
                <a:latin typeface="+mn-lt"/>
                <a:ea typeface="+mn-ea"/>
                <a:cs typeface="+mn-cs"/>
              </a:rPr>
              <a:t>54 48 45 4C 4F 4E 7E 31 4A 50 47</a:t>
            </a:r>
            <a:r>
              <a:rPr lang="en-US" dirty="0"/>
              <a:t> 3 Run checksum algorithm Rotates + adds each byte 4 Final checksum </a:t>
            </a:r>
            <a:r>
              <a:rPr lang="en-US" sz="1200" kern="1200" dirty="0">
                <a:solidFill>
                  <a:schemeClr val="tx1"/>
                </a:solidFill>
                <a:latin typeface="+mn-lt"/>
                <a:ea typeface="+mn-ea"/>
                <a:cs typeface="+mn-cs"/>
              </a:rPr>
              <a:t>0xA0</a:t>
            </a:r>
            <a:r>
              <a:rPr lang="en-US" dirty="0"/>
              <a:t> 5 Store in LFN entries Used to connect long and short names </a:t>
            </a:r>
          </a:p>
          <a:p>
            <a:endParaRPr lang="en-US" dirty="0"/>
          </a:p>
          <a:p>
            <a:br>
              <a:rPr lang="en-US" dirty="0"/>
            </a:br>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22</a:t>
            </a:fld>
            <a:endParaRPr lang="en-MY"/>
          </a:p>
        </p:txBody>
      </p:sp>
    </p:spTree>
    <p:extLst>
      <p:ext uri="{BB962C8B-B14F-4D97-AF65-F5344CB8AC3E}">
        <p14:creationId xmlns:p14="http://schemas.microsoft.com/office/powerpoint/2010/main" val="1153439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shows the structure of the generic directory entry. However, this structure is limited in filename length, allowing only for 8.3 filenames. Hence there is a second type of directory entry called a LFN directory entry. This structure is shown in Table 5.6. It allows for filename length greater than the traditional 8.3 format.</a:t>
            </a:r>
            <a:r>
              <a:rPr lang="en-US" dirty="0"/>
              <a:t> </a:t>
            </a:r>
            <a:br>
              <a:rPr lang="en-US" dirty="0"/>
            </a:br>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24</a:t>
            </a:fld>
            <a:endParaRPr lang="en-MY"/>
          </a:p>
        </p:txBody>
      </p:sp>
    </p:spTree>
    <p:extLst>
      <p:ext uri="{BB962C8B-B14F-4D97-AF65-F5344CB8AC3E}">
        <p14:creationId xmlns:p14="http://schemas.microsoft.com/office/powerpoint/2010/main" val="19535821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most significant seven bits are used to represent the year. This allows for 27 = 128</a:t>
            </a:r>
            <a:r>
              <a:rPr lang="en-US" sz="1200" b="0" i="1" kern="1200" dirty="0">
                <a:solidFill>
                  <a:schemeClr val="tx1"/>
                </a:solidFill>
                <a:effectLst/>
                <a:latin typeface="+mn-lt"/>
                <a:ea typeface="+mn-ea"/>
                <a:cs typeface="+mn-cs"/>
              </a:rPr>
              <a:t>d </a:t>
            </a:r>
            <a:r>
              <a:rPr lang="en-US" sz="1200" b="0" i="0" kern="1200" dirty="0">
                <a:solidFill>
                  <a:schemeClr val="tx1"/>
                </a:solidFill>
                <a:effectLst/>
                <a:latin typeface="+mn-lt"/>
                <a:ea typeface="+mn-ea"/>
                <a:cs typeface="+mn-cs"/>
              </a:rPr>
              <a:t>possible values. </a:t>
            </a:r>
            <a:br>
              <a:rPr lang="en-US" dirty="0"/>
            </a:br>
            <a:r>
              <a:rPr lang="en-US" sz="1200" b="0" i="0" kern="1200" dirty="0">
                <a:solidFill>
                  <a:schemeClr val="tx1"/>
                </a:solidFill>
                <a:effectLst/>
                <a:latin typeface="+mn-lt"/>
                <a:ea typeface="+mn-ea"/>
                <a:cs typeface="+mn-cs"/>
              </a:rPr>
              <a:t>Hence, FAT defines year 0 to be 1980. This means that 1980 must be added to this stored value to get the actual year. The next four bits represent the month and the final five bits represent the day.</a:t>
            </a:r>
            <a:r>
              <a:rPr lang="en-US" dirty="0"/>
              <a:t> </a:t>
            </a:r>
            <a:br>
              <a:rPr lang="en-US" dirty="0"/>
            </a:br>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25</a:t>
            </a:fld>
            <a:endParaRPr lang="en-MY"/>
          </a:p>
        </p:txBody>
      </p:sp>
    </p:spTree>
    <p:extLst>
      <p:ext uri="{BB962C8B-B14F-4D97-AF65-F5344CB8AC3E}">
        <p14:creationId xmlns:p14="http://schemas.microsoft.com/office/powerpoint/2010/main" val="2848605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Hence the FAT date 0x5361 is actually 1 November 2021. The FAT time uses the same method of storage</a:t>
            </a:r>
            <a:r>
              <a:rPr lang="en-US" dirty="0"/>
              <a:t> </a:t>
            </a:r>
            <a:br>
              <a:rPr lang="en-US" dirty="0"/>
            </a:br>
            <a:r>
              <a:rPr lang="en-US" sz="1200" b="0" i="0" kern="1200" dirty="0">
                <a:solidFill>
                  <a:schemeClr val="tx1"/>
                </a:solidFill>
                <a:effectLst/>
                <a:latin typeface="+mn-lt"/>
                <a:ea typeface="+mn-ea"/>
                <a:cs typeface="+mn-cs"/>
              </a:rPr>
              <a:t>Hence the FAT date 0x5361 is actually 1 November 2021. </a:t>
            </a:r>
            <a:br>
              <a:rPr lang="en-US" dirty="0"/>
            </a:br>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26</a:t>
            </a:fld>
            <a:endParaRPr lang="en-MY"/>
          </a:p>
        </p:txBody>
      </p:sp>
    </p:spTree>
    <p:extLst>
      <p:ext uri="{BB962C8B-B14F-4D97-AF65-F5344CB8AC3E}">
        <p14:creationId xmlns:p14="http://schemas.microsoft.com/office/powerpoint/2010/main" val="16369148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results in a time value of 11:46:10 or 11:46:11.4 The FAT time value that is stored in file systems is stored as local time, in other words, in the computer’s </a:t>
            </a:r>
            <a:r>
              <a:rPr lang="en-US" sz="1200" b="0" i="0" kern="1200" dirty="0" err="1">
                <a:solidFill>
                  <a:schemeClr val="tx1"/>
                </a:solidFill>
                <a:effectLst/>
                <a:latin typeface="+mn-lt"/>
                <a:ea typeface="+mn-ea"/>
                <a:cs typeface="+mn-cs"/>
              </a:rPr>
              <a:t>timezone</a:t>
            </a:r>
            <a:r>
              <a:rPr lang="en-US" sz="1200" b="0" i="0" kern="1200" dirty="0">
                <a:solidFill>
                  <a:schemeClr val="tx1"/>
                </a:solidFill>
                <a:effectLst/>
                <a:latin typeface="+mn-lt"/>
                <a:ea typeface="+mn-ea"/>
                <a:cs typeface="+mn-cs"/>
              </a:rPr>
              <a:t>. This is unlike most modern file systems which generally store time as UTC</a:t>
            </a:r>
            <a:r>
              <a:rPr lang="en-US" dirty="0"/>
              <a:t> </a:t>
            </a:r>
            <a:br>
              <a:rPr lang="en-US" dirty="0"/>
            </a:br>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28</a:t>
            </a:fld>
            <a:endParaRPr lang="en-MY"/>
          </a:p>
        </p:txBody>
      </p:sp>
    </p:spTree>
    <p:extLst>
      <p:ext uri="{BB962C8B-B14F-4D97-AF65-F5344CB8AC3E}">
        <p14:creationId xmlns:p14="http://schemas.microsoft.com/office/powerpoint/2010/main" val="35439181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find where a cluster really lives on the disk,</a:t>
            </a:r>
            <a:br>
              <a:rPr lang="en-US" dirty="0"/>
            </a:br>
            <a:r>
              <a:rPr lang="en-US" dirty="0"/>
              <a:t>skip over the reserved sectors and FAT tables first,</a:t>
            </a:r>
            <a:br>
              <a:rPr lang="en-US" dirty="0"/>
            </a:br>
            <a:r>
              <a:rPr lang="en-US" dirty="0"/>
              <a:t>then count forward based on how many clusters you’ve gone past.</a:t>
            </a:r>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32</a:t>
            </a:fld>
            <a:endParaRPr lang="en-MY"/>
          </a:p>
        </p:txBody>
      </p:sp>
    </p:spTree>
    <p:extLst>
      <p:ext uri="{BB962C8B-B14F-4D97-AF65-F5344CB8AC3E}">
        <p14:creationId xmlns:p14="http://schemas.microsoft.com/office/powerpoint/2010/main" val="24951849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MY" dirty="0"/>
                  <a:t>S#=[(5−2)×8]+32+(2×128) </a:t>
                </a:r>
              </a:p>
              <a:p>
                <a:pPr/>
                <a14:m>
                  <m:oMathPara xmlns:m="http://schemas.openxmlformats.org/officeDocument/2006/math">
                    <m:oMathParaPr>
                      <m:jc m:val="centerGroup"/>
                    </m:oMathParaPr>
                    <m:oMath xmlns:m="http://schemas.openxmlformats.org/officeDocument/2006/math">
                      <m:r>
                        <a:rPr lang="en-MY" sz="1200" i="1" kern="1200">
                          <a:solidFill>
                            <a:schemeClr val="tx1"/>
                          </a:solidFill>
                          <a:latin typeface="Cambria Math" panose="02040503050406030204" pitchFamily="18" charset="0"/>
                          <a:ea typeface="+mn-ea"/>
                          <a:cs typeface="+mn-cs"/>
                        </a:rPr>
                        <m:t>𝑆</m:t>
                      </m:r>
                      <m:r>
                        <a:rPr lang="en-MY" sz="1200" i="0" kern="1200">
                          <a:solidFill>
                            <a:schemeClr val="tx1"/>
                          </a:solidFill>
                          <a:latin typeface="Cambria Math" panose="02040503050406030204" pitchFamily="18" charset="0"/>
                          <a:ea typeface="+mn-ea"/>
                          <a:cs typeface="+mn-cs"/>
                        </a:rPr>
                        <m:t>#=</m:t>
                      </m:r>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3</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8</m:t>
                          </m:r>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32</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256</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24</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32</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256</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312</m:t>
                      </m:r>
                    </m:oMath>
                  </m:oMathPara>
                </a14:m>
                <a:endParaRPr lang="ar-AE" dirty="0"/>
              </a:p>
              <a:p>
                <a:endParaRPr lang="en-US" dirty="0"/>
              </a:p>
              <a:p>
                <a:endParaRPr lang="en-US" dirty="0"/>
              </a:p>
              <a:p>
                <a:r>
                  <a:rPr lang="en-US" dirty="0"/>
                  <a:t>If each sector is 512 bytes, the byte offset would be:</a:t>
                </a:r>
              </a:p>
              <a:p>
                <a:pPr/>
                <a14:m>
                  <m:oMathPara xmlns:m="http://schemas.openxmlformats.org/officeDocument/2006/math">
                    <m:oMathParaPr>
                      <m:jc m:val="centerGroup"/>
                    </m:oMathParaPr>
                    <m:oMath xmlns:m="http://schemas.openxmlformats.org/officeDocument/2006/math">
                      <m:r>
                        <a:rPr lang="en-US" sz="1200" kern="1200">
                          <a:solidFill>
                            <a:schemeClr val="tx1"/>
                          </a:solidFill>
                          <a:latin typeface="Cambria Math" panose="02040503050406030204" pitchFamily="18" charset="0"/>
                          <a:ea typeface="+mn-ea"/>
                          <a:cs typeface="+mn-cs"/>
                        </a:rPr>
                        <m:t>312</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512</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159</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744</m:t>
                      </m:r>
                      <m:r>
                        <a:rPr lang="en-US" sz="1200" i="1" kern="1200">
                          <a:solidFill>
                            <a:schemeClr val="tx1"/>
                          </a:solidFill>
                          <a:latin typeface="Cambria Math" panose="02040503050406030204" pitchFamily="18" charset="0"/>
                          <a:ea typeface="+mn-ea"/>
                          <a:cs typeface="+mn-cs"/>
                        </a:rPr>
                        <m:t>𝑏𝑦𝑡𝑒𝑠</m:t>
                      </m:r>
                    </m:oMath>
                  </m:oMathPara>
                </a14:m>
                <a:endParaRPr lang="en-US" dirty="0"/>
              </a:p>
              <a:p>
                <a:r>
                  <a:rPr lang="en-US" dirty="0"/>
                  <a:t>That’s where cluster 5’s data begins in the disk image.</a:t>
                </a:r>
              </a:p>
              <a:p>
                <a:endParaRPr lang="en-MY" dirty="0"/>
              </a:p>
            </p:txBody>
          </p:sp>
        </mc:Choice>
        <mc:Fallback xmlns="">
          <p:sp>
            <p:nvSpPr>
              <p:cNvPr id="3" name="Notes Placeholder 2"/>
              <p:cNvSpPr>
                <a:spLocks noGrp="1"/>
              </p:cNvSpPr>
              <p:nvPr>
                <p:ph type="body" idx="1"/>
              </p:nvPr>
            </p:nvSpPr>
            <p:spPr/>
            <p:txBody>
              <a:bodyPr/>
              <a:lstStyle/>
              <a:p>
                <a:r>
                  <a:rPr lang="en-MY" dirty="0"/>
                  <a:t>S#=[(5−2)×8]+32+(2×128) </a:t>
                </a:r>
              </a:p>
              <a:p>
                <a:r>
                  <a:rPr lang="en-MY" sz="1200" i="0" kern="1200">
                    <a:solidFill>
                      <a:schemeClr val="tx1"/>
                    </a:solidFill>
                    <a:latin typeface="+mn-lt"/>
                    <a:ea typeface="+mn-ea"/>
                    <a:cs typeface="+mn-cs"/>
                  </a:rPr>
                  <a:t>𝑆#=</a:t>
                </a:r>
                <a:r>
                  <a:rPr lang="ar-AE" sz="1200" i="0" kern="1200">
                    <a:solidFill>
                      <a:schemeClr val="tx1"/>
                    </a:solidFill>
                    <a:latin typeface="+mn-lt"/>
                    <a:ea typeface="+mn-ea"/>
                    <a:cs typeface="+mn-cs"/>
                  </a:rPr>
                  <a:t>[3×8]+32+256=24+32+256=312</a:t>
                </a:r>
                <a:endParaRPr lang="ar-AE" dirty="0"/>
              </a:p>
              <a:p>
                <a:endParaRPr lang="en-US" dirty="0"/>
              </a:p>
              <a:p>
                <a:endParaRPr lang="en-US" dirty="0"/>
              </a:p>
              <a:p>
                <a:r>
                  <a:rPr lang="en-US" dirty="0"/>
                  <a:t>If each sector is 512 bytes, the byte offset would be:</a:t>
                </a:r>
              </a:p>
              <a:p>
                <a:r>
                  <a:rPr lang="en-US" sz="1200" i="0" kern="1200">
                    <a:solidFill>
                      <a:schemeClr val="tx1"/>
                    </a:solidFill>
                    <a:latin typeface="+mn-lt"/>
                    <a:ea typeface="+mn-ea"/>
                    <a:cs typeface="+mn-cs"/>
                  </a:rPr>
                  <a:t>312×512=159,744𝑏𝑦𝑡𝑒𝑠</a:t>
                </a:r>
                <a:endParaRPr lang="en-US" dirty="0"/>
              </a:p>
              <a:p>
                <a:r>
                  <a:rPr lang="en-US" dirty="0"/>
                  <a:t>That’s where cluster 5’s data begins in the disk image.</a:t>
                </a:r>
              </a:p>
              <a:p>
                <a:endParaRPr lang="en-MY" dirty="0"/>
              </a:p>
            </p:txBody>
          </p:sp>
        </mc:Fallback>
      </mc:AlternateContent>
      <p:sp>
        <p:nvSpPr>
          <p:cNvPr id="4" name="Slide Number Placeholder 3"/>
          <p:cNvSpPr>
            <a:spLocks noGrp="1"/>
          </p:cNvSpPr>
          <p:nvPr>
            <p:ph type="sldNum" sz="quarter" idx="5"/>
          </p:nvPr>
        </p:nvSpPr>
        <p:spPr/>
        <p:txBody>
          <a:bodyPr/>
          <a:lstStyle/>
          <a:p>
            <a:fld id="{F40D48F8-7E2E-437A-88E4-D331DE2A215D}" type="slidenum">
              <a:rPr lang="en-MY" smtClean="0"/>
              <a:t>33</a:t>
            </a:fld>
            <a:endParaRPr lang="en-MY"/>
          </a:p>
        </p:txBody>
      </p:sp>
    </p:spTree>
    <p:extLst>
      <p:ext uri="{BB962C8B-B14F-4D97-AF65-F5344CB8AC3E}">
        <p14:creationId xmlns:p14="http://schemas.microsoft.com/office/powerpoint/2010/main" val="31868528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sz="1200" b="0" i="0" kern="1200" dirty="0">
                <a:solidFill>
                  <a:schemeClr val="tx1"/>
                </a:solidFill>
                <a:effectLst/>
                <a:latin typeface="+mn-lt"/>
                <a:ea typeface="+mn-ea"/>
                <a:cs typeface="+mn-cs"/>
              </a:rPr>
              <a:t>Sleuth Kit’s </a:t>
            </a:r>
            <a:r>
              <a:rPr lang="en-MY" sz="1200" b="1" i="0" kern="1200" dirty="0" err="1">
                <a:solidFill>
                  <a:schemeClr val="tx1"/>
                </a:solidFill>
                <a:effectLst/>
                <a:latin typeface="+mn-lt"/>
                <a:ea typeface="+mn-ea"/>
                <a:cs typeface="+mn-cs"/>
              </a:rPr>
              <a:t>fsstat</a:t>
            </a:r>
            <a:r>
              <a:rPr lang="en-MY" sz="1200" b="1" i="0" kern="1200" dirty="0">
                <a:solidFill>
                  <a:schemeClr val="tx1"/>
                </a:solidFill>
                <a:effectLst/>
                <a:latin typeface="+mn-lt"/>
                <a:ea typeface="+mn-ea"/>
                <a:cs typeface="+mn-cs"/>
              </a:rPr>
              <a:t> </a:t>
            </a:r>
            <a:r>
              <a:rPr lang="en-MY" sz="1200" b="0" i="0" kern="1200" dirty="0">
                <a:solidFill>
                  <a:schemeClr val="tx1"/>
                </a:solidFill>
                <a:effectLst/>
                <a:latin typeface="+mn-lt"/>
                <a:ea typeface="+mn-ea"/>
                <a:cs typeface="+mn-cs"/>
              </a:rPr>
              <a:t>command</a:t>
            </a:r>
            <a:r>
              <a:rPr lang="en-MY" dirty="0"/>
              <a:t> </a:t>
            </a:r>
            <a:br>
              <a:rPr lang="en-MY" dirty="0"/>
            </a:br>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36</a:t>
            </a:fld>
            <a:endParaRPr lang="en-MY"/>
          </a:p>
        </p:txBody>
      </p:sp>
    </p:spTree>
    <p:extLst>
      <p:ext uri="{BB962C8B-B14F-4D97-AF65-F5344CB8AC3E}">
        <p14:creationId xmlns:p14="http://schemas.microsoft.com/office/powerpoint/2010/main" val="40353070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bytes at </a:t>
            </a:r>
            <a:r>
              <a:rPr lang="en-US" b="1" dirty="0"/>
              <a:t>0x0B–0x0C</a:t>
            </a:r>
            <a:r>
              <a:rPr lang="en-US" dirty="0"/>
              <a:t> are: 02 00</a:t>
            </a:r>
          </a:p>
          <a:p>
            <a:r>
              <a:rPr lang="en-US" dirty="0"/>
              <a:t>The FAT specification says the value is </a:t>
            </a:r>
            <a:r>
              <a:rPr lang="en-US" b="1" dirty="0"/>
              <a:t>little-endian</a:t>
            </a:r>
            <a:r>
              <a:rPr lang="en-US" dirty="0"/>
              <a:t>,  so: 0x0002 → 0x0200</a:t>
            </a:r>
          </a:p>
          <a:p>
            <a:r>
              <a:rPr lang="en-US" dirty="0"/>
              <a:t>Converting </a:t>
            </a:r>
            <a:r>
              <a:rPr lang="en-US" sz="1200" kern="1200" dirty="0">
                <a:solidFill>
                  <a:schemeClr val="tx1"/>
                </a:solidFill>
                <a:latin typeface="+mn-lt"/>
                <a:ea typeface="+mn-ea"/>
                <a:cs typeface="+mn-cs"/>
              </a:rPr>
              <a:t>0x0200</a:t>
            </a:r>
            <a:r>
              <a:rPr lang="en-US" dirty="0"/>
              <a:t> to decimal = </a:t>
            </a:r>
            <a:r>
              <a:rPr lang="en-US" b="1" dirty="0"/>
              <a:t>512</a:t>
            </a:r>
            <a:r>
              <a:rPr lang="en-US" dirty="0"/>
              <a:t>.</a:t>
            </a:r>
          </a:p>
          <a:p>
            <a:endParaRPr lang="en-US" dirty="0"/>
          </a:p>
          <a:p>
            <a:r>
              <a:rPr lang="en-US" dirty="0"/>
              <a:t>Little endian: The </a:t>
            </a:r>
            <a:r>
              <a:rPr lang="en-US" b="1" dirty="0"/>
              <a:t>least significant byte comes first</a:t>
            </a:r>
            <a:r>
              <a:rPr lang="en-US" dirty="0"/>
              <a:t> in memory or on disk.</a:t>
            </a:r>
          </a:p>
          <a:p>
            <a:endParaRPr lang="en-US" dirty="0"/>
          </a:p>
          <a:p>
            <a:r>
              <a:rPr lang="en-US" dirty="0"/>
              <a:t>We want to find Root Directory Cluster --- this.</a:t>
            </a:r>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37</a:t>
            </a:fld>
            <a:endParaRPr lang="en-MY"/>
          </a:p>
        </p:txBody>
      </p:sp>
    </p:spTree>
    <p:extLst>
      <p:ext uri="{BB962C8B-B14F-4D97-AF65-F5344CB8AC3E}">
        <p14:creationId xmlns:p14="http://schemas.microsoft.com/office/powerpoint/2010/main" val="31547518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sz="1200" b="0" i="1" kern="1200" dirty="0">
                <a:solidFill>
                  <a:schemeClr val="tx1"/>
                </a:solidFill>
                <a:effectLst/>
                <a:latin typeface="+mn-lt"/>
                <a:ea typeface="+mn-ea"/>
                <a:cs typeface="+mn-cs"/>
              </a:rPr>
              <a:t>S</a:t>
            </a:r>
            <a:r>
              <a:rPr lang="en-MY" sz="1200" b="0" i="0" kern="1200" dirty="0">
                <a:solidFill>
                  <a:schemeClr val="tx1"/>
                </a:solidFill>
                <a:effectLst/>
                <a:latin typeface="+mn-lt"/>
                <a:ea typeface="+mn-ea"/>
                <a:cs typeface="+mn-cs"/>
              </a:rPr>
              <a:t># = ((4 - 2) × 8) + 32 + (2 × 1024) = 2096</a:t>
            </a:r>
            <a:r>
              <a:rPr lang="en-MY" sz="1200" b="0" i="1" kern="1200" dirty="0">
                <a:solidFill>
                  <a:schemeClr val="tx1"/>
                </a:solidFill>
                <a:effectLst/>
                <a:latin typeface="+mn-lt"/>
                <a:ea typeface="+mn-ea"/>
                <a:cs typeface="+mn-cs"/>
              </a:rPr>
              <a:t>d</a:t>
            </a:r>
            <a:r>
              <a:rPr lang="en-MY" dirty="0"/>
              <a:t> </a:t>
            </a:r>
            <a:br>
              <a:rPr lang="en-MY" dirty="0"/>
            </a:br>
            <a:endParaRPr lang="en-MY" dirty="0"/>
          </a:p>
        </p:txBody>
      </p:sp>
      <p:sp>
        <p:nvSpPr>
          <p:cNvPr id="4" name="Slide Number Placeholder 3"/>
          <p:cNvSpPr>
            <a:spLocks noGrp="1"/>
          </p:cNvSpPr>
          <p:nvPr>
            <p:ph type="sldNum" sz="quarter" idx="5"/>
          </p:nvPr>
        </p:nvSpPr>
        <p:spPr/>
        <p:txBody>
          <a:bodyPr/>
          <a:lstStyle/>
          <a:p>
            <a:fld id="{F40D48F8-7E2E-437A-88E4-D331DE2A215D}" type="slidenum">
              <a:rPr lang="en-MY" smtClean="0"/>
              <a:t>42</a:t>
            </a:fld>
            <a:endParaRPr lang="en-MY"/>
          </a:p>
        </p:txBody>
      </p:sp>
    </p:spTree>
    <p:extLst>
      <p:ext uri="{BB962C8B-B14F-4D97-AF65-F5344CB8AC3E}">
        <p14:creationId xmlns:p14="http://schemas.microsoft.com/office/powerpoint/2010/main" val="939517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66D10-DED6-0F10-5190-EFC2BE6C23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CCDC0306-5C5B-3990-A021-E970BEF9A8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9761D437-ED1A-067D-EBEC-F9CD92036D43}"/>
              </a:ext>
            </a:extLst>
          </p:cNvPr>
          <p:cNvSpPr>
            <a:spLocks noGrp="1"/>
          </p:cNvSpPr>
          <p:nvPr>
            <p:ph type="dt" sz="half" idx="10"/>
          </p:nvPr>
        </p:nvSpPr>
        <p:spPr/>
        <p:txBody>
          <a:bodyPr/>
          <a:lstStyle/>
          <a:p>
            <a:fld id="{BCFD9ADE-24C9-4318-BF53-D2D6A72F760D}" type="datetimeFigureOut">
              <a:rPr lang="en-MY" smtClean="0"/>
              <a:t>11/11/2025</a:t>
            </a:fld>
            <a:endParaRPr lang="en-MY"/>
          </a:p>
        </p:txBody>
      </p:sp>
      <p:sp>
        <p:nvSpPr>
          <p:cNvPr id="5" name="Footer Placeholder 4">
            <a:extLst>
              <a:ext uri="{FF2B5EF4-FFF2-40B4-BE49-F238E27FC236}">
                <a16:creationId xmlns:a16="http://schemas.microsoft.com/office/drawing/2014/main" id="{862457BB-09E9-96DC-D286-CC75FA7B04D9}"/>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C18ECE08-8A9F-9747-FA69-D88254C5A893}"/>
              </a:ext>
            </a:extLst>
          </p:cNvPr>
          <p:cNvSpPr>
            <a:spLocks noGrp="1"/>
          </p:cNvSpPr>
          <p:nvPr>
            <p:ph type="sldNum" sz="quarter" idx="12"/>
          </p:nvPr>
        </p:nvSpPr>
        <p:spPr/>
        <p:txBody>
          <a:bodyPr/>
          <a:lstStyle/>
          <a:p>
            <a:fld id="{DAAB4B46-0819-4B35-9F8D-6ABE01FC84FF}" type="slidenum">
              <a:rPr lang="en-MY" smtClean="0"/>
              <a:t>‹#›</a:t>
            </a:fld>
            <a:endParaRPr lang="en-MY"/>
          </a:p>
        </p:txBody>
      </p:sp>
    </p:spTree>
    <p:extLst>
      <p:ext uri="{BB962C8B-B14F-4D97-AF65-F5344CB8AC3E}">
        <p14:creationId xmlns:p14="http://schemas.microsoft.com/office/powerpoint/2010/main" val="2944484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686E6-5734-0BB7-8887-3E8FA3C3B7EE}"/>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A137E1D3-59EE-ED8F-A03A-5912C7387E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3EB0DBB0-4324-2535-AC03-57639A10BB8A}"/>
              </a:ext>
            </a:extLst>
          </p:cNvPr>
          <p:cNvSpPr>
            <a:spLocks noGrp="1"/>
          </p:cNvSpPr>
          <p:nvPr>
            <p:ph type="dt" sz="half" idx="10"/>
          </p:nvPr>
        </p:nvSpPr>
        <p:spPr/>
        <p:txBody>
          <a:bodyPr/>
          <a:lstStyle/>
          <a:p>
            <a:fld id="{BCFD9ADE-24C9-4318-BF53-D2D6A72F760D}" type="datetimeFigureOut">
              <a:rPr lang="en-MY" smtClean="0"/>
              <a:t>11/11/2025</a:t>
            </a:fld>
            <a:endParaRPr lang="en-MY"/>
          </a:p>
        </p:txBody>
      </p:sp>
      <p:sp>
        <p:nvSpPr>
          <p:cNvPr id="5" name="Footer Placeholder 4">
            <a:extLst>
              <a:ext uri="{FF2B5EF4-FFF2-40B4-BE49-F238E27FC236}">
                <a16:creationId xmlns:a16="http://schemas.microsoft.com/office/drawing/2014/main" id="{D58CEC1E-8494-313B-0A17-F73C31E65388}"/>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1FD5CAED-1D53-6DFA-09B2-A8A30643C880}"/>
              </a:ext>
            </a:extLst>
          </p:cNvPr>
          <p:cNvSpPr>
            <a:spLocks noGrp="1"/>
          </p:cNvSpPr>
          <p:nvPr>
            <p:ph type="sldNum" sz="quarter" idx="12"/>
          </p:nvPr>
        </p:nvSpPr>
        <p:spPr/>
        <p:txBody>
          <a:bodyPr/>
          <a:lstStyle/>
          <a:p>
            <a:fld id="{DAAB4B46-0819-4B35-9F8D-6ABE01FC84FF}" type="slidenum">
              <a:rPr lang="en-MY" smtClean="0"/>
              <a:t>‹#›</a:t>
            </a:fld>
            <a:endParaRPr lang="en-MY"/>
          </a:p>
        </p:txBody>
      </p:sp>
    </p:spTree>
    <p:extLst>
      <p:ext uri="{BB962C8B-B14F-4D97-AF65-F5344CB8AC3E}">
        <p14:creationId xmlns:p14="http://schemas.microsoft.com/office/powerpoint/2010/main" val="571060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51D2F-FDE5-CA52-48CE-72E05ED0F2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B77C55A8-2811-57A6-6A72-CF71C1C770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F66687-202B-3B2E-79DF-BB3D3272CD5F}"/>
              </a:ext>
            </a:extLst>
          </p:cNvPr>
          <p:cNvSpPr>
            <a:spLocks noGrp="1"/>
          </p:cNvSpPr>
          <p:nvPr>
            <p:ph type="dt" sz="half" idx="10"/>
          </p:nvPr>
        </p:nvSpPr>
        <p:spPr/>
        <p:txBody>
          <a:bodyPr/>
          <a:lstStyle/>
          <a:p>
            <a:fld id="{BCFD9ADE-24C9-4318-BF53-D2D6A72F760D}" type="datetimeFigureOut">
              <a:rPr lang="en-MY" smtClean="0"/>
              <a:t>11/11/2025</a:t>
            </a:fld>
            <a:endParaRPr lang="en-MY"/>
          </a:p>
        </p:txBody>
      </p:sp>
      <p:sp>
        <p:nvSpPr>
          <p:cNvPr id="5" name="Footer Placeholder 4">
            <a:extLst>
              <a:ext uri="{FF2B5EF4-FFF2-40B4-BE49-F238E27FC236}">
                <a16:creationId xmlns:a16="http://schemas.microsoft.com/office/drawing/2014/main" id="{8CB0FDEB-D48D-AB98-7E5B-82A2D8FA460A}"/>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20A3CF72-A521-B612-DCFF-BB346A4397E6}"/>
              </a:ext>
            </a:extLst>
          </p:cNvPr>
          <p:cNvSpPr>
            <a:spLocks noGrp="1"/>
          </p:cNvSpPr>
          <p:nvPr>
            <p:ph type="sldNum" sz="quarter" idx="12"/>
          </p:nvPr>
        </p:nvSpPr>
        <p:spPr/>
        <p:txBody>
          <a:bodyPr/>
          <a:lstStyle/>
          <a:p>
            <a:fld id="{DAAB4B46-0819-4B35-9F8D-6ABE01FC84FF}" type="slidenum">
              <a:rPr lang="en-MY" smtClean="0"/>
              <a:t>‹#›</a:t>
            </a:fld>
            <a:endParaRPr lang="en-MY"/>
          </a:p>
        </p:txBody>
      </p:sp>
    </p:spTree>
    <p:extLst>
      <p:ext uri="{BB962C8B-B14F-4D97-AF65-F5344CB8AC3E}">
        <p14:creationId xmlns:p14="http://schemas.microsoft.com/office/powerpoint/2010/main" val="3110281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470D6-77DD-8563-3452-93BCD7F62795}"/>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819E42EC-C92A-9E59-2258-9C0E73FD54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5CBA5477-329D-13F9-D219-95BBFE0412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D69A78CA-D16E-B1BB-F4F5-AAB8CE1821D4}"/>
              </a:ext>
            </a:extLst>
          </p:cNvPr>
          <p:cNvSpPr>
            <a:spLocks noGrp="1"/>
          </p:cNvSpPr>
          <p:nvPr>
            <p:ph type="dt" sz="half" idx="10"/>
          </p:nvPr>
        </p:nvSpPr>
        <p:spPr/>
        <p:txBody>
          <a:bodyPr/>
          <a:lstStyle/>
          <a:p>
            <a:fld id="{BCFD9ADE-24C9-4318-BF53-D2D6A72F760D}" type="datetimeFigureOut">
              <a:rPr lang="en-MY" smtClean="0"/>
              <a:t>11/11/2025</a:t>
            </a:fld>
            <a:endParaRPr lang="en-MY"/>
          </a:p>
        </p:txBody>
      </p:sp>
      <p:sp>
        <p:nvSpPr>
          <p:cNvPr id="6" name="Footer Placeholder 5">
            <a:extLst>
              <a:ext uri="{FF2B5EF4-FFF2-40B4-BE49-F238E27FC236}">
                <a16:creationId xmlns:a16="http://schemas.microsoft.com/office/drawing/2014/main" id="{C65A888C-949A-7FDA-26F0-0B3D386E69F9}"/>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01E503B8-2A2F-EA30-2956-A37F519BA41C}"/>
              </a:ext>
            </a:extLst>
          </p:cNvPr>
          <p:cNvSpPr>
            <a:spLocks noGrp="1"/>
          </p:cNvSpPr>
          <p:nvPr>
            <p:ph type="sldNum" sz="quarter" idx="12"/>
          </p:nvPr>
        </p:nvSpPr>
        <p:spPr/>
        <p:txBody>
          <a:bodyPr/>
          <a:lstStyle/>
          <a:p>
            <a:fld id="{DAAB4B46-0819-4B35-9F8D-6ABE01FC84FF}" type="slidenum">
              <a:rPr lang="en-MY" smtClean="0"/>
              <a:t>‹#›</a:t>
            </a:fld>
            <a:endParaRPr lang="en-MY"/>
          </a:p>
        </p:txBody>
      </p:sp>
    </p:spTree>
    <p:extLst>
      <p:ext uri="{BB962C8B-B14F-4D97-AF65-F5344CB8AC3E}">
        <p14:creationId xmlns:p14="http://schemas.microsoft.com/office/powerpoint/2010/main" val="2043971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ED4BD-A071-541D-ABFE-2DA7892F3CA5}"/>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3AF827FD-D4FA-E264-33ED-01C44367C9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747AB4-4529-C356-3E6E-013C98EF3E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9F2085C8-8EF0-4A79-E59F-AE31C9FFD5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3D34FB-1B47-0921-55F3-9D7BC1A6E4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26CB9212-CD9A-755D-3DE6-3B420158CECC}"/>
              </a:ext>
            </a:extLst>
          </p:cNvPr>
          <p:cNvSpPr>
            <a:spLocks noGrp="1"/>
          </p:cNvSpPr>
          <p:nvPr>
            <p:ph type="dt" sz="half" idx="10"/>
          </p:nvPr>
        </p:nvSpPr>
        <p:spPr/>
        <p:txBody>
          <a:bodyPr/>
          <a:lstStyle/>
          <a:p>
            <a:fld id="{BCFD9ADE-24C9-4318-BF53-D2D6A72F760D}" type="datetimeFigureOut">
              <a:rPr lang="en-MY" smtClean="0"/>
              <a:t>11/11/2025</a:t>
            </a:fld>
            <a:endParaRPr lang="en-MY"/>
          </a:p>
        </p:txBody>
      </p:sp>
      <p:sp>
        <p:nvSpPr>
          <p:cNvPr id="8" name="Footer Placeholder 7">
            <a:extLst>
              <a:ext uri="{FF2B5EF4-FFF2-40B4-BE49-F238E27FC236}">
                <a16:creationId xmlns:a16="http://schemas.microsoft.com/office/drawing/2014/main" id="{A3136C1C-4D60-D107-D7D9-4E0C94451AE7}"/>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30023ED9-FBCA-8C2E-D986-EF3231493A43}"/>
              </a:ext>
            </a:extLst>
          </p:cNvPr>
          <p:cNvSpPr>
            <a:spLocks noGrp="1"/>
          </p:cNvSpPr>
          <p:nvPr>
            <p:ph type="sldNum" sz="quarter" idx="12"/>
          </p:nvPr>
        </p:nvSpPr>
        <p:spPr/>
        <p:txBody>
          <a:bodyPr/>
          <a:lstStyle/>
          <a:p>
            <a:fld id="{DAAB4B46-0819-4B35-9F8D-6ABE01FC84FF}" type="slidenum">
              <a:rPr lang="en-MY" smtClean="0"/>
              <a:t>‹#›</a:t>
            </a:fld>
            <a:endParaRPr lang="en-MY"/>
          </a:p>
        </p:txBody>
      </p:sp>
    </p:spTree>
    <p:extLst>
      <p:ext uri="{BB962C8B-B14F-4D97-AF65-F5344CB8AC3E}">
        <p14:creationId xmlns:p14="http://schemas.microsoft.com/office/powerpoint/2010/main" val="3101340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39EF0-30FE-5EFA-C24B-DA38807E4AB1}"/>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112482BE-BAB5-7A6B-B7D4-32B38E5F16F6}"/>
              </a:ext>
            </a:extLst>
          </p:cNvPr>
          <p:cNvSpPr>
            <a:spLocks noGrp="1"/>
          </p:cNvSpPr>
          <p:nvPr>
            <p:ph type="dt" sz="half" idx="10"/>
          </p:nvPr>
        </p:nvSpPr>
        <p:spPr/>
        <p:txBody>
          <a:bodyPr/>
          <a:lstStyle/>
          <a:p>
            <a:fld id="{BCFD9ADE-24C9-4318-BF53-D2D6A72F760D}" type="datetimeFigureOut">
              <a:rPr lang="en-MY" smtClean="0"/>
              <a:t>11/11/2025</a:t>
            </a:fld>
            <a:endParaRPr lang="en-MY"/>
          </a:p>
        </p:txBody>
      </p:sp>
      <p:sp>
        <p:nvSpPr>
          <p:cNvPr id="4" name="Footer Placeholder 3">
            <a:extLst>
              <a:ext uri="{FF2B5EF4-FFF2-40B4-BE49-F238E27FC236}">
                <a16:creationId xmlns:a16="http://schemas.microsoft.com/office/drawing/2014/main" id="{B29AE4C0-D122-B0DD-A01C-3ECA6A82D8CE}"/>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136F7BF5-88EF-2A69-A366-DF56C5329FCB}"/>
              </a:ext>
            </a:extLst>
          </p:cNvPr>
          <p:cNvSpPr>
            <a:spLocks noGrp="1"/>
          </p:cNvSpPr>
          <p:nvPr>
            <p:ph type="sldNum" sz="quarter" idx="12"/>
          </p:nvPr>
        </p:nvSpPr>
        <p:spPr/>
        <p:txBody>
          <a:bodyPr/>
          <a:lstStyle/>
          <a:p>
            <a:fld id="{DAAB4B46-0819-4B35-9F8D-6ABE01FC84FF}" type="slidenum">
              <a:rPr lang="en-MY" smtClean="0"/>
              <a:t>‹#›</a:t>
            </a:fld>
            <a:endParaRPr lang="en-MY"/>
          </a:p>
        </p:txBody>
      </p:sp>
    </p:spTree>
    <p:extLst>
      <p:ext uri="{BB962C8B-B14F-4D97-AF65-F5344CB8AC3E}">
        <p14:creationId xmlns:p14="http://schemas.microsoft.com/office/powerpoint/2010/main" val="4120627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F28387-E6CF-AA4E-275D-BE5EE5B3C85F}"/>
              </a:ext>
            </a:extLst>
          </p:cNvPr>
          <p:cNvSpPr>
            <a:spLocks noGrp="1"/>
          </p:cNvSpPr>
          <p:nvPr>
            <p:ph type="dt" sz="half" idx="10"/>
          </p:nvPr>
        </p:nvSpPr>
        <p:spPr/>
        <p:txBody>
          <a:bodyPr/>
          <a:lstStyle/>
          <a:p>
            <a:fld id="{BCFD9ADE-24C9-4318-BF53-D2D6A72F760D}" type="datetimeFigureOut">
              <a:rPr lang="en-MY" smtClean="0"/>
              <a:t>11/11/2025</a:t>
            </a:fld>
            <a:endParaRPr lang="en-MY"/>
          </a:p>
        </p:txBody>
      </p:sp>
      <p:sp>
        <p:nvSpPr>
          <p:cNvPr id="3" name="Footer Placeholder 2">
            <a:extLst>
              <a:ext uri="{FF2B5EF4-FFF2-40B4-BE49-F238E27FC236}">
                <a16:creationId xmlns:a16="http://schemas.microsoft.com/office/drawing/2014/main" id="{FA172A5A-24EF-B899-803A-C187EF834D95}"/>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53112F05-1680-BCA4-375D-76BA72EF44F1}"/>
              </a:ext>
            </a:extLst>
          </p:cNvPr>
          <p:cNvSpPr>
            <a:spLocks noGrp="1"/>
          </p:cNvSpPr>
          <p:nvPr>
            <p:ph type="sldNum" sz="quarter" idx="12"/>
          </p:nvPr>
        </p:nvSpPr>
        <p:spPr/>
        <p:txBody>
          <a:bodyPr/>
          <a:lstStyle/>
          <a:p>
            <a:fld id="{DAAB4B46-0819-4B35-9F8D-6ABE01FC84FF}" type="slidenum">
              <a:rPr lang="en-MY" smtClean="0"/>
              <a:t>‹#›</a:t>
            </a:fld>
            <a:endParaRPr lang="en-MY"/>
          </a:p>
        </p:txBody>
      </p:sp>
    </p:spTree>
    <p:extLst>
      <p:ext uri="{BB962C8B-B14F-4D97-AF65-F5344CB8AC3E}">
        <p14:creationId xmlns:p14="http://schemas.microsoft.com/office/powerpoint/2010/main" val="1325641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222E1-4D23-7C2A-E55C-F290A2E0D5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A50ABA1D-630F-9CAB-0C2A-39BCDDFDE7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A1B324FD-78C1-EF96-9AC0-F08FE48328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DC392D-3CDC-580F-AC2F-6D1A124FF515}"/>
              </a:ext>
            </a:extLst>
          </p:cNvPr>
          <p:cNvSpPr>
            <a:spLocks noGrp="1"/>
          </p:cNvSpPr>
          <p:nvPr>
            <p:ph type="dt" sz="half" idx="10"/>
          </p:nvPr>
        </p:nvSpPr>
        <p:spPr/>
        <p:txBody>
          <a:bodyPr/>
          <a:lstStyle/>
          <a:p>
            <a:fld id="{BCFD9ADE-24C9-4318-BF53-D2D6A72F760D}" type="datetimeFigureOut">
              <a:rPr lang="en-MY" smtClean="0"/>
              <a:t>11/11/2025</a:t>
            </a:fld>
            <a:endParaRPr lang="en-MY"/>
          </a:p>
        </p:txBody>
      </p:sp>
      <p:sp>
        <p:nvSpPr>
          <p:cNvPr id="6" name="Footer Placeholder 5">
            <a:extLst>
              <a:ext uri="{FF2B5EF4-FFF2-40B4-BE49-F238E27FC236}">
                <a16:creationId xmlns:a16="http://schemas.microsoft.com/office/drawing/2014/main" id="{691A1702-3B3D-A165-8D96-43112C4350B3}"/>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CDA2BE74-CBA0-0CE3-16A3-724D830DD5E4}"/>
              </a:ext>
            </a:extLst>
          </p:cNvPr>
          <p:cNvSpPr>
            <a:spLocks noGrp="1"/>
          </p:cNvSpPr>
          <p:nvPr>
            <p:ph type="sldNum" sz="quarter" idx="12"/>
          </p:nvPr>
        </p:nvSpPr>
        <p:spPr/>
        <p:txBody>
          <a:bodyPr/>
          <a:lstStyle/>
          <a:p>
            <a:fld id="{DAAB4B46-0819-4B35-9F8D-6ABE01FC84FF}" type="slidenum">
              <a:rPr lang="en-MY" smtClean="0"/>
              <a:t>‹#›</a:t>
            </a:fld>
            <a:endParaRPr lang="en-MY"/>
          </a:p>
        </p:txBody>
      </p:sp>
    </p:spTree>
    <p:extLst>
      <p:ext uri="{BB962C8B-B14F-4D97-AF65-F5344CB8AC3E}">
        <p14:creationId xmlns:p14="http://schemas.microsoft.com/office/powerpoint/2010/main" val="972256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2A5CE-7C6D-90D8-500C-2C42ECA963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A4C99CA3-35CA-2B54-0E50-5E689FE0EC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DFA53FAA-4B99-8F71-564E-A8CB5133CD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E8B0DB-17E0-583F-C839-B7C7EFE6E8EC}"/>
              </a:ext>
            </a:extLst>
          </p:cNvPr>
          <p:cNvSpPr>
            <a:spLocks noGrp="1"/>
          </p:cNvSpPr>
          <p:nvPr>
            <p:ph type="dt" sz="half" idx="10"/>
          </p:nvPr>
        </p:nvSpPr>
        <p:spPr/>
        <p:txBody>
          <a:bodyPr/>
          <a:lstStyle/>
          <a:p>
            <a:fld id="{BCFD9ADE-24C9-4318-BF53-D2D6A72F760D}" type="datetimeFigureOut">
              <a:rPr lang="en-MY" smtClean="0"/>
              <a:t>11/11/2025</a:t>
            </a:fld>
            <a:endParaRPr lang="en-MY"/>
          </a:p>
        </p:txBody>
      </p:sp>
      <p:sp>
        <p:nvSpPr>
          <p:cNvPr id="6" name="Footer Placeholder 5">
            <a:extLst>
              <a:ext uri="{FF2B5EF4-FFF2-40B4-BE49-F238E27FC236}">
                <a16:creationId xmlns:a16="http://schemas.microsoft.com/office/drawing/2014/main" id="{12917C00-22F5-7B88-97A0-CEBCF8F7A072}"/>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712765A2-5332-57F2-FDA0-B6B7BF3172CC}"/>
              </a:ext>
            </a:extLst>
          </p:cNvPr>
          <p:cNvSpPr>
            <a:spLocks noGrp="1"/>
          </p:cNvSpPr>
          <p:nvPr>
            <p:ph type="sldNum" sz="quarter" idx="12"/>
          </p:nvPr>
        </p:nvSpPr>
        <p:spPr/>
        <p:txBody>
          <a:bodyPr/>
          <a:lstStyle/>
          <a:p>
            <a:fld id="{DAAB4B46-0819-4B35-9F8D-6ABE01FC84FF}" type="slidenum">
              <a:rPr lang="en-MY" smtClean="0"/>
              <a:t>‹#›</a:t>
            </a:fld>
            <a:endParaRPr lang="en-MY"/>
          </a:p>
        </p:txBody>
      </p:sp>
    </p:spTree>
    <p:extLst>
      <p:ext uri="{BB962C8B-B14F-4D97-AF65-F5344CB8AC3E}">
        <p14:creationId xmlns:p14="http://schemas.microsoft.com/office/powerpoint/2010/main" val="2972454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69F32-6E65-EED5-1248-19B093708917}"/>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6EC30696-989A-DE3F-049F-2ED5F9EF5D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8DE7F147-0089-8AFE-E31D-4E4B962BB139}"/>
              </a:ext>
            </a:extLst>
          </p:cNvPr>
          <p:cNvSpPr>
            <a:spLocks noGrp="1"/>
          </p:cNvSpPr>
          <p:nvPr>
            <p:ph type="dt" sz="half" idx="10"/>
          </p:nvPr>
        </p:nvSpPr>
        <p:spPr/>
        <p:txBody>
          <a:bodyPr/>
          <a:lstStyle/>
          <a:p>
            <a:fld id="{BCFD9ADE-24C9-4318-BF53-D2D6A72F760D}" type="datetimeFigureOut">
              <a:rPr lang="en-MY" smtClean="0"/>
              <a:t>11/11/2025</a:t>
            </a:fld>
            <a:endParaRPr lang="en-MY"/>
          </a:p>
        </p:txBody>
      </p:sp>
      <p:sp>
        <p:nvSpPr>
          <p:cNvPr id="5" name="Footer Placeholder 4">
            <a:extLst>
              <a:ext uri="{FF2B5EF4-FFF2-40B4-BE49-F238E27FC236}">
                <a16:creationId xmlns:a16="http://schemas.microsoft.com/office/drawing/2014/main" id="{44DFDD95-D7FB-58A2-0B36-C96AF43D542A}"/>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01201511-69FC-481D-9ED3-54B54A0EA658}"/>
              </a:ext>
            </a:extLst>
          </p:cNvPr>
          <p:cNvSpPr>
            <a:spLocks noGrp="1"/>
          </p:cNvSpPr>
          <p:nvPr>
            <p:ph type="sldNum" sz="quarter" idx="12"/>
          </p:nvPr>
        </p:nvSpPr>
        <p:spPr/>
        <p:txBody>
          <a:bodyPr/>
          <a:lstStyle/>
          <a:p>
            <a:fld id="{DAAB4B46-0819-4B35-9F8D-6ABE01FC84FF}" type="slidenum">
              <a:rPr lang="en-MY" smtClean="0"/>
              <a:t>‹#›</a:t>
            </a:fld>
            <a:endParaRPr lang="en-MY"/>
          </a:p>
        </p:txBody>
      </p:sp>
    </p:spTree>
    <p:extLst>
      <p:ext uri="{BB962C8B-B14F-4D97-AF65-F5344CB8AC3E}">
        <p14:creationId xmlns:p14="http://schemas.microsoft.com/office/powerpoint/2010/main" val="797570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8623F5-054A-A04C-7109-53A5097BB3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D7578F11-F631-E32A-CBEF-72E4C52351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D3317ADB-E786-1C0C-9654-B4DF8814EA1D}"/>
              </a:ext>
            </a:extLst>
          </p:cNvPr>
          <p:cNvSpPr>
            <a:spLocks noGrp="1"/>
          </p:cNvSpPr>
          <p:nvPr>
            <p:ph type="dt" sz="half" idx="10"/>
          </p:nvPr>
        </p:nvSpPr>
        <p:spPr/>
        <p:txBody>
          <a:bodyPr/>
          <a:lstStyle/>
          <a:p>
            <a:fld id="{BCFD9ADE-24C9-4318-BF53-D2D6A72F760D}" type="datetimeFigureOut">
              <a:rPr lang="en-MY" smtClean="0"/>
              <a:t>11/11/2025</a:t>
            </a:fld>
            <a:endParaRPr lang="en-MY"/>
          </a:p>
        </p:txBody>
      </p:sp>
      <p:sp>
        <p:nvSpPr>
          <p:cNvPr id="5" name="Footer Placeholder 4">
            <a:extLst>
              <a:ext uri="{FF2B5EF4-FFF2-40B4-BE49-F238E27FC236}">
                <a16:creationId xmlns:a16="http://schemas.microsoft.com/office/drawing/2014/main" id="{E153A479-E448-53D4-0E1C-0CCAF6D537B2}"/>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AB9D0C11-6227-E046-0842-0A072D0FF82C}"/>
              </a:ext>
            </a:extLst>
          </p:cNvPr>
          <p:cNvSpPr>
            <a:spLocks noGrp="1"/>
          </p:cNvSpPr>
          <p:nvPr>
            <p:ph type="sldNum" sz="quarter" idx="12"/>
          </p:nvPr>
        </p:nvSpPr>
        <p:spPr/>
        <p:txBody>
          <a:bodyPr/>
          <a:lstStyle/>
          <a:p>
            <a:fld id="{DAAB4B46-0819-4B35-9F8D-6ABE01FC84FF}" type="slidenum">
              <a:rPr lang="en-MY" smtClean="0"/>
              <a:t>‹#›</a:t>
            </a:fld>
            <a:endParaRPr lang="en-MY"/>
          </a:p>
        </p:txBody>
      </p:sp>
    </p:spTree>
    <p:extLst>
      <p:ext uri="{BB962C8B-B14F-4D97-AF65-F5344CB8AC3E}">
        <p14:creationId xmlns:p14="http://schemas.microsoft.com/office/powerpoint/2010/main" val="3412593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CEA92A-9255-20EC-4DF4-28A7E73948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F0B0DAC5-99AD-B09A-0A15-61553E0FC3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BD9654D8-21F2-81B7-C9CD-5C64FC5EEE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FD9ADE-24C9-4318-BF53-D2D6A72F760D}" type="datetimeFigureOut">
              <a:rPr lang="en-MY" smtClean="0"/>
              <a:t>11/11/2025</a:t>
            </a:fld>
            <a:endParaRPr lang="en-MY"/>
          </a:p>
        </p:txBody>
      </p:sp>
      <p:sp>
        <p:nvSpPr>
          <p:cNvPr id="5" name="Footer Placeholder 4">
            <a:extLst>
              <a:ext uri="{FF2B5EF4-FFF2-40B4-BE49-F238E27FC236}">
                <a16:creationId xmlns:a16="http://schemas.microsoft.com/office/drawing/2014/main" id="{2ADCB19C-CAC1-ED07-0659-33A15433D9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Y"/>
          </a:p>
        </p:txBody>
      </p:sp>
      <p:sp>
        <p:nvSpPr>
          <p:cNvPr id="6" name="Slide Number Placeholder 5">
            <a:extLst>
              <a:ext uri="{FF2B5EF4-FFF2-40B4-BE49-F238E27FC236}">
                <a16:creationId xmlns:a16="http://schemas.microsoft.com/office/drawing/2014/main" id="{8DEE234D-725D-A626-30A3-B515AD697B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AB4B46-0819-4B35-9F8D-6ABE01FC84FF}" type="slidenum">
              <a:rPr lang="en-MY" smtClean="0"/>
              <a:t>‹#›</a:t>
            </a:fld>
            <a:endParaRPr lang="en-MY"/>
          </a:p>
        </p:txBody>
      </p:sp>
    </p:spTree>
    <p:extLst>
      <p:ext uri="{BB962C8B-B14F-4D97-AF65-F5344CB8AC3E}">
        <p14:creationId xmlns:p14="http://schemas.microsoft.com/office/powerpoint/2010/main" val="40911428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29882-D56B-B66D-D42C-61FFBB9DE2E3}"/>
              </a:ext>
            </a:extLst>
          </p:cNvPr>
          <p:cNvSpPr>
            <a:spLocks noGrp="1"/>
          </p:cNvSpPr>
          <p:nvPr>
            <p:ph type="ctrTitle"/>
          </p:nvPr>
        </p:nvSpPr>
        <p:spPr/>
        <p:txBody>
          <a:bodyPr/>
          <a:lstStyle/>
          <a:p>
            <a:r>
              <a:rPr lang="en-MY" dirty="0"/>
              <a:t>File System</a:t>
            </a:r>
          </a:p>
        </p:txBody>
      </p:sp>
      <p:sp>
        <p:nvSpPr>
          <p:cNvPr id="3" name="Subtitle 2">
            <a:extLst>
              <a:ext uri="{FF2B5EF4-FFF2-40B4-BE49-F238E27FC236}">
                <a16:creationId xmlns:a16="http://schemas.microsoft.com/office/drawing/2014/main" id="{F06BC87B-D62D-7C1D-362E-0CB7452CCDF5}"/>
              </a:ext>
            </a:extLst>
          </p:cNvPr>
          <p:cNvSpPr>
            <a:spLocks noGrp="1"/>
          </p:cNvSpPr>
          <p:nvPr>
            <p:ph type="subTitle" idx="1"/>
          </p:nvPr>
        </p:nvSpPr>
        <p:spPr/>
        <p:txBody>
          <a:bodyPr/>
          <a:lstStyle/>
          <a:p>
            <a:endParaRPr lang="en-MY"/>
          </a:p>
        </p:txBody>
      </p:sp>
    </p:spTree>
    <p:extLst>
      <p:ext uri="{BB962C8B-B14F-4D97-AF65-F5344CB8AC3E}">
        <p14:creationId xmlns:p14="http://schemas.microsoft.com/office/powerpoint/2010/main" val="228167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7FAD6AB-83E0-A203-8949-144988FFBACA}"/>
              </a:ext>
            </a:extLst>
          </p:cNvPr>
          <p:cNvGraphicFramePr>
            <a:graphicFrameLocks noGrp="1"/>
          </p:cNvGraphicFramePr>
          <p:nvPr>
            <p:ph idx="1"/>
          </p:nvPr>
        </p:nvGraphicFramePr>
        <p:xfrm>
          <a:off x="838200" y="1895766"/>
          <a:ext cx="10506459" cy="4383225"/>
        </p:xfrm>
        <a:graphic>
          <a:graphicData uri="http://schemas.openxmlformats.org/drawingml/2006/table">
            <a:tbl>
              <a:tblPr/>
              <a:tblGrid>
                <a:gridCol w="1762496">
                  <a:extLst>
                    <a:ext uri="{9D8B030D-6E8A-4147-A177-3AD203B41FA5}">
                      <a16:colId xmlns:a16="http://schemas.microsoft.com/office/drawing/2014/main" val="3250546933"/>
                    </a:ext>
                  </a:extLst>
                </a:gridCol>
                <a:gridCol w="3501120">
                  <a:extLst>
                    <a:ext uri="{9D8B030D-6E8A-4147-A177-3AD203B41FA5}">
                      <a16:colId xmlns:a16="http://schemas.microsoft.com/office/drawing/2014/main" val="2735216214"/>
                    </a:ext>
                  </a:extLst>
                </a:gridCol>
                <a:gridCol w="2553488">
                  <a:extLst>
                    <a:ext uri="{9D8B030D-6E8A-4147-A177-3AD203B41FA5}">
                      <a16:colId xmlns:a16="http://schemas.microsoft.com/office/drawing/2014/main" val="3652696719"/>
                    </a:ext>
                  </a:extLst>
                </a:gridCol>
                <a:gridCol w="2689355">
                  <a:extLst>
                    <a:ext uri="{9D8B030D-6E8A-4147-A177-3AD203B41FA5}">
                      <a16:colId xmlns:a16="http://schemas.microsoft.com/office/drawing/2014/main" val="2986038006"/>
                    </a:ext>
                  </a:extLst>
                </a:gridCol>
              </a:tblGrid>
              <a:tr h="286425">
                <a:tc>
                  <a:txBody>
                    <a:bodyPr/>
                    <a:lstStyle/>
                    <a:p>
                      <a:pPr>
                        <a:buNone/>
                      </a:pPr>
                      <a:r>
                        <a:rPr lang="en-MY" sz="1400"/>
                        <a:t>File System</a:t>
                      </a:r>
                    </a:p>
                  </a:txBody>
                  <a:tcPr marL="58709" marR="58709" marT="29355" marB="29355" anchor="ctr">
                    <a:lnL>
                      <a:noFill/>
                    </a:lnL>
                    <a:lnR>
                      <a:noFill/>
                    </a:lnR>
                    <a:lnT>
                      <a:noFill/>
                    </a:lnT>
                    <a:lnB>
                      <a:noFill/>
                    </a:lnB>
                    <a:noFill/>
                  </a:tcPr>
                </a:tc>
                <a:tc>
                  <a:txBody>
                    <a:bodyPr/>
                    <a:lstStyle/>
                    <a:p>
                      <a:pPr>
                        <a:buNone/>
                      </a:pPr>
                      <a:r>
                        <a:rPr lang="en-MY" sz="1400"/>
                        <a:t>Hex Signature (Start Bytes)</a:t>
                      </a:r>
                    </a:p>
                  </a:txBody>
                  <a:tcPr marL="58709" marR="58709" marT="29355" marB="29355" anchor="ctr">
                    <a:lnL>
                      <a:noFill/>
                    </a:lnL>
                    <a:lnR>
                      <a:noFill/>
                    </a:lnR>
                    <a:lnT>
                      <a:noFill/>
                    </a:lnT>
                    <a:lnB>
                      <a:noFill/>
                    </a:lnB>
                    <a:noFill/>
                  </a:tcPr>
                </a:tc>
                <a:tc>
                  <a:txBody>
                    <a:bodyPr/>
                    <a:lstStyle/>
                    <a:p>
                      <a:pPr>
                        <a:buNone/>
                      </a:pPr>
                      <a:r>
                        <a:rPr lang="en-MY" sz="1400"/>
                        <a:t>ASCII Interpretation</a:t>
                      </a:r>
                    </a:p>
                  </a:txBody>
                  <a:tcPr marL="58709" marR="58709" marT="29355" marB="29355" anchor="ctr">
                    <a:lnL>
                      <a:noFill/>
                    </a:lnL>
                    <a:lnR>
                      <a:noFill/>
                    </a:lnR>
                    <a:lnT>
                      <a:noFill/>
                    </a:lnT>
                    <a:lnB>
                      <a:noFill/>
                    </a:lnB>
                    <a:noFill/>
                  </a:tcPr>
                </a:tc>
                <a:tc>
                  <a:txBody>
                    <a:bodyPr/>
                    <a:lstStyle/>
                    <a:p>
                      <a:pPr>
                        <a:buNone/>
                      </a:pPr>
                      <a:r>
                        <a:rPr lang="en-MY" sz="1400"/>
                        <a:t>Notes</a:t>
                      </a:r>
                    </a:p>
                  </a:txBody>
                  <a:tcPr marL="58709" marR="58709" marT="29355" marB="29355" anchor="ctr">
                    <a:lnL>
                      <a:noFill/>
                    </a:lnL>
                    <a:lnR>
                      <a:noFill/>
                    </a:lnR>
                    <a:lnT>
                      <a:noFill/>
                    </a:lnT>
                    <a:lnB>
                      <a:noFill/>
                    </a:lnB>
                    <a:noFill/>
                  </a:tcPr>
                </a:tc>
                <a:extLst>
                  <a:ext uri="{0D108BD9-81ED-4DB2-BD59-A6C34878D82A}">
                    <a16:rowId xmlns:a16="http://schemas.microsoft.com/office/drawing/2014/main" val="3870275446"/>
                  </a:ext>
                </a:extLst>
              </a:tr>
              <a:tr h="467717">
                <a:tc>
                  <a:txBody>
                    <a:bodyPr/>
                    <a:lstStyle/>
                    <a:p>
                      <a:pPr>
                        <a:buNone/>
                      </a:pPr>
                      <a:r>
                        <a:rPr lang="en-MY" sz="1400" b="1"/>
                        <a:t>FAT12 / FAT16</a:t>
                      </a:r>
                      <a:endParaRPr lang="en-MY" sz="1400"/>
                    </a:p>
                  </a:txBody>
                  <a:tcPr marL="58709" marR="58709" marT="29355" marB="29355" anchor="ctr">
                    <a:lnL>
                      <a:noFill/>
                    </a:lnL>
                    <a:lnR>
                      <a:noFill/>
                    </a:lnR>
                    <a:lnT>
                      <a:noFill/>
                    </a:lnT>
                    <a:lnB>
                      <a:noFill/>
                    </a:lnB>
                    <a:noFill/>
                  </a:tcPr>
                </a:tc>
                <a:tc>
                  <a:txBody>
                    <a:bodyPr/>
                    <a:lstStyle/>
                    <a:p>
                      <a:pPr>
                        <a:buNone/>
                      </a:pPr>
                      <a:r>
                        <a:rPr lang="en-MY" sz="1400" dirty="0">
                          <a:latin typeface="Courier New" panose="02070309020205020404" pitchFamily="49" charset="0"/>
                        </a:rPr>
                        <a:t>EB 3C 90 4D 53 44 4F 53 35 2E 30</a:t>
                      </a:r>
                      <a:endParaRPr lang="en-MY" sz="1400" dirty="0"/>
                    </a:p>
                  </a:txBody>
                  <a:tcPr marL="58709" marR="58709" marT="29355" marB="29355" anchor="ctr">
                    <a:lnL>
                      <a:noFill/>
                    </a:lnL>
                    <a:lnR>
                      <a:noFill/>
                    </a:lnR>
                    <a:lnT>
                      <a:noFill/>
                    </a:lnT>
                    <a:lnB>
                      <a:noFill/>
                    </a:lnB>
                    <a:noFill/>
                  </a:tcPr>
                </a:tc>
                <a:tc>
                  <a:txBody>
                    <a:bodyPr/>
                    <a:lstStyle/>
                    <a:p>
                      <a:pPr>
                        <a:buNone/>
                      </a:pPr>
                      <a:r>
                        <a:rPr lang="en-MY" sz="1400"/>
                        <a:t>“MSDOS5.0”</a:t>
                      </a:r>
                    </a:p>
                  </a:txBody>
                  <a:tcPr marL="58709" marR="58709" marT="29355" marB="29355" anchor="ctr">
                    <a:lnL>
                      <a:noFill/>
                    </a:lnL>
                    <a:lnR>
                      <a:noFill/>
                    </a:lnR>
                    <a:lnT>
                      <a:noFill/>
                    </a:lnT>
                    <a:lnB>
                      <a:noFill/>
                    </a:lnB>
                    <a:noFill/>
                  </a:tcPr>
                </a:tc>
                <a:tc>
                  <a:txBody>
                    <a:bodyPr/>
                    <a:lstStyle/>
                    <a:p>
                      <a:pPr>
                        <a:buNone/>
                      </a:pPr>
                      <a:r>
                        <a:rPr lang="en-US" sz="1400"/>
                        <a:t>Classic DOS FAT; used on older USBs or small partitions.</a:t>
                      </a:r>
                    </a:p>
                  </a:txBody>
                  <a:tcPr marL="58709" marR="58709" marT="29355" marB="29355" anchor="ctr">
                    <a:lnL>
                      <a:noFill/>
                    </a:lnL>
                    <a:lnR>
                      <a:noFill/>
                    </a:lnR>
                    <a:lnT>
                      <a:noFill/>
                    </a:lnT>
                    <a:lnB>
                      <a:noFill/>
                    </a:lnB>
                    <a:noFill/>
                  </a:tcPr>
                </a:tc>
                <a:extLst>
                  <a:ext uri="{0D108BD9-81ED-4DB2-BD59-A6C34878D82A}">
                    <a16:rowId xmlns:a16="http://schemas.microsoft.com/office/drawing/2014/main" val="4212188794"/>
                  </a:ext>
                </a:extLst>
              </a:tr>
              <a:tr h="467717">
                <a:tc>
                  <a:txBody>
                    <a:bodyPr/>
                    <a:lstStyle/>
                    <a:p>
                      <a:pPr>
                        <a:buNone/>
                      </a:pPr>
                      <a:r>
                        <a:rPr lang="en-MY" sz="1400" b="1"/>
                        <a:t>FAT32</a:t>
                      </a:r>
                      <a:endParaRPr lang="en-MY" sz="1400"/>
                    </a:p>
                  </a:txBody>
                  <a:tcPr marL="58709" marR="58709" marT="29355" marB="29355" anchor="ctr">
                    <a:lnL>
                      <a:noFill/>
                    </a:lnL>
                    <a:lnR>
                      <a:noFill/>
                    </a:lnR>
                    <a:lnT>
                      <a:noFill/>
                    </a:lnT>
                    <a:lnB>
                      <a:noFill/>
                    </a:lnB>
                    <a:noFill/>
                  </a:tcPr>
                </a:tc>
                <a:tc>
                  <a:txBody>
                    <a:bodyPr/>
                    <a:lstStyle/>
                    <a:p>
                      <a:pPr>
                        <a:buNone/>
                      </a:pPr>
                      <a:r>
                        <a:rPr lang="en-MY" sz="1400">
                          <a:latin typeface="Courier New" panose="02070309020205020404" pitchFamily="49" charset="0"/>
                        </a:rPr>
                        <a:t>EB 58 90 4D 53 57 49 4E 34 2E 31</a:t>
                      </a:r>
                      <a:endParaRPr lang="en-MY" sz="1400"/>
                    </a:p>
                  </a:txBody>
                  <a:tcPr marL="58709" marR="58709" marT="29355" marB="29355" anchor="ctr">
                    <a:lnL>
                      <a:noFill/>
                    </a:lnL>
                    <a:lnR>
                      <a:noFill/>
                    </a:lnR>
                    <a:lnT>
                      <a:noFill/>
                    </a:lnT>
                    <a:lnB>
                      <a:noFill/>
                    </a:lnB>
                    <a:noFill/>
                  </a:tcPr>
                </a:tc>
                <a:tc>
                  <a:txBody>
                    <a:bodyPr/>
                    <a:lstStyle/>
                    <a:p>
                      <a:pPr>
                        <a:buNone/>
                      </a:pPr>
                      <a:r>
                        <a:rPr lang="en-MY" sz="1400" dirty="0"/>
                        <a:t>“MSWIN4.1”</a:t>
                      </a:r>
                    </a:p>
                  </a:txBody>
                  <a:tcPr marL="58709" marR="58709" marT="29355" marB="29355" anchor="ctr">
                    <a:lnL>
                      <a:noFill/>
                    </a:lnL>
                    <a:lnR>
                      <a:noFill/>
                    </a:lnR>
                    <a:lnT>
                      <a:noFill/>
                    </a:lnT>
                    <a:lnB>
                      <a:noFill/>
                    </a:lnB>
                    <a:noFill/>
                  </a:tcPr>
                </a:tc>
                <a:tc>
                  <a:txBody>
                    <a:bodyPr/>
                    <a:lstStyle/>
                    <a:p>
                      <a:pPr>
                        <a:buNone/>
                      </a:pPr>
                      <a:r>
                        <a:rPr lang="en-US" sz="1400"/>
                        <a:t>FAT32 boot sector often shows “MSWIN4.1” or “MSDOS5.0”.</a:t>
                      </a:r>
                    </a:p>
                  </a:txBody>
                  <a:tcPr marL="58709" marR="58709" marT="29355" marB="29355" anchor="ctr">
                    <a:lnL>
                      <a:noFill/>
                    </a:lnL>
                    <a:lnR>
                      <a:noFill/>
                    </a:lnR>
                    <a:lnT>
                      <a:noFill/>
                    </a:lnT>
                    <a:lnB>
                      <a:noFill/>
                    </a:lnB>
                    <a:noFill/>
                  </a:tcPr>
                </a:tc>
                <a:extLst>
                  <a:ext uri="{0D108BD9-81ED-4DB2-BD59-A6C34878D82A}">
                    <a16:rowId xmlns:a16="http://schemas.microsoft.com/office/drawing/2014/main" val="3896686030"/>
                  </a:ext>
                </a:extLst>
              </a:tr>
              <a:tr h="467717">
                <a:tc>
                  <a:txBody>
                    <a:bodyPr/>
                    <a:lstStyle/>
                    <a:p>
                      <a:pPr>
                        <a:buNone/>
                      </a:pPr>
                      <a:r>
                        <a:rPr lang="en-MY" sz="1400" b="1"/>
                        <a:t>exFAT</a:t>
                      </a:r>
                      <a:endParaRPr lang="en-MY" sz="1400"/>
                    </a:p>
                  </a:txBody>
                  <a:tcPr marL="58709" marR="58709" marT="29355" marB="29355" anchor="ctr">
                    <a:lnL>
                      <a:noFill/>
                    </a:lnL>
                    <a:lnR>
                      <a:noFill/>
                    </a:lnR>
                    <a:lnT>
                      <a:noFill/>
                    </a:lnT>
                    <a:lnB>
                      <a:noFill/>
                    </a:lnB>
                    <a:noFill/>
                  </a:tcPr>
                </a:tc>
                <a:tc>
                  <a:txBody>
                    <a:bodyPr/>
                    <a:lstStyle/>
                    <a:p>
                      <a:pPr>
                        <a:buNone/>
                      </a:pPr>
                      <a:r>
                        <a:rPr lang="de-DE" sz="1400">
                          <a:latin typeface="Courier New" panose="02070309020205020404" pitchFamily="49" charset="0"/>
                        </a:rPr>
                        <a:t>EB 76 90 45 58 46 41 54 20 20 20</a:t>
                      </a:r>
                      <a:endParaRPr lang="de-DE" sz="1400"/>
                    </a:p>
                  </a:txBody>
                  <a:tcPr marL="58709" marR="58709" marT="29355" marB="29355" anchor="ctr">
                    <a:lnL>
                      <a:noFill/>
                    </a:lnL>
                    <a:lnR>
                      <a:noFill/>
                    </a:lnR>
                    <a:lnT>
                      <a:noFill/>
                    </a:lnT>
                    <a:lnB>
                      <a:noFill/>
                    </a:lnB>
                    <a:noFill/>
                  </a:tcPr>
                </a:tc>
                <a:tc>
                  <a:txBody>
                    <a:bodyPr/>
                    <a:lstStyle/>
                    <a:p>
                      <a:pPr>
                        <a:buNone/>
                      </a:pPr>
                      <a:r>
                        <a:rPr lang="en-MY" sz="1400"/>
                        <a:t>“EXFAT”</a:t>
                      </a:r>
                    </a:p>
                  </a:txBody>
                  <a:tcPr marL="58709" marR="58709" marT="29355" marB="29355" anchor="ctr">
                    <a:lnL>
                      <a:noFill/>
                    </a:lnL>
                    <a:lnR>
                      <a:noFill/>
                    </a:lnR>
                    <a:lnT>
                      <a:noFill/>
                    </a:lnT>
                    <a:lnB>
                      <a:noFill/>
                    </a:lnB>
                    <a:noFill/>
                  </a:tcPr>
                </a:tc>
                <a:tc>
                  <a:txBody>
                    <a:bodyPr/>
                    <a:lstStyle/>
                    <a:p>
                      <a:pPr>
                        <a:buNone/>
                      </a:pPr>
                      <a:r>
                        <a:rPr lang="en-US" sz="1400"/>
                        <a:t>The official signature for exFAT; easy to spot in hex.</a:t>
                      </a:r>
                    </a:p>
                  </a:txBody>
                  <a:tcPr marL="58709" marR="58709" marT="29355" marB="29355" anchor="ctr">
                    <a:lnL>
                      <a:noFill/>
                    </a:lnL>
                    <a:lnR>
                      <a:noFill/>
                    </a:lnR>
                    <a:lnT>
                      <a:noFill/>
                    </a:lnT>
                    <a:lnB>
                      <a:noFill/>
                    </a:lnB>
                    <a:noFill/>
                  </a:tcPr>
                </a:tc>
                <a:extLst>
                  <a:ext uri="{0D108BD9-81ED-4DB2-BD59-A6C34878D82A}">
                    <a16:rowId xmlns:a16="http://schemas.microsoft.com/office/drawing/2014/main" val="2898596327"/>
                  </a:ext>
                </a:extLst>
              </a:tr>
              <a:tr h="467717">
                <a:tc>
                  <a:txBody>
                    <a:bodyPr/>
                    <a:lstStyle/>
                    <a:p>
                      <a:pPr>
                        <a:buNone/>
                      </a:pPr>
                      <a:r>
                        <a:rPr lang="en-MY" sz="1400" b="1"/>
                        <a:t>NTFS</a:t>
                      </a:r>
                      <a:endParaRPr lang="en-MY" sz="1400"/>
                    </a:p>
                  </a:txBody>
                  <a:tcPr marL="58709" marR="58709" marT="29355" marB="29355" anchor="ctr">
                    <a:lnL>
                      <a:noFill/>
                    </a:lnL>
                    <a:lnR>
                      <a:noFill/>
                    </a:lnR>
                    <a:lnT>
                      <a:noFill/>
                    </a:lnT>
                    <a:lnB>
                      <a:noFill/>
                    </a:lnB>
                    <a:noFill/>
                  </a:tcPr>
                </a:tc>
                <a:tc>
                  <a:txBody>
                    <a:bodyPr/>
                    <a:lstStyle/>
                    <a:p>
                      <a:pPr>
                        <a:buNone/>
                      </a:pPr>
                      <a:r>
                        <a:rPr lang="pt-BR" sz="1400">
                          <a:latin typeface="Courier New" panose="02070309020205020404" pitchFamily="49" charset="0"/>
                        </a:rPr>
                        <a:t>EB 52 90 4E 54 46 53 20 20 20 20</a:t>
                      </a:r>
                      <a:endParaRPr lang="pt-BR" sz="1400"/>
                    </a:p>
                  </a:txBody>
                  <a:tcPr marL="58709" marR="58709" marT="29355" marB="29355" anchor="ctr">
                    <a:lnL>
                      <a:noFill/>
                    </a:lnL>
                    <a:lnR>
                      <a:noFill/>
                    </a:lnR>
                    <a:lnT>
                      <a:noFill/>
                    </a:lnT>
                    <a:lnB>
                      <a:noFill/>
                    </a:lnB>
                    <a:noFill/>
                  </a:tcPr>
                </a:tc>
                <a:tc>
                  <a:txBody>
                    <a:bodyPr/>
                    <a:lstStyle/>
                    <a:p>
                      <a:pPr>
                        <a:buNone/>
                      </a:pPr>
                      <a:r>
                        <a:rPr lang="en-MY" sz="1400"/>
                        <a:t>“NTFS”</a:t>
                      </a:r>
                    </a:p>
                  </a:txBody>
                  <a:tcPr marL="58709" marR="58709" marT="29355" marB="29355" anchor="ctr">
                    <a:lnL>
                      <a:noFill/>
                    </a:lnL>
                    <a:lnR>
                      <a:noFill/>
                    </a:lnR>
                    <a:lnT>
                      <a:noFill/>
                    </a:lnT>
                    <a:lnB>
                      <a:noFill/>
                    </a:lnB>
                    <a:noFill/>
                  </a:tcPr>
                </a:tc>
                <a:tc>
                  <a:txBody>
                    <a:bodyPr/>
                    <a:lstStyle/>
                    <a:p>
                      <a:pPr>
                        <a:buNone/>
                      </a:pPr>
                      <a:r>
                        <a:rPr lang="en-US" sz="1400"/>
                        <a:t>Signature you mentioned; starts with jump instruction + label.</a:t>
                      </a:r>
                    </a:p>
                  </a:txBody>
                  <a:tcPr marL="58709" marR="58709" marT="29355" marB="29355" anchor="ctr">
                    <a:lnL>
                      <a:noFill/>
                    </a:lnL>
                    <a:lnR>
                      <a:noFill/>
                    </a:lnR>
                    <a:lnT>
                      <a:noFill/>
                    </a:lnT>
                    <a:lnB>
                      <a:noFill/>
                    </a:lnB>
                    <a:noFill/>
                  </a:tcPr>
                </a:tc>
                <a:extLst>
                  <a:ext uri="{0D108BD9-81ED-4DB2-BD59-A6C34878D82A}">
                    <a16:rowId xmlns:a16="http://schemas.microsoft.com/office/drawing/2014/main" val="2960964975"/>
                  </a:ext>
                </a:extLst>
              </a:tr>
              <a:tr h="467717">
                <a:tc>
                  <a:txBody>
                    <a:bodyPr/>
                    <a:lstStyle/>
                    <a:p>
                      <a:pPr>
                        <a:buNone/>
                      </a:pPr>
                      <a:r>
                        <a:rPr lang="en-MY" sz="1400" b="1"/>
                        <a:t>EXT2 / EXT3 / EXT4</a:t>
                      </a:r>
                      <a:endParaRPr lang="en-MY" sz="1400"/>
                    </a:p>
                  </a:txBody>
                  <a:tcPr marL="58709" marR="58709" marT="29355" marB="29355" anchor="ctr">
                    <a:lnL>
                      <a:noFill/>
                    </a:lnL>
                    <a:lnR>
                      <a:noFill/>
                    </a:lnR>
                    <a:lnT>
                      <a:noFill/>
                    </a:lnT>
                    <a:lnB>
                      <a:noFill/>
                    </a:lnB>
                    <a:noFill/>
                  </a:tcPr>
                </a:tc>
                <a:tc>
                  <a:txBody>
                    <a:bodyPr/>
                    <a:lstStyle/>
                    <a:p>
                      <a:pPr>
                        <a:buNone/>
                      </a:pPr>
                      <a:r>
                        <a:rPr lang="en-US" sz="1400"/>
                        <a:t>No fixed start bytes (look for magic number at offset </a:t>
                      </a:r>
                      <a:r>
                        <a:rPr lang="en-US" sz="1400" b="1"/>
                        <a:t>0x438</a:t>
                      </a:r>
                      <a:r>
                        <a:rPr lang="en-US" sz="1400"/>
                        <a:t> = </a:t>
                      </a:r>
                      <a:r>
                        <a:rPr lang="en-US" sz="1400">
                          <a:latin typeface="Courier New" panose="02070309020205020404" pitchFamily="49" charset="0"/>
                        </a:rPr>
                        <a:t>53 EF</a:t>
                      </a:r>
                      <a:r>
                        <a:rPr lang="en-US" sz="1400"/>
                        <a:t>)</a:t>
                      </a:r>
                    </a:p>
                  </a:txBody>
                  <a:tcPr marL="58709" marR="58709" marT="29355" marB="29355" anchor="ctr">
                    <a:lnL>
                      <a:noFill/>
                    </a:lnL>
                    <a:lnR>
                      <a:noFill/>
                    </a:lnR>
                    <a:lnT>
                      <a:noFill/>
                    </a:lnT>
                    <a:lnB>
                      <a:noFill/>
                    </a:lnB>
                    <a:noFill/>
                  </a:tcPr>
                </a:tc>
                <a:tc>
                  <a:txBody>
                    <a:bodyPr/>
                    <a:lstStyle/>
                    <a:p>
                      <a:pPr>
                        <a:buNone/>
                      </a:pPr>
                      <a:r>
                        <a:rPr lang="en-MY" sz="1400"/>
                        <a:t>—</a:t>
                      </a:r>
                    </a:p>
                  </a:txBody>
                  <a:tcPr marL="58709" marR="58709" marT="29355" marB="29355" anchor="ctr">
                    <a:lnL>
                      <a:noFill/>
                    </a:lnL>
                    <a:lnR>
                      <a:noFill/>
                    </a:lnR>
                    <a:lnT>
                      <a:noFill/>
                    </a:lnT>
                    <a:lnB>
                      <a:noFill/>
                    </a:lnB>
                    <a:noFill/>
                  </a:tcPr>
                </a:tc>
                <a:tc>
                  <a:txBody>
                    <a:bodyPr/>
                    <a:lstStyle/>
                    <a:p>
                      <a:pPr>
                        <a:buNone/>
                      </a:pPr>
                      <a:r>
                        <a:rPr lang="en-US" sz="1400"/>
                        <a:t>Linux EXT family stores magic number deeper in the superblock, not at start.</a:t>
                      </a:r>
                    </a:p>
                  </a:txBody>
                  <a:tcPr marL="58709" marR="58709" marT="29355" marB="29355" anchor="ctr">
                    <a:lnL>
                      <a:noFill/>
                    </a:lnL>
                    <a:lnR>
                      <a:noFill/>
                    </a:lnR>
                    <a:lnT>
                      <a:noFill/>
                    </a:lnT>
                    <a:lnB>
                      <a:noFill/>
                    </a:lnB>
                    <a:noFill/>
                  </a:tcPr>
                </a:tc>
                <a:extLst>
                  <a:ext uri="{0D108BD9-81ED-4DB2-BD59-A6C34878D82A}">
                    <a16:rowId xmlns:a16="http://schemas.microsoft.com/office/drawing/2014/main" val="2770356726"/>
                  </a:ext>
                </a:extLst>
              </a:tr>
              <a:tr h="467717">
                <a:tc>
                  <a:txBody>
                    <a:bodyPr/>
                    <a:lstStyle/>
                    <a:p>
                      <a:pPr>
                        <a:buNone/>
                      </a:pPr>
                      <a:r>
                        <a:rPr lang="en-MY" sz="1400" b="1"/>
                        <a:t>HFS+ (macOS)</a:t>
                      </a:r>
                      <a:endParaRPr lang="en-MY" sz="1400"/>
                    </a:p>
                  </a:txBody>
                  <a:tcPr marL="58709" marR="58709" marT="29355" marB="29355" anchor="ctr">
                    <a:lnL>
                      <a:noFill/>
                    </a:lnL>
                    <a:lnR>
                      <a:noFill/>
                    </a:lnR>
                    <a:lnT>
                      <a:noFill/>
                    </a:lnT>
                    <a:lnB>
                      <a:noFill/>
                    </a:lnB>
                    <a:noFill/>
                  </a:tcPr>
                </a:tc>
                <a:tc>
                  <a:txBody>
                    <a:bodyPr/>
                    <a:lstStyle/>
                    <a:p>
                      <a:pPr>
                        <a:buNone/>
                      </a:pPr>
                      <a:r>
                        <a:rPr lang="da-DK" sz="1400">
                          <a:latin typeface="Courier New" panose="02070309020205020404" pitchFamily="49" charset="0"/>
                        </a:rPr>
                        <a:t>48 2B AF 00</a:t>
                      </a:r>
                      <a:r>
                        <a:rPr lang="da-DK" sz="1400"/>
                        <a:t> (at offset 1024)</a:t>
                      </a:r>
                    </a:p>
                  </a:txBody>
                  <a:tcPr marL="58709" marR="58709" marT="29355" marB="29355" anchor="ctr">
                    <a:lnL>
                      <a:noFill/>
                    </a:lnL>
                    <a:lnR>
                      <a:noFill/>
                    </a:lnR>
                    <a:lnT>
                      <a:noFill/>
                    </a:lnT>
                    <a:lnB>
                      <a:noFill/>
                    </a:lnB>
                    <a:noFill/>
                  </a:tcPr>
                </a:tc>
                <a:tc>
                  <a:txBody>
                    <a:bodyPr/>
                    <a:lstStyle/>
                    <a:p>
                      <a:pPr>
                        <a:buNone/>
                      </a:pPr>
                      <a:r>
                        <a:rPr lang="en-MY" sz="1400"/>
                        <a:t>—</a:t>
                      </a:r>
                    </a:p>
                  </a:txBody>
                  <a:tcPr marL="58709" marR="58709" marT="29355" marB="29355" anchor="ctr">
                    <a:lnL>
                      <a:noFill/>
                    </a:lnL>
                    <a:lnR>
                      <a:noFill/>
                    </a:lnR>
                    <a:lnT>
                      <a:noFill/>
                    </a:lnT>
                    <a:lnB>
                      <a:noFill/>
                    </a:lnB>
                    <a:noFill/>
                  </a:tcPr>
                </a:tc>
                <a:tc>
                  <a:txBody>
                    <a:bodyPr/>
                    <a:lstStyle/>
                    <a:p>
                      <a:pPr>
                        <a:buNone/>
                      </a:pPr>
                      <a:r>
                        <a:rPr lang="en-US" sz="1400"/>
                        <a:t>HFS+ header appears after a 1024-byte boot block.</a:t>
                      </a:r>
                    </a:p>
                  </a:txBody>
                  <a:tcPr marL="58709" marR="58709" marT="29355" marB="29355" anchor="ctr">
                    <a:lnL>
                      <a:noFill/>
                    </a:lnL>
                    <a:lnR>
                      <a:noFill/>
                    </a:lnR>
                    <a:lnT>
                      <a:noFill/>
                    </a:lnT>
                    <a:lnB>
                      <a:noFill/>
                    </a:lnB>
                    <a:noFill/>
                  </a:tcPr>
                </a:tc>
                <a:extLst>
                  <a:ext uri="{0D108BD9-81ED-4DB2-BD59-A6C34878D82A}">
                    <a16:rowId xmlns:a16="http://schemas.microsoft.com/office/drawing/2014/main" val="82460082"/>
                  </a:ext>
                </a:extLst>
              </a:tr>
              <a:tr h="467717">
                <a:tc>
                  <a:txBody>
                    <a:bodyPr/>
                    <a:lstStyle/>
                    <a:p>
                      <a:pPr>
                        <a:buNone/>
                      </a:pPr>
                      <a:r>
                        <a:rPr lang="en-MY" sz="1400" b="1"/>
                        <a:t>APFS (macOS)</a:t>
                      </a:r>
                      <a:endParaRPr lang="en-MY" sz="1400"/>
                    </a:p>
                  </a:txBody>
                  <a:tcPr marL="58709" marR="58709" marT="29355" marB="29355" anchor="ctr">
                    <a:lnL>
                      <a:noFill/>
                    </a:lnL>
                    <a:lnR>
                      <a:noFill/>
                    </a:lnR>
                    <a:lnT>
                      <a:noFill/>
                    </a:lnT>
                    <a:lnB>
                      <a:noFill/>
                    </a:lnB>
                    <a:noFill/>
                  </a:tcPr>
                </a:tc>
                <a:tc>
                  <a:txBody>
                    <a:bodyPr/>
                    <a:lstStyle/>
                    <a:p>
                      <a:pPr>
                        <a:buNone/>
                      </a:pPr>
                      <a:r>
                        <a:rPr lang="en-MY" sz="1400">
                          <a:latin typeface="Courier New" panose="02070309020205020404" pitchFamily="49" charset="0"/>
                        </a:rPr>
                        <a:t>41 50 46 53</a:t>
                      </a:r>
                      <a:endParaRPr lang="en-MY" sz="1400"/>
                    </a:p>
                  </a:txBody>
                  <a:tcPr marL="58709" marR="58709" marT="29355" marB="29355" anchor="ctr">
                    <a:lnL>
                      <a:noFill/>
                    </a:lnL>
                    <a:lnR>
                      <a:noFill/>
                    </a:lnR>
                    <a:lnT>
                      <a:noFill/>
                    </a:lnT>
                    <a:lnB>
                      <a:noFill/>
                    </a:lnB>
                    <a:noFill/>
                  </a:tcPr>
                </a:tc>
                <a:tc>
                  <a:txBody>
                    <a:bodyPr/>
                    <a:lstStyle/>
                    <a:p>
                      <a:pPr>
                        <a:buNone/>
                      </a:pPr>
                      <a:r>
                        <a:rPr lang="en-MY" sz="1400"/>
                        <a:t>“APFS”</a:t>
                      </a:r>
                    </a:p>
                  </a:txBody>
                  <a:tcPr marL="58709" marR="58709" marT="29355" marB="29355" anchor="ctr">
                    <a:lnL>
                      <a:noFill/>
                    </a:lnL>
                    <a:lnR>
                      <a:noFill/>
                    </a:lnR>
                    <a:lnT>
                      <a:noFill/>
                    </a:lnT>
                    <a:lnB>
                      <a:noFill/>
                    </a:lnB>
                    <a:noFill/>
                  </a:tcPr>
                </a:tc>
                <a:tc>
                  <a:txBody>
                    <a:bodyPr/>
                    <a:lstStyle/>
                    <a:p>
                      <a:pPr>
                        <a:buNone/>
                      </a:pPr>
                      <a:r>
                        <a:rPr lang="en-US" sz="1400"/>
                        <a:t>Appears near offset 0 of the container superblock.</a:t>
                      </a:r>
                    </a:p>
                  </a:txBody>
                  <a:tcPr marL="58709" marR="58709" marT="29355" marB="29355" anchor="ctr">
                    <a:lnL>
                      <a:noFill/>
                    </a:lnL>
                    <a:lnR>
                      <a:noFill/>
                    </a:lnR>
                    <a:lnT>
                      <a:noFill/>
                    </a:lnT>
                    <a:lnB>
                      <a:noFill/>
                    </a:lnB>
                    <a:noFill/>
                  </a:tcPr>
                </a:tc>
                <a:extLst>
                  <a:ext uri="{0D108BD9-81ED-4DB2-BD59-A6C34878D82A}">
                    <a16:rowId xmlns:a16="http://schemas.microsoft.com/office/drawing/2014/main" val="615513199"/>
                  </a:ext>
                </a:extLst>
              </a:tr>
              <a:tr h="467717">
                <a:tc>
                  <a:txBody>
                    <a:bodyPr/>
                    <a:lstStyle/>
                    <a:p>
                      <a:pPr>
                        <a:buNone/>
                      </a:pPr>
                      <a:r>
                        <a:rPr lang="en-MY" sz="1400" b="1"/>
                        <a:t>ReFS (Windows)</a:t>
                      </a:r>
                      <a:endParaRPr lang="en-MY" sz="1400"/>
                    </a:p>
                  </a:txBody>
                  <a:tcPr marL="58709" marR="58709" marT="29355" marB="29355" anchor="ctr">
                    <a:lnL>
                      <a:noFill/>
                    </a:lnL>
                    <a:lnR>
                      <a:noFill/>
                    </a:lnR>
                    <a:lnT>
                      <a:noFill/>
                    </a:lnT>
                    <a:lnB>
                      <a:noFill/>
                    </a:lnB>
                    <a:noFill/>
                  </a:tcPr>
                </a:tc>
                <a:tc>
                  <a:txBody>
                    <a:bodyPr/>
                    <a:lstStyle/>
                    <a:p>
                      <a:pPr>
                        <a:buNone/>
                      </a:pPr>
                      <a:r>
                        <a:rPr lang="en-MY" sz="1400">
                          <a:latin typeface="Courier New" panose="02070309020205020404" pitchFamily="49" charset="0"/>
                        </a:rPr>
                        <a:t>52 65 46 53</a:t>
                      </a:r>
                      <a:endParaRPr lang="en-MY" sz="1400"/>
                    </a:p>
                  </a:txBody>
                  <a:tcPr marL="58709" marR="58709" marT="29355" marB="29355" anchor="ctr">
                    <a:lnL>
                      <a:noFill/>
                    </a:lnL>
                    <a:lnR>
                      <a:noFill/>
                    </a:lnR>
                    <a:lnT>
                      <a:noFill/>
                    </a:lnT>
                    <a:lnB>
                      <a:noFill/>
                    </a:lnB>
                    <a:noFill/>
                  </a:tcPr>
                </a:tc>
                <a:tc>
                  <a:txBody>
                    <a:bodyPr/>
                    <a:lstStyle/>
                    <a:p>
                      <a:pPr>
                        <a:buNone/>
                      </a:pPr>
                      <a:r>
                        <a:rPr lang="en-MY" sz="1400"/>
                        <a:t>“ReFS”</a:t>
                      </a:r>
                    </a:p>
                  </a:txBody>
                  <a:tcPr marL="58709" marR="58709" marT="29355" marB="29355" anchor="ctr">
                    <a:lnL>
                      <a:noFill/>
                    </a:lnL>
                    <a:lnR>
                      <a:noFill/>
                    </a:lnR>
                    <a:lnT>
                      <a:noFill/>
                    </a:lnT>
                    <a:lnB>
                      <a:noFill/>
                    </a:lnB>
                    <a:noFill/>
                  </a:tcPr>
                </a:tc>
                <a:tc>
                  <a:txBody>
                    <a:bodyPr/>
                    <a:lstStyle/>
                    <a:p>
                      <a:pPr>
                        <a:buNone/>
                      </a:pPr>
                      <a:r>
                        <a:rPr lang="en-MY" sz="1400" dirty="0"/>
                        <a:t>Microsoft Resilient File System; seen in Windows Server versions.</a:t>
                      </a:r>
                    </a:p>
                  </a:txBody>
                  <a:tcPr marL="58709" marR="58709" marT="29355" marB="29355" anchor="ctr">
                    <a:lnL>
                      <a:noFill/>
                    </a:lnL>
                    <a:lnR>
                      <a:noFill/>
                    </a:lnR>
                    <a:lnT>
                      <a:noFill/>
                    </a:lnT>
                    <a:lnB>
                      <a:noFill/>
                    </a:lnB>
                    <a:noFill/>
                  </a:tcPr>
                </a:tc>
                <a:extLst>
                  <a:ext uri="{0D108BD9-81ED-4DB2-BD59-A6C34878D82A}">
                    <a16:rowId xmlns:a16="http://schemas.microsoft.com/office/drawing/2014/main" val="1102345965"/>
                  </a:ext>
                </a:extLst>
              </a:tr>
            </a:tbl>
          </a:graphicData>
        </a:graphic>
      </p:graphicFrame>
      <p:sp>
        <p:nvSpPr>
          <p:cNvPr id="6" name="TextBox 5">
            <a:extLst>
              <a:ext uri="{FF2B5EF4-FFF2-40B4-BE49-F238E27FC236}">
                <a16:creationId xmlns:a16="http://schemas.microsoft.com/office/drawing/2014/main" id="{BF457B89-B0CA-9121-ECEF-5476199D5925}"/>
              </a:ext>
            </a:extLst>
          </p:cNvPr>
          <p:cNvSpPr txBox="1"/>
          <p:nvPr/>
        </p:nvSpPr>
        <p:spPr>
          <a:xfrm>
            <a:off x="838200" y="641597"/>
            <a:ext cx="10336481" cy="584775"/>
          </a:xfrm>
          <a:prstGeom prst="rect">
            <a:avLst/>
          </a:prstGeom>
          <a:noFill/>
        </p:spPr>
        <p:txBody>
          <a:bodyPr wrap="square">
            <a:spAutoFit/>
          </a:bodyPr>
          <a:lstStyle/>
          <a:p>
            <a:r>
              <a:rPr lang="en-US" sz="3200" dirty="0"/>
              <a:t>Common Boot Sector Signatures by File System</a:t>
            </a:r>
            <a:endParaRPr lang="en-MY" sz="3200" dirty="0"/>
          </a:p>
        </p:txBody>
      </p:sp>
    </p:spTree>
    <p:extLst>
      <p:ext uri="{BB962C8B-B14F-4D97-AF65-F5344CB8AC3E}">
        <p14:creationId xmlns:p14="http://schemas.microsoft.com/office/powerpoint/2010/main" val="3952783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368CF-74C2-F4A7-ECB9-BA20687F1B1E}"/>
              </a:ext>
            </a:extLst>
          </p:cNvPr>
          <p:cNvSpPr>
            <a:spLocks noGrp="1"/>
          </p:cNvSpPr>
          <p:nvPr>
            <p:ph type="ctrTitle"/>
          </p:nvPr>
        </p:nvSpPr>
        <p:spPr/>
        <p:txBody>
          <a:bodyPr/>
          <a:lstStyle/>
          <a:p>
            <a:r>
              <a:rPr lang="en-MY" dirty="0"/>
              <a:t>The FAT File System</a:t>
            </a:r>
          </a:p>
        </p:txBody>
      </p:sp>
      <p:sp>
        <p:nvSpPr>
          <p:cNvPr id="3" name="Subtitle 2">
            <a:extLst>
              <a:ext uri="{FF2B5EF4-FFF2-40B4-BE49-F238E27FC236}">
                <a16:creationId xmlns:a16="http://schemas.microsoft.com/office/drawing/2014/main" id="{ADCAB61D-0D70-0047-F3E6-4DEB96BCA69D}"/>
              </a:ext>
            </a:extLst>
          </p:cNvPr>
          <p:cNvSpPr>
            <a:spLocks noGrp="1"/>
          </p:cNvSpPr>
          <p:nvPr>
            <p:ph type="subTitle" idx="1"/>
          </p:nvPr>
        </p:nvSpPr>
        <p:spPr/>
        <p:txBody>
          <a:bodyPr/>
          <a:lstStyle/>
          <a:p>
            <a:endParaRPr lang="en-MY"/>
          </a:p>
        </p:txBody>
      </p:sp>
    </p:spTree>
    <p:extLst>
      <p:ext uri="{BB962C8B-B14F-4D97-AF65-F5344CB8AC3E}">
        <p14:creationId xmlns:p14="http://schemas.microsoft.com/office/powerpoint/2010/main" val="4274907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71EE7-0221-5D71-BA07-102D53CF979D}"/>
              </a:ext>
            </a:extLst>
          </p:cNvPr>
          <p:cNvSpPr>
            <a:spLocks noGrp="1"/>
          </p:cNvSpPr>
          <p:nvPr>
            <p:ph type="title"/>
          </p:nvPr>
        </p:nvSpPr>
        <p:spPr/>
        <p:txBody>
          <a:bodyPr/>
          <a:lstStyle/>
          <a:p>
            <a:r>
              <a:rPr lang="en-US" dirty="0"/>
              <a:t>Think of the FAT as a big list (table)</a:t>
            </a:r>
            <a:endParaRPr lang="en-MY" dirty="0"/>
          </a:p>
        </p:txBody>
      </p:sp>
      <p:sp>
        <p:nvSpPr>
          <p:cNvPr id="3" name="Content Placeholder 2">
            <a:extLst>
              <a:ext uri="{FF2B5EF4-FFF2-40B4-BE49-F238E27FC236}">
                <a16:creationId xmlns:a16="http://schemas.microsoft.com/office/drawing/2014/main" id="{007A060D-0095-8282-4EAF-A9D7182CF913}"/>
              </a:ext>
            </a:extLst>
          </p:cNvPr>
          <p:cNvSpPr>
            <a:spLocks noGrp="1"/>
          </p:cNvSpPr>
          <p:nvPr>
            <p:ph idx="1"/>
          </p:nvPr>
        </p:nvSpPr>
        <p:spPr/>
        <p:txBody>
          <a:bodyPr/>
          <a:lstStyle/>
          <a:p>
            <a:r>
              <a:rPr lang="en-US" dirty="0"/>
              <a:t>Each </a:t>
            </a:r>
            <a:r>
              <a:rPr lang="en-US" b="1" dirty="0"/>
              <a:t>row</a:t>
            </a:r>
            <a:r>
              <a:rPr lang="en-US" dirty="0"/>
              <a:t> (or “entry”) in that list represents </a:t>
            </a:r>
            <a:r>
              <a:rPr lang="en-US" b="1" dirty="0"/>
              <a:t>one cluster</a:t>
            </a:r>
            <a:r>
              <a:rPr lang="en-US" dirty="0"/>
              <a:t> on the disk.</a:t>
            </a:r>
          </a:p>
          <a:p>
            <a:r>
              <a:rPr lang="en-US" dirty="0"/>
              <a:t>That entry stores:</a:t>
            </a:r>
          </a:p>
          <a:p>
            <a:pPr marL="457200" lvl="1" indent="0">
              <a:buNone/>
            </a:pPr>
            <a:r>
              <a:rPr lang="en-US" dirty="0"/>
              <a:t>“What’s the next cluster in this file?”</a:t>
            </a:r>
            <a:br>
              <a:rPr lang="en-US" dirty="0"/>
            </a:br>
            <a:r>
              <a:rPr lang="en-US" dirty="0"/>
              <a:t>or</a:t>
            </a:r>
            <a:br>
              <a:rPr lang="en-US" dirty="0"/>
            </a:br>
            <a:r>
              <a:rPr lang="en-US" dirty="0"/>
              <a:t>“Is this the end of the file?”</a:t>
            </a:r>
            <a:br>
              <a:rPr lang="en-US" dirty="0"/>
            </a:br>
            <a:r>
              <a:rPr lang="en-US" dirty="0"/>
              <a:t>or</a:t>
            </a:r>
            <a:br>
              <a:rPr lang="en-US" dirty="0"/>
            </a:br>
            <a:r>
              <a:rPr lang="en-US" dirty="0"/>
              <a:t>“Is this cluster free/bad?”</a:t>
            </a:r>
          </a:p>
          <a:p>
            <a:endParaRPr lang="en-MY" dirty="0"/>
          </a:p>
        </p:txBody>
      </p:sp>
    </p:spTree>
    <p:extLst>
      <p:ext uri="{BB962C8B-B14F-4D97-AF65-F5344CB8AC3E}">
        <p14:creationId xmlns:p14="http://schemas.microsoft.com/office/powerpoint/2010/main" val="539337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AB337-B401-6415-F03F-601094CA08E0}"/>
              </a:ext>
            </a:extLst>
          </p:cNvPr>
          <p:cNvSpPr>
            <a:spLocks noGrp="1"/>
          </p:cNvSpPr>
          <p:nvPr>
            <p:ph type="title"/>
          </p:nvPr>
        </p:nvSpPr>
        <p:spPr/>
        <p:txBody>
          <a:bodyPr/>
          <a:lstStyle/>
          <a:p>
            <a:r>
              <a:rPr lang="en-MY" dirty="0"/>
              <a:t>In simpler terms</a:t>
            </a:r>
          </a:p>
        </p:txBody>
      </p:sp>
      <p:graphicFrame>
        <p:nvGraphicFramePr>
          <p:cNvPr id="4" name="Content Placeholder 3">
            <a:extLst>
              <a:ext uri="{FF2B5EF4-FFF2-40B4-BE49-F238E27FC236}">
                <a16:creationId xmlns:a16="http://schemas.microsoft.com/office/drawing/2014/main" id="{99FE5B7F-90C2-91D8-CA84-7D184199A8E7}"/>
              </a:ext>
            </a:extLst>
          </p:cNvPr>
          <p:cNvGraphicFramePr>
            <a:graphicFrameLocks noGrp="1"/>
          </p:cNvGraphicFramePr>
          <p:nvPr>
            <p:ph idx="1"/>
            <p:extLst>
              <p:ext uri="{D42A27DB-BD31-4B8C-83A1-F6EECF244321}">
                <p14:modId xmlns:p14="http://schemas.microsoft.com/office/powerpoint/2010/main" val="1449164062"/>
              </p:ext>
            </p:extLst>
          </p:nvPr>
        </p:nvGraphicFramePr>
        <p:xfrm>
          <a:off x="838200" y="1690688"/>
          <a:ext cx="10515600" cy="1463040"/>
        </p:xfrm>
        <a:graphic>
          <a:graphicData uri="http://schemas.openxmlformats.org/drawingml/2006/table">
            <a:tbl>
              <a:tblPr/>
              <a:tblGrid>
                <a:gridCol w="1496209">
                  <a:extLst>
                    <a:ext uri="{9D8B030D-6E8A-4147-A177-3AD203B41FA5}">
                      <a16:colId xmlns:a16="http://schemas.microsoft.com/office/drawing/2014/main" val="3091456603"/>
                    </a:ext>
                  </a:extLst>
                </a:gridCol>
                <a:gridCol w="2571078">
                  <a:extLst>
                    <a:ext uri="{9D8B030D-6E8A-4147-A177-3AD203B41FA5}">
                      <a16:colId xmlns:a16="http://schemas.microsoft.com/office/drawing/2014/main" val="2412182248"/>
                    </a:ext>
                  </a:extLst>
                </a:gridCol>
                <a:gridCol w="6448313">
                  <a:extLst>
                    <a:ext uri="{9D8B030D-6E8A-4147-A177-3AD203B41FA5}">
                      <a16:colId xmlns:a16="http://schemas.microsoft.com/office/drawing/2014/main" val="1060041117"/>
                    </a:ext>
                  </a:extLst>
                </a:gridCol>
              </a:tblGrid>
              <a:tr h="0">
                <a:tc>
                  <a:txBody>
                    <a:bodyPr/>
                    <a:lstStyle/>
                    <a:p>
                      <a:pPr>
                        <a:buNone/>
                      </a:pPr>
                      <a:r>
                        <a:rPr lang="en-MY"/>
                        <a:t>FAT version</a:t>
                      </a:r>
                    </a:p>
                  </a:txBody>
                  <a:tcPr anchor="ctr">
                    <a:lnL>
                      <a:noFill/>
                    </a:lnL>
                    <a:lnR>
                      <a:noFill/>
                    </a:lnR>
                    <a:lnT>
                      <a:noFill/>
                    </a:lnT>
                    <a:lnB>
                      <a:noFill/>
                    </a:lnB>
                    <a:noFill/>
                  </a:tcPr>
                </a:tc>
                <a:tc>
                  <a:txBody>
                    <a:bodyPr/>
                    <a:lstStyle/>
                    <a:p>
                      <a:pPr>
                        <a:buNone/>
                      </a:pPr>
                      <a:r>
                        <a:rPr lang="en-MY"/>
                        <a:t>Bits per entry</a:t>
                      </a:r>
                    </a:p>
                  </a:txBody>
                  <a:tcPr anchor="ctr">
                    <a:lnL>
                      <a:noFill/>
                    </a:lnL>
                    <a:lnR>
                      <a:noFill/>
                    </a:lnR>
                    <a:lnT>
                      <a:noFill/>
                    </a:lnT>
                    <a:lnB>
                      <a:noFill/>
                    </a:lnB>
                    <a:noFill/>
                  </a:tcPr>
                </a:tc>
                <a:tc>
                  <a:txBody>
                    <a:bodyPr/>
                    <a:lstStyle/>
                    <a:p>
                      <a:pPr>
                        <a:buNone/>
                      </a:pPr>
                      <a:r>
                        <a:rPr lang="en-MY"/>
                        <a:t>Meaning</a:t>
                      </a:r>
                    </a:p>
                  </a:txBody>
                  <a:tcPr anchor="ctr">
                    <a:lnL>
                      <a:noFill/>
                    </a:lnL>
                    <a:lnR>
                      <a:noFill/>
                    </a:lnR>
                    <a:lnT>
                      <a:noFill/>
                    </a:lnT>
                    <a:lnB>
                      <a:noFill/>
                    </a:lnB>
                    <a:noFill/>
                  </a:tcPr>
                </a:tc>
                <a:extLst>
                  <a:ext uri="{0D108BD9-81ED-4DB2-BD59-A6C34878D82A}">
                    <a16:rowId xmlns:a16="http://schemas.microsoft.com/office/drawing/2014/main" val="3956327623"/>
                  </a:ext>
                </a:extLst>
              </a:tr>
              <a:tr h="0">
                <a:tc>
                  <a:txBody>
                    <a:bodyPr/>
                    <a:lstStyle/>
                    <a:p>
                      <a:pPr>
                        <a:buNone/>
                      </a:pPr>
                      <a:r>
                        <a:rPr lang="en-MY" dirty="0"/>
                        <a:t>FAT12</a:t>
                      </a:r>
                    </a:p>
                  </a:txBody>
                  <a:tcPr anchor="ctr">
                    <a:lnL>
                      <a:noFill/>
                    </a:lnL>
                    <a:lnR>
                      <a:noFill/>
                    </a:lnR>
                    <a:lnT>
                      <a:noFill/>
                    </a:lnT>
                    <a:lnB>
                      <a:noFill/>
                    </a:lnB>
                    <a:noFill/>
                  </a:tcPr>
                </a:tc>
                <a:tc>
                  <a:txBody>
                    <a:bodyPr/>
                    <a:lstStyle/>
                    <a:p>
                      <a:pPr>
                        <a:buNone/>
                      </a:pPr>
                      <a:r>
                        <a:rPr lang="en-MY"/>
                        <a:t>12 bits</a:t>
                      </a:r>
                    </a:p>
                  </a:txBody>
                  <a:tcPr anchor="ctr">
                    <a:lnL>
                      <a:noFill/>
                    </a:lnL>
                    <a:lnR>
                      <a:noFill/>
                    </a:lnR>
                    <a:lnT>
                      <a:noFill/>
                    </a:lnT>
                    <a:lnB>
                      <a:noFill/>
                    </a:lnB>
                    <a:noFill/>
                  </a:tcPr>
                </a:tc>
                <a:tc>
                  <a:txBody>
                    <a:bodyPr/>
                    <a:lstStyle/>
                    <a:p>
                      <a:pPr>
                        <a:buNone/>
                      </a:pPr>
                      <a:r>
                        <a:rPr lang="en-US"/>
                        <a:t>Can describe up to ~4,000 clusters</a:t>
                      </a:r>
                    </a:p>
                  </a:txBody>
                  <a:tcPr anchor="ctr">
                    <a:lnL>
                      <a:noFill/>
                    </a:lnL>
                    <a:lnR>
                      <a:noFill/>
                    </a:lnR>
                    <a:lnT>
                      <a:noFill/>
                    </a:lnT>
                    <a:lnB>
                      <a:noFill/>
                    </a:lnB>
                    <a:noFill/>
                  </a:tcPr>
                </a:tc>
                <a:extLst>
                  <a:ext uri="{0D108BD9-81ED-4DB2-BD59-A6C34878D82A}">
                    <a16:rowId xmlns:a16="http://schemas.microsoft.com/office/drawing/2014/main" val="2267380729"/>
                  </a:ext>
                </a:extLst>
              </a:tr>
              <a:tr h="0">
                <a:tc>
                  <a:txBody>
                    <a:bodyPr/>
                    <a:lstStyle/>
                    <a:p>
                      <a:pPr>
                        <a:buNone/>
                      </a:pPr>
                      <a:r>
                        <a:rPr lang="en-MY"/>
                        <a:t>FAT16</a:t>
                      </a:r>
                    </a:p>
                  </a:txBody>
                  <a:tcPr anchor="ctr">
                    <a:lnL>
                      <a:noFill/>
                    </a:lnL>
                    <a:lnR>
                      <a:noFill/>
                    </a:lnR>
                    <a:lnT>
                      <a:noFill/>
                    </a:lnT>
                    <a:lnB>
                      <a:noFill/>
                    </a:lnB>
                    <a:noFill/>
                  </a:tcPr>
                </a:tc>
                <a:tc>
                  <a:txBody>
                    <a:bodyPr/>
                    <a:lstStyle/>
                    <a:p>
                      <a:pPr>
                        <a:buNone/>
                      </a:pPr>
                      <a:r>
                        <a:rPr lang="en-MY" dirty="0"/>
                        <a:t>16 bits</a:t>
                      </a:r>
                    </a:p>
                  </a:txBody>
                  <a:tcPr anchor="ctr">
                    <a:lnL>
                      <a:noFill/>
                    </a:lnL>
                    <a:lnR>
                      <a:noFill/>
                    </a:lnR>
                    <a:lnT>
                      <a:noFill/>
                    </a:lnT>
                    <a:lnB>
                      <a:noFill/>
                    </a:lnB>
                    <a:noFill/>
                  </a:tcPr>
                </a:tc>
                <a:tc>
                  <a:txBody>
                    <a:bodyPr/>
                    <a:lstStyle/>
                    <a:p>
                      <a:pPr>
                        <a:buNone/>
                      </a:pPr>
                      <a:r>
                        <a:rPr lang="en-US"/>
                        <a:t>Can describe up to ~65,000 clusters</a:t>
                      </a:r>
                    </a:p>
                  </a:txBody>
                  <a:tcPr anchor="ctr">
                    <a:lnL>
                      <a:noFill/>
                    </a:lnL>
                    <a:lnR>
                      <a:noFill/>
                    </a:lnR>
                    <a:lnT>
                      <a:noFill/>
                    </a:lnT>
                    <a:lnB>
                      <a:noFill/>
                    </a:lnB>
                    <a:noFill/>
                  </a:tcPr>
                </a:tc>
                <a:extLst>
                  <a:ext uri="{0D108BD9-81ED-4DB2-BD59-A6C34878D82A}">
                    <a16:rowId xmlns:a16="http://schemas.microsoft.com/office/drawing/2014/main" val="57538754"/>
                  </a:ext>
                </a:extLst>
              </a:tr>
              <a:tr h="0">
                <a:tc>
                  <a:txBody>
                    <a:bodyPr/>
                    <a:lstStyle/>
                    <a:p>
                      <a:pPr>
                        <a:buNone/>
                      </a:pPr>
                      <a:r>
                        <a:rPr lang="en-MY"/>
                        <a:t>FAT32</a:t>
                      </a:r>
                    </a:p>
                  </a:txBody>
                  <a:tcPr anchor="ctr">
                    <a:lnL>
                      <a:noFill/>
                    </a:lnL>
                    <a:lnR>
                      <a:noFill/>
                    </a:lnR>
                    <a:lnT>
                      <a:noFill/>
                    </a:lnT>
                    <a:lnB>
                      <a:noFill/>
                    </a:lnB>
                    <a:noFill/>
                  </a:tcPr>
                </a:tc>
                <a:tc>
                  <a:txBody>
                    <a:bodyPr/>
                    <a:lstStyle/>
                    <a:p>
                      <a:pPr>
                        <a:buNone/>
                      </a:pPr>
                      <a:r>
                        <a:rPr lang="en-US"/>
                        <a:t>32 bits (really 28 used)</a:t>
                      </a:r>
                    </a:p>
                  </a:txBody>
                  <a:tcPr anchor="ctr">
                    <a:lnL>
                      <a:noFill/>
                    </a:lnL>
                    <a:lnR>
                      <a:noFill/>
                    </a:lnR>
                    <a:lnT>
                      <a:noFill/>
                    </a:lnT>
                    <a:lnB>
                      <a:noFill/>
                    </a:lnB>
                    <a:noFill/>
                  </a:tcPr>
                </a:tc>
                <a:tc>
                  <a:txBody>
                    <a:bodyPr/>
                    <a:lstStyle/>
                    <a:p>
                      <a:pPr>
                        <a:buNone/>
                      </a:pPr>
                      <a:r>
                        <a:rPr lang="en-US" dirty="0"/>
                        <a:t>Can describe millions of clusters</a:t>
                      </a:r>
                    </a:p>
                  </a:txBody>
                  <a:tcPr anchor="ctr">
                    <a:lnL>
                      <a:noFill/>
                    </a:lnL>
                    <a:lnR>
                      <a:noFill/>
                    </a:lnR>
                    <a:lnT>
                      <a:noFill/>
                    </a:lnT>
                    <a:lnB>
                      <a:noFill/>
                    </a:lnB>
                    <a:noFill/>
                  </a:tcPr>
                </a:tc>
                <a:extLst>
                  <a:ext uri="{0D108BD9-81ED-4DB2-BD59-A6C34878D82A}">
                    <a16:rowId xmlns:a16="http://schemas.microsoft.com/office/drawing/2014/main" val="3682488476"/>
                  </a:ext>
                </a:extLst>
              </a:tr>
            </a:tbl>
          </a:graphicData>
        </a:graphic>
      </p:graphicFrame>
      <p:sp>
        <p:nvSpPr>
          <p:cNvPr id="6" name="TextBox 5">
            <a:extLst>
              <a:ext uri="{FF2B5EF4-FFF2-40B4-BE49-F238E27FC236}">
                <a16:creationId xmlns:a16="http://schemas.microsoft.com/office/drawing/2014/main" id="{86E8B903-3AFC-0CDE-C4B9-25B3E4CFEBC0}"/>
              </a:ext>
            </a:extLst>
          </p:cNvPr>
          <p:cNvSpPr txBox="1"/>
          <p:nvPr/>
        </p:nvSpPr>
        <p:spPr>
          <a:xfrm>
            <a:off x="838200" y="3429000"/>
            <a:ext cx="10159652" cy="1384995"/>
          </a:xfrm>
          <a:prstGeom prst="rect">
            <a:avLst/>
          </a:prstGeom>
          <a:noFill/>
        </p:spPr>
        <p:txBody>
          <a:bodyPr wrap="square">
            <a:spAutoFit/>
          </a:bodyPr>
          <a:lstStyle/>
          <a:p>
            <a:r>
              <a:rPr lang="en-US" sz="2800" dirty="0"/>
              <a:t>So “32-bit” means the system uses 32 binary digits to store information about each cluster’s state and link (the “next cluster number” or “end of file” marker).</a:t>
            </a:r>
            <a:endParaRPr lang="en-MY" sz="2800" dirty="0"/>
          </a:p>
        </p:txBody>
      </p:sp>
    </p:spTree>
    <p:extLst>
      <p:ext uri="{BB962C8B-B14F-4D97-AF65-F5344CB8AC3E}">
        <p14:creationId xmlns:p14="http://schemas.microsoft.com/office/powerpoint/2010/main" val="3530969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7AE56-6B01-884A-D263-EBBE5B5ECA61}"/>
              </a:ext>
            </a:extLst>
          </p:cNvPr>
          <p:cNvSpPr>
            <a:spLocks noGrp="1"/>
          </p:cNvSpPr>
          <p:nvPr>
            <p:ph type="title"/>
          </p:nvPr>
        </p:nvSpPr>
        <p:spPr/>
        <p:txBody>
          <a:bodyPr/>
          <a:lstStyle/>
          <a:p>
            <a:r>
              <a:rPr lang="en-MY" dirty="0"/>
              <a:t>File system that was created in 1977</a:t>
            </a:r>
          </a:p>
        </p:txBody>
      </p:sp>
      <p:sp>
        <p:nvSpPr>
          <p:cNvPr id="3" name="Content Placeholder 2">
            <a:extLst>
              <a:ext uri="{FF2B5EF4-FFF2-40B4-BE49-F238E27FC236}">
                <a16:creationId xmlns:a16="http://schemas.microsoft.com/office/drawing/2014/main" id="{78B9F1BD-B217-39DF-399F-8EE1B263CA60}"/>
              </a:ext>
            </a:extLst>
          </p:cNvPr>
          <p:cNvSpPr>
            <a:spLocks noGrp="1"/>
          </p:cNvSpPr>
          <p:nvPr>
            <p:ph idx="1"/>
          </p:nvPr>
        </p:nvSpPr>
        <p:spPr/>
        <p:txBody>
          <a:bodyPr>
            <a:normAutofit fontScale="85000" lnSpcReduction="20000"/>
          </a:bodyPr>
          <a:lstStyle/>
          <a:p>
            <a:r>
              <a:rPr lang="en-US" dirty="0"/>
              <a:t>An old file system that still finds regular use today </a:t>
            </a:r>
          </a:p>
          <a:p>
            <a:r>
              <a:rPr lang="en-US" dirty="0"/>
              <a:t>The file system was named for its main </a:t>
            </a:r>
            <a:r>
              <a:rPr lang="en-US" dirty="0" err="1"/>
              <a:t>organisational</a:t>
            </a:r>
            <a:r>
              <a:rPr lang="en-US" dirty="0"/>
              <a:t> unit, which is also called the File Allocation Table (FAT).</a:t>
            </a:r>
          </a:p>
          <a:p>
            <a:r>
              <a:rPr lang="en-US" dirty="0"/>
              <a:t>The original version of the FAT file system was developed for floppy disks in 1977.</a:t>
            </a:r>
          </a:p>
          <a:p>
            <a:r>
              <a:rPr lang="en-US" dirty="0"/>
              <a:t>Since this time there have been three major versions of FAT: FAT12, FAT16 and FAT32.</a:t>
            </a:r>
          </a:p>
          <a:p>
            <a:r>
              <a:rPr lang="en-US" sz="2800" b="0" i="0" dirty="0">
                <a:solidFill>
                  <a:srgbClr val="000000"/>
                </a:solidFill>
                <a:effectLst/>
                <a:latin typeface="STIXTwoText"/>
              </a:rPr>
              <a:t>The versions differ mainly in the size of addressable space available.</a:t>
            </a:r>
          </a:p>
          <a:p>
            <a:r>
              <a:rPr lang="en-US" dirty="0"/>
              <a:t>FAT was the traditional Windows file system before the advent of NTFS </a:t>
            </a:r>
          </a:p>
          <a:p>
            <a:r>
              <a:rPr lang="en-US" b="1" dirty="0"/>
              <a:t>Traditionally FAT filenames were in the 8.3 format - an eight-letter filename, followed by a three-letter extension </a:t>
            </a:r>
            <a:br>
              <a:rPr lang="en-US" dirty="0"/>
            </a:br>
            <a:endParaRPr lang="en-MY" dirty="0"/>
          </a:p>
        </p:txBody>
      </p:sp>
    </p:spTree>
    <p:extLst>
      <p:ext uri="{BB962C8B-B14F-4D97-AF65-F5344CB8AC3E}">
        <p14:creationId xmlns:p14="http://schemas.microsoft.com/office/powerpoint/2010/main" val="741589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9D9B2-1A9C-1D51-92C5-55267F7CA74B}"/>
              </a:ext>
            </a:extLst>
          </p:cNvPr>
          <p:cNvSpPr>
            <a:spLocks noGrp="1"/>
          </p:cNvSpPr>
          <p:nvPr>
            <p:ph type="title"/>
          </p:nvPr>
        </p:nvSpPr>
        <p:spPr/>
        <p:txBody>
          <a:bodyPr/>
          <a:lstStyle/>
          <a:p>
            <a:r>
              <a:rPr lang="en-MY" b="1" dirty="0"/>
              <a:t>On-Disk Structures</a:t>
            </a:r>
            <a:r>
              <a:rPr lang="en-MY" dirty="0"/>
              <a:t> </a:t>
            </a:r>
          </a:p>
        </p:txBody>
      </p:sp>
      <p:sp>
        <p:nvSpPr>
          <p:cNvPr id="3" name="Content Placeholder 2">
            <a:extLst>
              <a:ext uri="{FF2B5EF4-FFF2-40B4-BE49-F238E27FC236}">
                <a16:creationId xmlns:a16="http://schemas.microsoft.com/office/drawing/2014/main" id="{CC6D68C8-0EE4-7ACA-8A9F-7B49DC4B875B}"/>
              </a:ext>
            </a:extLst>
          </p:cNvPr>
          <p:cNvSpPr>
            <a:spLocks noGrp="1"/>
          </p:cNvSpPr>
          <p:nvPr>
            <p:ph idx="1"/>
          </p:nvPr>
        </p:nvSpPr>
        <p:spPr/>
        <p:txBody>
          <a:bodyPr>
            <a:normAutofit fontScale="92500" lnSpcReduction="20000"/>
          </a:bodyPr>
          <a:lstStyle/>
          <a:p>
            <a:r>
              <a:rPr lang="en-US" dirty="0"/>
              <a:t>All data in the FAT file system is stored in little-endian format </a:t>
            </a:r>
          </a:p>
          <a:p>
            <a:endParaRPr lang="en-US" dirty="0"/>
          </a:p>
          <a:p>
            <a:endParaRPr lang="en-US" dirty="0"/>
          </a:p>
          <a:p>
            <a:endParaRPr lang="en-US" dirty="0"/>
          </a:p>
          <a:p>
            <a:endParaRPr lang="en-US" dirty="0"/>
          </a:p>
          <a:p>
            <a:r>
              <a:rPr lang="en-US" dirty="0"/>
              <a:t>The reserved area contains file system information (</a:t>
            </a:r>
            <a:r>
              <a:rPr lang="en-US" b="1" dirty="0"/>
              <a:t>FSINFO</a:t>
            </a:r>
            <a:r>
              <a:rPr lang="en-US" dirty="0"/>
              <a:t>) </a:t>
            </a:r>
          </a:p>
          <a:p>
            <a:r>
              <a:rPr lang="en-US" dirty="0"/>
              <a:t>In FAT12 and FAT16 this area generally occupies only a single sector </a:t>
            </a:r>
          </a:p>
          <a:p>
            <a:r>
              <a:rPr lang="en-US" dirty="0"/>
              <a:t>In FAT32 this area contains more information and consequently is always larger. </a:t>
            </a:r>
            <a:br>
              <a:rPr lang="en-US" dirty="0"/>
            </a:br>
            <a:br>
              <a:rPr lang="en-US" dirty="0"/>
            </a:br>
            <a:br>
              <a:rPr lang="en-US" dirty="0"/>
            </a:br>
            <a:endParaRPr lang="en-MY" dirty="0"/>
          </a:p>
        </p:txBody>
      </p:sp>
      <p:pic>
        <p:nvPicPr>
          <p:cNvPr id="5" name="Picture 4">
            <a:extLst>
              <a:ext uri="{FF2B5EF4-FFF2-40B4-BE49-F238E27FC236}">
                <a16:creationId xmlns:a16="http://schemas.microsoft.com/office/drawing/2014/main" id="{7924B8E2-C24A-E58A-735B-9679C18F1362}"/>
              </a:ext>
            </a:extLst>
          </p:cNvPr>
          <p:cNvPicPr>
            <a:picLocks noChangeAspect="1"/>
          </p:cNvPicPr>
          <p:nvPr/>
        </p:nvPicPr>
        <p:blipFill>
          <a:blip r:embed="rId3"/>
          <a:stretch>
            <a:fillRect/>
          </a:stretch>
        </p:blipFill>
        <p:spPr>
          <a:xfrm>
            <a:off x="2993300" y="2295367"/>
            <a:ext cx="5839640" cy="1133633"/>
          </a:xfrm>
          <a:prstGeom prst="rect">
            <a:avLst/>
          </a:prstGeom>
        </p:spPr>
      </p:pic>
      <p:sp>
        <p:nvSpPr>
          <p:cNvPr id="7" name="TextBox 6">
            <a:extLst>
              <a:ext uri="{FF2B5EF4-FFF2-40B4-BE49-F238E27FC236}">
                <a16:creationId xmlns:a16="http://schemas.microsoft.com/office/drawing/2014/main" id="{DC52C1C4-7EAC-361F-8DA4-A3925153CB23}"/>
              </a:ext>
            </a:extLst>
          </p:cNvPr>
          <p:cNvSpPr txBox="1"/>
          <p:nvPr/>
        </p:nvSpPr>
        <p:spPr>
          <a:xfrm>
            <a:off x="4035171" y="3429000"/>
            <a:ext cx="3755898" cy="646331"/>
          </a:xfrm>
          <a:prstGeom prst="rect">
            <a:avLst/>
          </a:prstGeom>
          <a:noFill/>
        </p:spPr>
        <p:txBody>
          <a:bodyPr wrap="square">
            <a:spAutoFit/>
          </a:bodyPr>
          <a:lstStyle/>
          <a:p>
            <a:pPr>
              <a:buNone/>
            </a:pPr>
            <a:r>
              <a:rPr lang="en-US" sz="1800" b="0" i="0">
                <a:solidFill>
                  <a:srgbClr val="000000"/>
                </a:solidFill>
                <a:effectLst/>
                <a:latin typeface="PTSans-Regular"/>
              </a:rPr>
              <a:t>The layout of the FAT file system.</a:t>
            </a:r>
            <a:r>
              <a:rPr lang="en-US"/>
              <a:t> </a:t>
            </a:r>
            <a:br>
              <a:rPr lang="en-US"/>
            </a:br>
            <a:endParaRPr lang="en-MY" dirty="0"/>
          </a:p>
        </p:txBody>
      </p:sp>
    </p:spTree>
    <p:extLst>
      <p:ext uri="{BB962C8B-B14F-4D97-AF65-F5344CB8AC3E}">
        <p14:creationId xmlns:p14="http://schemas.microsoft.com/office/powerpoint/2010/main" val="128026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32511-0CF1-2AAB-2B49-71ADEA660A93}"/>
              </a:ext>
            </a:extLst>
          </p:cNvPr>
          <p:cNvSpPr>
            <a:spLocks noGrp="1"/>
          </p:cNvSpPr>
          <p:nvPr>
            <p:ph type="title"/>
          </p:nvPr>
        </p:nvSpPr>
        <p:spPr/>
        <p:txBody>
          <a:bodyPr/>
          <a:lstStyle/>
          <a:p>
            <a:r>
              <a:rPr lang="en-US" dirty="0"/>
              <a:t>Layout</a:t>
            </a:r>
            <a:endParaRPr lang="en-MY" dirty="0"/>
          </a:p>
        </p:txBody>
      </p:sp>
      <p:sp>
        <p:nvSpPr>
          <p:cNvPr id="3" name="Content Placeholder 2">
            <a:extLst>
              <a:ext uri="{FF2B5EF4-FFF2-40B4-BE49-F238E27FC236}">
                <a16:creationId xmlns:a16="http://schemas.microsoft.com/office/drawing/2014/main" id="{441E082E-37A8-0F6F-7C3D-EA1443AB1CD6}"/>
              </a:ext>
            </a:extLst>
          </p:cNvPr>
          <p:cNvSpPr>
            <a:spLocks noGrp="1"/>
          </p:cNvSpPr>
          <p:nvPr>
            <p:ph idx="1"/>
          </p:nvPr>
        </p:nvSpPr>
        <p:spPr/>
        <p:txBody>
          <a:bodyPr>
            <a:normAutofit fontScale="92500" lnSpcReduction="10000"/>
          </a:bodyPr>
          <a:lstStyle/>
          <a:p>
            <a:r>
              <a:rPr lang="en-US" dirty="0"/>
              <a:t>The reserved area in all variants of FAT contains a </a:t>
            </a:r>
            <a:r>
              <a:rPr lang="en-US" b="1" dirty="0"/>
              <a:t>volume boot record (VBR)</a:t>
            </a:r>
            <a:r>
              <a:rPr lang="en-US" dirty="0"/>
              <a:t> in sector 0</a:t>
            </a:r>
          </a:p>
          <a:p>
            <a:r>
              <a:rPr lang="en-US" dirty="0"/>
              <a:t>In FAT32 this is generally followed by a FSINFO structure </a:t>
            </a:r>
          </a:p>
          <a:p>
            <a:r>
              <a:rPr lang="en-US" dirty="0"/>
              <a:t>FAT32 also often contains a backup of these structures. This means that the FAT32 reserved area is generally much larger than that of FAT12 and FAT16. </a:t>
            </a:r>
          </a:p>
          <a:p>
            <a:r>
              <a:rPr lang="en-US" dirty="0"/>
              <a:t>The FAT tables allow the file content to be recovered from disk and also allow empty clusters to be identified when allocating space for new files .</a:t>
            </a:r>
          </a:p>
          <a:p>
            <a:r>
              <a:rPr lang="en-US" dirty="0"/>
              <a:t>The final area of the FAT file system is that of the data area. </a:t>
            </a:r>
            <a:br>
              <a:rPr lang="en-US" dirty="0"/>
            </a:br>
            <a:endParaRPr lang="en-MY" dirty="0"/>
          </a:p>
        </p:txBody>
      </p:sp>
    </p:spTree>
    <p:extLst>
      <p:ext uri="{BB962C8B-B14F-4D97-AF65-F5344CB8AC3E}">
        <p14:creationId xmlns:p14="http://schemas.microsoft.com/office/powerpoint/2010/main" val="3595892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962E2-5465-FCEB-817F-C4C711101366}"/>
              </a:ext>
            </a:extLst>
          </p:cNvPr>
          <p:cNvSpPr>
            <a:spLocks noGrp="1"/>
          </p:cNvSpPr>
          <p:nvPr>
            <p:ph type="title"/>
          </p:nvPr>
        </p:nvSpPr>
        <p:spPr/>
        <p:txBody>
          <a:bodyPr/>
          <a:lstStyle/>
          <a:p>
            <a:r>
              <a:rPr lang="en-MY" b="1" dirty="0"/>
              <a:t>Volume Boot Record</a:t>
            </a:r>
            <a:r>
              <a:rPr lang="en-MY" dirty="0"/>
              <a:t> (reserved area)</a:t>
            </a:r>
          </a:p>
        </p:txBody>
      </p:sp>
      <p:sp>
        <p:nvSpPr>
          <p:cNvPr id="3" name="Content Placeholder 2">
            <a:extLst>
              <a:ext uri="{FF2B5EF4-FFF2-40B4-BE49-F238E27FC236}">
                <a16:creationId xmlns:a16="http://schemas.microsoft.com/office/drawing/2014/main" id="{79D4D5FC-9CA1-5562-518C-266CF56694C2}"/>
              </a:ext>
            </a:extLst>
          </p:cNvPr>
          <p:cNvSpPr>
            <a:spLocks noGrp="1"/>
          </p:cNvSpPr>
          <p:nvPr>
            <p:ph idx="1"/>
          </p:nvPr>
        </p:nvSpPr>
        <p:spPr/>
        <p:txBody>
          <a:bodyPr/>
          <a:lstStyle/>
          <a:p>
            <a:r>
              <a:rPr lang="en-US" dirty="0"/>
              <a:t>This structure contains information about the file system as a whole. </a:t>
            </a:r>
          </a:p>
          <a:p>
            <a:r>
              <a:rPr lang="en-US" dirty="0"/>
              <a:t>The Sleuth Kit tool, </a:t>
            </a:r>
            <a:r>
              <a:rPr lang="en-US" b="1" dirty="0" err="1"/>
              <a:t>fsstat</a:t>
            </a:r>
            <a:r>
              <a:rPr lang="en-US" dirty="0"/>
              <a:t>, extensively consults this structure in order to gather information about the file system. </a:t>
            </a:r>
          </a:p>
          <a:p>
            <a:r>
              <a:rPr lang="en-US" dirty="0"/>
              <a:t>Processing the VBR allows all other structures to be located. For instance the </a:t>
            </a:r>
            <a:r>
              <a:rPr lang="en-US" b="1" dirty="0"/>
              <a:t>FSINFO</a:t>
            </a:r>
            <a:r>
              <a:rPr lang="en-US" dirty="0"/>
              <a:t> structure and the VBR backup are located directly from the primary VBR. </a:t>
            </a:r>
            <a:br>
              <a:rPr lang="en-US" dirty="0"/>
            </a:br>
            <a:endParaRPr lang="en-MY" dirty="0"/>
          </a:p>
        </p:txBody>
      </p:sp>
    </p:spTree>
    <p:extLst>
      <p:ext uri="{BB962C8B-B14F-4D97-AF65-F5344CB8AC3E}">
        <p14:creationId xmlns:p14="http://schemas.microsoft.com/office/powerpoint/2010/main" val="4065947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document&#10;&#10;AI-generated content may be incorrect.">
            <a:extLst>
              <a:ext uri="{FF2B5EF4-FFF2-40B4-BE49-F238E27FC236}">
                <a16:creationId xmlns:a16="http://schemas.microsoft.com/office/drawing/2014/main" id="{2DB48B88-D1A9-FB52-FE11-E942991D0294}"/>
              </a:ext>
            </a:extLst>
          </p:cNvPr>
          <p:cNvPicPr>
            <a:picLocks noGrp="1" noChangeAspect="1"/>
          </p:cNvPicPr>
          <p:nvPr>
            <p:ph idx="1"/>
          </p:nvPr>
        </p:nvPicPr>
        <p:blipFill>
          <a:blip r:embed="rId3"/>
          <a:stretch>
            <a:fillRect/>
          </a:stretch>
        </p:blipFill>
        <p:spPr>
          <a:xfrm>
            <a:off x="2466640" y="643466"/>
            <a:ext cx="7258719" cy="5571067"/>
          </a:xfrm>
          <a:prstGeom prst="rect">
            <a:avLst/>
          </a:prstGeom>
        </p:spPr>
      </p:pic>
    </p:spTree>
    <p:extLst>
      <p:ext uri="{BB962C8B-B14F-4D97-AF65-F5344CB8AC3E}">
        <p14:creationId xmlns:p14="http://schemas.microsoft.com/office/powerpoint/2010/main" val="2577795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09FF9FD9-B18F-2AD6-53D0-FFF2ABA91AE0}"/>
              </a:ext>
            </a:extLst>
          </p:cNvPr>
          <p:cNvPicPr>
            <a:picLocks noGrp="1" noChangeAspect="1"/>
          </p:cNvPicPr>
          <p:nvPr>
            <p:ph idx="1"/>
          </p:nvPr>
        </p:nvPicPr>
        <p:blipFill>
          <a:blip r:embed="rId3"/>
          <a:stretch>
            <a:fillRect/>
          </a:stretch>
        </p:blipFill>
        <p:spPr>
          <a:xfrm>
            <a:off x="1953943" y="643466"/>
            <a:ext cx="8284113" cy="5571067"/>
          </a:xfrm>
          <a:prstGeom prst="rect">
            <a:avLst/>
          </a:prstGeom>
        </p:spPr>
      </p:pic>
    </p:spTree>
    <p:extLst>
      <p:ext uri="{BB962C8B-B14F-4D97-AF65-F5344CB8AC3E}">
        <p14:creationId xmlns:p14="http://schemas.microsoft.com/office/powerpoint/2010/main" val="838921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A19774-6AB8-CE49-32D3-016E47783518}"/>
              </a:ext>
            </a:extLst>
          </p:cNvPr>
          <p:cNvSpPr>
            <a:spLocks noGrp="1"/>
          </p:cNvSpPr>
          <p:nvPr>
            <p:ph type="title"/>
          </p:nvPr>
        </p:nvSpPr>
        <p:spPr>
          <a:xfrm>
            <a:off x="793662" y="386930"/>
            <a:ext cx="10066122" cy="1298448"/>
          </a:xfrm>
        </p:spPr>
        <p:txBody>
          <a:bodyPr anchor="b">
            <a:normAutofit/>
          </a:bodyPr>
          <a:lstStyle/>
          <a:p>
            <a:r>
              <a:rPr lang="en-MY" sz="4800" b="1"/>
              <a:t>File System Information (FSINFO)</a:t>
            </a:r>
            <a:r>
              <a:rPr lang="en-MY" sz="4800"/>
              <a:t> </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CE652E1-65E3-196F-1AFA-50B2F269BC3F}"/>
              </a:ext>
            </a:extLst>
          </p:cNvPr>
          <p:cNvSpPr>
            <a:spLocks noGrp="1"/>
          </p:cNvSpPr>
          <p:nvPr>
            <p:ph idx="1"/>
          </p:nvPr>
        </p:nvSpPr>
        <p:spPr>
          <a:xfrm>
            <a:off x="793661" y="2599509"/>
            <a:ext cx="4530898" cy="3639450"/>
          </a:xfrm>
        </p:spPr>
        <p:txBody>
          <a:bodyPr anchor="ctr">
            <a:normAutofit/>
          </a:bodyPr>
          <a:lstStyle/>
          <a:p>
            <a:r>
              <a:rPr lang="en-US" sz="1700"/>
              <a:t>The FSINFO structure is an optional structure in FAT32, the location of which is found in the VBR itself. </a:t>
            </a:r>
          </a:p>
          <a:p>
            <a:r>
              <a:rPr lang="en-US" sz="1700"/>
              <a:t>This structure is used to optimise space allocation for new files.</a:t>
            </a:r>
          </a:p>
          <a:p>
            <a:r>
              <a:rPr lang="en-US" sz="1700"/>
              <a:t>As its purpose is space allocation the information contained in this structure is mainly related to free clusters on the device. </a:t>
            </a:r>
          </a:p>
          <a:p>
            <a:r>
              <a:rPr lang="en-US" sz="1700"/>
              <a:t>From a file system forensics perspective the FSINFO structure is not of vital importance. </a:t>
            </a:r>
            <a:br>
              <a:rPr lang="en-US" sz="1700"/>
            </a:br>
            <a:r>
              <a:rPr lang="en-US" sz="1700"/>
              <a:t> </a:t>
            </a:r>
            <a:br>
              <a:rPr lang="en-US" sz="1700"/>
            </a:br>
            <a:br>
              <a:rPr lang="en-US" sz="1700"/>
            </a:br>
            <a:endParaRPr lang="en-MY" sz="1700"/>
          </a:p>
        </p:txBody>
      </p:sp>
      <p:pic>
        <p:nvPicPr>
          <p:cNvPr id="5" name="Picture 4" descr="A close-up of a document&#10;&#10;AI-generated content may be incorrect.">
            <a:extLst>
              <a:ext uri="{FF2B5EF4-FFF2-40B4-BE49-F238E27FC236}">
                <a16:creationId xmlns:a16="http://schemas.microsoft.com/office/drawing/2014/main" id="{2FFDB206-B47E-550D-85EB-80705BCEB531}"/>
              </a:ext>
            </a:extLst>
          </p:cNvPr>
          <p:cNvPicPr>
            <a:picLocks noChangeAspect="1"/>
          </p:cNvPicPr>
          <p:nvPr/>
        </p:nvPicPr>
        <p:blipFill>
          <a:blip r:embed="rId2"/>
          <a:stretch>
            <a:fillRect/>
          </a:stretch>
        </p:blipFill>
        <p:spPr>
          <a:xfrm>
            <a:off x="5911532" y="3324197"/>
            <a:ext cx="5150277" cy="2034359"/>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4026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F1AB2-1A01-10D4-A8DF-D1921B0A9067}"/>
              </a:ext>
            </a:extLst>
          </p:cNvPr>
          <p:cNvSpPr>
            <a:spLocks noGrp="1"/>
          </p:cNvSpPr>
          <p:nvPr>
            <p:ph type="title"/>
          </p:nvPr>
        </p:nvSpPr>
        <p:spPr/>
        <p:txBody>
          <a:bodyPr/>
          <a:lstStyle/>
          <a:p>
            <a:r>
              <a:rPr lang="en-MY" b="1" dirty="0"/>
              <a:t>File Allocation Table</a:t>
            </a:r>
            <a:r>
              <a:rPr lang="en-MY" dirty="0"/>
              <a:t> </a:t>
            </a:r>
          </a:p>
        </p:txBody>
      </p:sp>
      <p:sp>
        <p:nvSpPr>
          <p:cNvPr id="3" name="Content Placeholder 2">
            <a:extLst>
              <a:ext uri="{FF2B5EF4-FFF2-40B4-BE49-F238E27FC236}">
                <a16:creationId xmlns:a16="http://schemas.microsoft.com/office/drawing/2014/main" id="{05947629-B316-4973-2688-BA66D334A5B1}"/>
              </a:ext>
            </a:extLst>
          </p:cNvPr>
          <p:cNvSpPr>
            <a:spLocks noGrp="1"/>
          </p:cNvSpPr>
          <p:nvPr>
            <p:ph idx="1"/>
          </p:nvPr>
        </p:nvSpPr>
        <p:spPr>
          <a:xfrm>
            <a:off x="838200" y="1828799"/>
            <a:ext cx="10515600" cy="4348163"/>
          </a:xfrm>
        </p:spPr>
        <p:txBody>
          <a:bodyPr>
            <a:normAutofit fontScale="40000" lnSpcReduction="20000"/>
          </a:bodyPr>
          <a:lstStyle/>
          <a:p>
            <a:pPr>
              <a:lnSpc>
                <a:spcPct val="120000"/>
              </a:lnSpc>
            </a:pPr>
            <a:r>
              <a:rPr lang="en-MY" sz="4500" dirty="0"/>
              <a:t>serves two purposes </a:t>
            </a:r>
          </a:p>
          <a:p>
            <a:pPr lvl="1">
              <a:lnSpc>
                <a:spcPct val="120000"/>
              </a:lnSpc>
            </a:pPr>
            <a:r>
              <a:rPr lang="en-US" sz="4500" dirty="0"/>
              <a:t>acts as an allocation bitmap (although it uses more than a single bit per cluster) to allow efficient discovery of a cluster’s allocation status. </a:t>
            </a:r>
          </a:p>
          <a:p>
            <a:pPr lvl="1">
              <a:lnSpc>
                <a:spcPct val="120000"/>
              </a:lnSpc>
            </a:pPr>
            <a:r>
              <a:rPr lang="en-US" sz="4500" dirty="0"/>
              <a:t>allows the next allocated cluster in a file/directory to be located. </a:t>
            </a:r>
          </a:p>
          <a:p>
            <a:pPr>
              <a:lnSpc>
                <a:spcPct val="120000"/>
              </a:lnSpc>
            </a:pPr>
            <a:r>
              <a:rPr lang="en-US" sz="4500" dirty="0"/>
              <a:t>The starting cluster of a file/directory is located in the directory entry (next section) while subsequent clusters are found in the FAT structures. </a:t>
            </a:r>
          </a:p>
          <a:p>
            <a:pPr>
              <a:lnSpc>
                <a:spcPct val="120000"/>
              </a:lnSpc>
            </a:pPr>
            <a:r>
              <a:rPr lang="en-US" sz="4500" dirty="0"/>
              <a:t>Due to its importance there are typically two FAT structures present in most FAT file systems (although this should always be confirmed in the VBR). </a:t>
            </a:r>
          </a:p>
          <a:p>
            <a:pPr>
              <a:lnSpc>
                <a:spcPct val="120000"/>
              </a:lnSpc>
            </a:pPr>
            <a:r>
              <a:rPr lang="en-US" sz="4500" dirty="0"/>
              <a:t>Each cluster is represented by one entry in the FAT table. </a:t>
            </a:r>
          </a:p>
          <a:p>
            <a:pPr>
              <a:lnSpc>
                <a:spcPct val="120000"/>
              </a:lnSpc>
            </a:pPr>
            <a:r>
              <a:rPr lang="en-US" sz="4500" dirty="0"/>
              <a:t>The size of each entry is dependent on the version of FAT being used. In the FAT12 file system, 12 bits are used for each entry; in FAT16, 16 bits are used; and in FAT32, 32 bits are being used. </a:t>
            </a:r>
            <a:br>
              <a:rPr lang="en-US" dirty="0"/>
            </a:br>
            <a:br>
              <a:rPr lang="en-US" dirty="0"/>
            </a:br>
            <a:br>
              <a:rPr lang="en-US" dirty="0"/>
            </a:br>
            <a:endParaRPr lang="en-MY" dirty="0"/>
          </a:p>
        </p:txBody>
      </p:sp>
    </p:spTree>
    <p:extLst>
      <p:ext uri="{BB962C8B-B14F-4D97-AF65-F5344CB8AC3E}">
        <p14:creationId xmlns:p14="http://schemas.microsoft.com/office/powerpoint/2010/main" val="3755904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06FD31-102C-A91B-718E-6045C479C551}"/>
                  </a:ext>
                </a:extLst>
              </p:cNvPr>
              <p:cNvSpPr>
                <a:spLocks noGrp="1"/>
              </p:cNvSpPr>
              <p:nvPr>
                <p:ph idx="1"/>
              </p:nvPr>
            </p:nvSpPr>
            <p:spPr>
              <a:xfrm>
                <a:off x="838200" y="706830"/>
                <a:ext cx="10515600" cy="4351338"/>
              </a:xfrm>
            </p:spPr>
            <p:txBody>
              <a:bodyPr/>
              <a:lstStyle/>
              <a:p>
                <a:r>
                  <a:rPr lang="en-US" dirty="0"/>
                  <a:t>Each cluster in the file system is given a value in the FAT table </a:t>
                </a:r>
              </a:p>
              <a:p>
                <a:r>
                  <a:rPr lang="en-US" dirty="0"/>
                  <a:t>A value of 0x00000000 (in FAT32) means that the cluster is unallocated. </a:t>
                </a:r>
              </a:p>
              <a:p>
                <a:r>
                  <a:rPr lang="en-US" dirty="0"/>
                  <a:t>Any value greater than 0xOFFFFFF8 generally signifies an end of file marker, while a value of 0xOFFFFFF7 signifies a cluster which contains one or more damaged sectors. </a:t>
                </a:r>
              </a:p>
              <a:p>
                <a:r>
                  <a:rPr lang="en-US" dirty="0"/>
                  <a:t>The first cluster number in a FAT file system is </a:t>
                </a:r>
                <a14:m>
                  <m:oMath xmlns:m="http://schemas.openxmlformats.org/officeDocument/2006/math">
                    <m:sSub>
                      <m:sSubPr>
                        <m:ctrlPr>
                          <a:rPr lang="en-US" i="1" smtClean="0">
                            <a:latin typeface="Cambria Math" panose="02040503050406030204" pitchFamily="18" charset="0"/>
                          </a:rPr>
                        </m:ctrlPr>
                      </m:sSubPr>
                      <m:e>
                        <m:r>
                          <a:rPr lang="en-MY" b="0" i="1" smtClean="0">
                            <a:latin typeface="Cambria Math" panose="02040503050406030204" pitchFamily="18" charset="0"/>
                          </a:rPr>
                          <m:t>2</m:t>
                        </m:r>
                      </m:e>
                      <m:sub>
                        <m:r>
                          <a:rPr lang="en-MY" b="0" i="1" smtClean="0">
                            <a:latin typeface="Cambria Math" panose="02040503050406030204" pitchFamily="18" charset="0"/>
                          </a:rPr>
                          <m:t>𝑑</m:t>
                        </m:r>
                      </m:sub>
                    </m:sSub>
                  </m:oMath>
                </a14:m>
                <a:br>
                  <a:rPr lang="en-US" dirty="0"/>
                </a:br>
                <a:br>
                  <a:rPr lang="en-US" dirty="0"/>
                </a:br>
                <a:endParaRPr lang="en-MY" dirty="0"/>
              </a:p>
            </p:txBody>
          </p:sp>
        </mc:Choice>
        <mc:Fallback xmlns="">
          <p:sp>
            <p:nvSpPr>
              <p:cNvPr id="3" name="Content Placeholder 2">
                <a:extLst>
                  <a:ext uri="{FF2B5EF4-FFF2-40B4-BE49-F238E27FC236}">
                    <a16:creationId xmlns:a16="http://schemas.microsoft.com/office/drawing/2014/main" id="{CC06FD31-102C-A91B-718E-6045C479C551}"/>
                  </a:ext>
                </a:extLst>
              </p:cNvPr>
              <p:cNvSpPr>
                <a:spLocks noGrp="1" noRot="1" noChangeAspect="1" noMove="1" noResize="1" noEditPoints="1" noAdjustHandles="1" noChangeArrowheads="1" noChangeShapeType="1" noTextEdit="1"/>
              </p:cNvSpPr>
              <p:nvPr>
                <p:ph idx="1"/>
              </p:nvPr>
            </p:nvSpPr>
            <p:spPr>
              <a:xfrm>
                <a:off x="838200" y="706830"/>
                <a:ext cx="10515600" cy="4351338"/>
              </a:xfrm>
              <a:blipFill>
                <a:blip r:embed="rId3"/>
                <a:stretch>
                  <a:fillRect l="-1043" t="-2521"/>
                </a:stretch>
              </a:blipFill>
            </p:spPr>
            <p:txBody>
              <a:bodyPr/>
              <a:lstStyle/>
              <a:p>
                <a:r>
                  <a:rPr lang="en-MY">
                    <a:noFill/>
                  </a:rPr>
                  <a:t> </a:t>
                </a:r>
              </a:p>
            </p:txBody>
          </p:sp>
        </mc:Fallback>
      </mc:AlternateContent>
    </p:spTree>
    <p:extLst>
      <p:ext uri="{BB962C8B-B14F-4D97-AF65-F5344CB8AC3E}">
        <p14:creationId xmlns:p14="http://schemas.microsoft.com/office/powerpoint/2010/main" val="196563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8C262BE1-6AFF-9851-EBB0-323C5CDF3D91}"/>
              </a:ext>
            </a:extLst>
          </p:cNvPr>
          <p:cNvGraphicFramePr>
            <a:graphicFrameLocks noGrp="1"/>
          </p:cNvGraphicFramePr>
          <p:nvPr>
            <p:ph idx="1"/>
            <p:extLst>
              <p:ext uri="{D42A27DB-BD31-4B8C-83A1-F6EECF244321}">
                <p14:modId xmlns:p14="http://schemas.microsoft.com/office/powerpoint/2010/main" val="1416093420"/>
              </p:ext>
            </p:extLst>
          </p:nvPr>
        </p:nvGraphicFramePr>
        <p:xfrm>
          <a:off x="838200" y="830478"/>
          <a:ext cx="10515600" cy="3200400"/>
        </p:xfrm>
        <a:graphic>
          <a:graphicData uri="http://schemas.openxmlformats.org/drawingml/2006/table">
            <a:tbl>
              <a:tblPr/>
              <a:tblGrid>
                <a:gridCol w="3505200">
                  <a:extLst>
                    <a:ext uri="{9D8B030D-6E8A-4147-A177-3AD203B41FA5}">
                      <a16:colId xmlns:a16="http://schemas.microsoft.com/office/drawing/2014/main" val="1661639484"/>
                    </a:ext>
                  </a:extLst>
                </a:gridCol>
                <a:gridCol w="3505200">
                  <a:extLst>
                    <a:ext uri="{9D8B030D-6E8A-4147-A177-3AD203B41FA5}">
                      <a16:colId xmlns:a16="http://schemas.microsoft.com/office/drawing/2014/main" val="3053001915"/>
                    </a:ext>
                  </a:extLst>
                </a:gridCol>
                <a:gridCol w="3505200">
                  <a:extLst>
                    <a:ext uri="{9D8B030D-6E8A-4147-A177-3AD203B41FA5}">
                      <a16:colId xmlns:a16="http://schemas.microsoft.com/office/drawing/2014/main" val="170817628"/>
                    </a:ext>
                  </a:extLst>
                </a:gridCol>
              </a:tblGrid>
              <a:tr h="0">
                <a:tc>
                  <a:txBody>
                    <a:bodyPr/>
                    <a:lstStyle/>
                    <a:p>
                      <a:pPr>
                        <a:buNone/>
                      </a:pPr>
                      <a:r>
                        <a:rPr lang="en-MY" b="1"/>
                        <a:t>FAT Entry Value (Hex)</a:t>
                      </a:r>
                      <a:endParaRPr lang="en-MY"/>
                    </a:p>
                  </a:txBody>
                  <a:tcPr anchor="ctr">
                    <a:lnL>
                      <a:noFill/>
                    </a:lnL>
                    <a:lnR>
                      <a:noFill/>
                    </a:lnR>
                    <a:lnT>
                      <a:noFill/>
                    </a:lnT>
                    <a:lnB>
                      <a:noFill/>
                    </a:lnB>
                    <a:noFill/>
                  </a:tcPr>
                </a:tc>
                <a:tc>
                  <a:txBody>
                    <a:bodyPr/>
                    <a:lstStyle/>
                    <a:p>
                      <a:pPr>
                        <a:buNone/>
                      </a:pPr>
                      <a:r>
                        <a:rPr lang="en-MY" b="1"/>
                        <a:t>What It Means</a:t>
                      </a:r>
                      <a:endParaRPr lang="en-MY"/>
                    </a:p>
                  </a:txBody>
                  <a:tcPr anchor="ctr">
                    <a:lnL>
                      <a:noFill/>
                    </a:lnL>
                    <a:lnR>
                      <a:noFill/>
                    </a:lnR>
                    <a:lnT>
                      <a:noFill/>
                    </a:lnT>
                    <a:lnB>
                      <a:noFill/>
                    </a:lnB>
                    <a:noFill/>
                  </a:tcPr>
                </a:tc>
                <a:tc>
                  <a:txBody>
                    <a:bodyPr/>
                    <a:lstStyle/>
                    <a:p>
                      <a:pPr>
                        <a:buNone/>
                      </a:pPr>
                      <a:r>
                        <a:rPr lang="en-MY" b="1"/>
                        <a:t>Easy Explanation</a:t>
                      </a:r>
                      <a:endParaRPr lang="en-MY"/>
                    </a:p>
                  </a:txBody>
                  <a:tcPr anchor="ctr">
                    <a:lnL>
                      <a:noFill/>
                    </a:lnL>
                    <a:lnR>
                      <a:noFill/>
                    </a:lnR>
                    <a:lnT>
                      <a:noFill/>
                    </a:lnT>
                    <a:lnB>
                      <a:noFill/>
                    </a:lnB>
                    <a:noFill/>
                  </a:tcPr>
                </a:tc>
                <a:extLst>
                  <a:ext uri="{0D108BD9-81ED-4DB2-BD59-A6C34878D82A}">
                    <a16:rowId xmlns:a16="http://schemas.microsoft.com/office/drawing/2014/main" val="2727526428"/>
                  </a:ext>
                </a:extLst>
              </a:tr>
              <a:tr h="0">
                <a:tc>
                  <a:txBody>
                    <a:bodyPr/>
                    <a:lstStyle/>
                    <a:p>
                      <a:pPr>
                        <a:buNone/>
                      </a:pPr>
                      <a:r>
                        <a:rPr lang="en-MY">
                          <a:latin typeface="Courier New" panose="02070309020205020404" pitchFamily="49" charset="0"/>
                        </a:rPr>
                        <a:t>0x00000000</a:t>
                      </a:r>
                      <a:endParaRPr lang="en-MY"/>
                    </a:p>
                  </a:txBody>
                  <a:tcPr anchor="ctr">
                    <a:lnL>
                      <a:noFill/>
                    </a:lnL>
                    <a:lnR>
                      <a:noFill/>
                    </a:lnR>
                    <a:lnT>
                      <a:noFill/>
                    </a:lnT>
                    <a:lnB>
                      <a:noFill/>
                    </a:lnB>
                    <a:noFill/>
                  </a:tcPr>
                </a:tc>
                <a:tc>
                  <a:txBody>
                    <a:bodyPr/>
                    <a:lstStyle/>
                    <a:p>
                      <a:pPr>
                        <a:buNone/>
                      </a:pPr>
                      <a:r>
                        <a:rPr lang="en-MY"/>
                        <a:t>Unallocated cluster</a:t>
                      </a:r>
                    </a:p>
                  </a:txBody>
                  <a:tcPr anchor="ctr">
                    <a:lnL>
                      <a:noFill/>
                    </a:lnL>
                    <a:lnR>
                      <a:noFill/>
                    </a:lnR>
                    <a:lnT>
                      <a:noFill/>
                    </a:lnT>
                    <a:lnB>
                      <a:noFill/>
                    </a:lnB>
                    <a:noFill/>
                  </a:tcPr>
                </a:tc>
                <a:tc>
                  <a:txBody>
                    <a:bodyPr/>
                    <a:lstStyle/>
                    <a:p>
                      <a:pPr>
                        <a:buNone/>
                      </a:pPr>
                      <a:r>
                        <a:rPr lang="en-US"/>
                        <a:t>The box is </a:t>
                      </a:r>
                      <a:r>
                        <a:rPr lang="en-US" b="1"/>
                        <a:t>empty</a:t>
                      </a:r>
                      <a:r>
                        <a:rPr lang="en-US"/>
                        <a:t> — no data stored yet.</a:t>
                      </a:r>
                    </a:p>
                  </a:txBody>
                  <a:tcPr anchor="ctr">
                    <a:lnL>
                      <a:noFill/>
                    </a:lnL>
                    <a:lnR>
                      <a:noFill/>
                    </a:lnR>
                    <a:lnT>
                      <a:noFill/>
                    </a:lnT>
                    <a:lnB>
                      <a:noFill/>
                    </a:lnB>
                    <a:noFill/>
                  </a:tcPr>
                </a:tc>
                <a:extLst>
                  <a:ext uri="{0D108BD9-81ED-4DB2-BD59-A6C34878D82A}">
                    <a16:rowId xmlns:a16="http://schemas.microsoft.com/office/drawing/2014/main" val="4058915833"/>
                  </a:ext>
                </a:extLst>
              </a:tr>
              <a:tr h="0">
                <a:tc>
                  <a:txBody>
                    <a:bodyPr/>
                    <a:lstStyle/>
                    <a:p>
                      <a:pPr>
                        <a:buNone/>
                      </a:pPr>
                      <a:r>
                        <a:rPr lang="en-MY">
                          <a:latin typeface="Courier New" panose="02070309020205020404" pitchFamily="49" charset="0"/>
                        </a:rPr>
                        <a:t>0x0FFFFFF7</a:t>
                      </a:r>
                      <a:endParaRPr lang="en-MY"/>
                    </a:p>
                  </a:txBody>
                  <a:tcPr anchor="ctr">
                    <a:lnL>
                      <a:noFill/>
                    </a:lnL>
                    <a:lnR>
                      <a:noFill/>
                    </a:lnR>
                    <a:lnT>
                      <a:noFill/>
                    </a:lnT>
                    <a:lnB>
                      <a:noFill/>
                    </a:lnB>
                    <a:noFill/>
                  </a:tcPr>
                </a:tc>
                <a:tc>
                  <a:txBody>
                    <a:bodyPr/>
                    <a:lstStyle/>
                    <a:p>
                      <a:pPr>
                        <a:buNone/>
                      </a:pPr>
                      <a:r>
                        <a:rPr lang="en-MY"/>
                        <a:t>Bad cluster</a:t>
                      </a:r>
                    </a:p>
                  </a:txBody>
                  <a:tcPr anchor="ctr">
                    <a:lnL>
                      <a:noFill/>
                    </a:lnL>
                    <a:lnR>
                      <a:noFill/>
                    </a:lnR>
                    <a:lnT>
                      <a:noFill/>
                    </a:lnT>
                    <a:lnB>
                      <a:noFill/>
                    </a:lnB>
                    <a:noFill/>
                  </a:tcPr>
                </a:tc>
                <a:tc>
                  <a:txBody>
                    <a:bodyPr/>
                    <a:lstStyle/>
                    <a:p>
                      <a:pPr>
                        <a:buNone/>
                      </a:pPr>
                      <a:r>
                        <a:rPr lang="en-US"/>
                        <a:t>The box is </a:t>
                      </a:r>
                      <a:r>
                        <a:rPr lang="en-US" b="1"/>
                        <a:t>damaged</a:t>
                      </a:r>
                      <a:r>
                        <a:rPr lang="en-US"/>
                        <a:t> — can’t be used.</a:t>
                      </a:r>
                    </a:p>
                  </a:txBody>
                  <a:tcPr anchor="ctr">
                    <a:lnL>
                      <a:noFill/>
                    </a:lnL>
                    <a:lnR>
                      <a:noFill/>
                    </a:lnR>
                    <a:lnT>
                      <a:noFill/>
                    </a:lnT>
                    <a:lnB>
                      <a:noFill/>
                    </a:lnB>
                    <a:noFill/>
                  </a:tcPr>
                </a:tc>
                <a:extLst>
                  <a:ext uri="{0D108BD9-81ED-4DB2-BD59-A6C34878D82A}">
                    <a16:rowId xmlns:a16="http://schemas.microsoft.com/office/drawing/2014/main" val="147157026"/>
                  </a:ext>
                </a:extLst>
              </a:tr>
              <a:tr h="0">
                <a:tc>
                  <a:txBody>
                    <a:bodyPr/>
                    <a:lstStyle/>
                    <a:p>
                      <a:pPr>
                        <a:buNone/>
                      </a:pPr>
                      <a:r>
                        <a:rPr lang="en-MY">
                          <a:latin typeface="Courier New" panose="02070309020205020404" pitchFamily="49" charset="0"/>
                        </a:rPr>
                        <a:t>0x0FFFFFF8</a:t>
                      </a:r>
                      <a:r>
                        <a:rPr lang="en-MY"/>
                        <a:t> to </a:t>
                      </a:r>
                      <a:r>
                        <a:rPr lang="en-MY">
                          <a:latin typeface="Courier New" panose="02070309020205020404" pitchFamily="49" charset="0"/>
                        </a:rPr>
                        <a:t>0x0FFFFFFF</a:t>
                      </a:r>
                      <a:endParaRPr lang="en-MY"/>
                    </a:p>
                  </a:txBody>
                  <a:tcPr anchor="ctr">
                    <a:lnL>
                      <a:noFill/>
                    </a:lnL>
                    <a:lnR>
                      <a:noFill/>
                    </a:lnR>
                    <a:lnT>
                      <a:noFill/>
                    </a:lnT>
                    <a:lnB>
                      <a:noFill/>
                    </a:lnB>
                    <a:noFill/>
                  </a:tcPr>
                </a:tc>
                <a:tc>
                  <a:txBody>
                    <a:bodyPr/>
                    <a:lstStyle/>
                    <a:p>
                      <a:pPr>
                        <a:buNone/>
                      </a:pPr>
                      <a:r>
                        <a:rPr lang="en-MY"/>
                        <a:t>End of file (EOF)</a:t>
                      </a:r>
                    </a:p>
                  </a:txBody>
                  <a:tcPr anchor="ctr">
                    <a:lnL>
                      <a:noFill/>
                    </a:lnL>
                    <a:lnR>
                      <a:noFill/>
                    </a:lnR>
                    <a:lnT>
                      <a:noFill/>
                    </a:lnT>
                    <a:lnB>
                      <a:noFill/>
                    </a:lnB>
                    <a:noFill/>
                  </a:tcPr>
                </a:tc>
                <a:tc>
                  <a:txBody>
                    <a:bodyPr/>
                    <a:lstStyle/>
                    <a:p>
                      <a:pPr>
                        <a:buNone/>
                      </a:pPr>
                      <a:r>
                        <a:rPr lang="en-US"/>
                        <a:t>The box is the </a:t>
                      </a:r>
                      <a:r>
                        <a:rPr lang="en-US" b="1"/>
                        <a:t>last piece</a:t>
                      </a:r>
                      <a:r>
                        <a:rPr lang="en-US"/>
                        <a:t> of a file — there’s no next part.</a:t>
                      </a:r>
                    </a:p>
                  </a:txBody>
                  <a:tcPr anchor="ctr">
                    <a:lnL>
                      <a:noFill/>
                    </a:lnL>
                    <a:lnR>
                      <a:noFill/>
                    </a:lnR>
                    <a:lnT>
                      <a:noFill/>
                    </a:lnT>
                    <a:lnB>
                      <a:noFill/>
                    </a:lnB>
                    <a:noFill/>
                  </a:tcPr>
                </a:tc>
                <a:extLst>
                  <a:ext uri="{0D108BD9-81ED-4DB2-BD59-A6C34878D82A}">
                    <a16:rowId xmlns:a16="http://schemas.microsoft.com/office/drawing/2014/main" val="50615578"/>
                  </a:ext>
                </a:extLst>
              </a:tr>
              <a:tr h="0">
                <a:tc>
                  <a:txBody>
                    <a:bodyPr/>
                    <a:lstStyle/>
                    <a:p>
                      <a:pPr>
                        <a:buNone/>
                      </a:pPr>
                      <a:r>
                        <a:rPr lang="en-MY">
                          <a:latin typeface="Courier New" panose="02070309020205020404" pitchFamily="49" charset="0"/>
                        </a:rPr>
                        <a:t>2 and onward</a:t>
                      </a:r>
                      <a:endParaRPr lang="en-MY"/>
                    </a:p>
                  </a:txBody>
                  <a:tcPr anchor="ctr">
                    <a:lnL>
                      <a:noFill/>
                    </a:lnL>
                    <a:lnR>
                      <a:noFill/>
                    </a:lnR>
                    <a:lnT>
                      <a:noFill/>
                    </a:lnT>
                    <a:lnB>
                      <a:noFill/>
                    </a:lnB>
                    <a:noFill/>
                  </a:tcPr>
                </a:tc>
                <a:tc>
                  <a:txBody>
                    <a:bodyPr/>
                    <a:lstStyle/>
                    <a:p>
                      <a:pPr>
                        <a:buNone/>
                      </a:pPr>
                      <a:r>
                        <a:rPr lang="en-MY"/>
                        <a:t>Valid data clusters</a:t>
                      </a:r>
                    </a:p>
                  </a:txBody>
                  <a:tcPr anchor="ctr">
                    <a:lnL>
                      <a:noFill/>
                    </a:lnL>
                    <a:lnR>
                      <a:noFill/>
                    </a:lnR>
                    <a:lnT>
                      <a:noFill/>
                    </a:lnT>
                    <a:lnB>
                      <a:noFill/>
                    </a:lnB>
                    <a:noFill/>
                  </a:tcPr>
                </a:tc>
                <a:tc>
                  <a:txBody>
                    <a:bodyPr/>
                    <a:lstStyle/>
                    <a:p>
                      <a:pPr>
                        <a:buNone/>
                      </a:pPr>
                      <a:r>
                        <a:rPr lang="en-US" dirty="0"/>
                        <a:t>These boxes hold </a:t>
                      </a:r>
                      <a:r>
                        <a:rPr lang="en-US" b="1" dirty="0"/>
                        <a:t>real file data</a:t>
                      </a:r>
                      <a:r>
                        <a:rPr lang="en-US" dirty="0"/>
                        <a:t> and point to the </a:t>
                      </a:r>
                      <a:r>
                        <a:rPr lang="en-US" b="1" dirty="0"/>
                        <a:t>next cluster</a:t>
                      </a:r>
                      <a:r>
                        <a:rPr lang="en-US" dirty="0"/>
                        <a:t> in the chain.</a:t>
                      </a:r>
                    </a:p>
                  </a:txBody>
                  <a:tcPr anchor="ctr">
                    <a:lnL>
                      <a:noFill/>
                    </a:lnL>
                    <a:lnR>
                      <a:noFill/>
                    </a:lnR>
                    <a:lnT>
                      <a:noFill/>
                    </a:lnT>
                    <a:lnB>
                      <a:noFill/>
                    </a:lnB>
                    <a:noFill/>
                  </a:tcPr>
                </a:tc>
                <a:extLst>
                  <a:ext uri="{0D108BD9-81ED-4DB2-BD59-A6C34878D82A}">
                    <a16:rowId xmlns:a16="http://schemas.microsoft.com/office/drawing/2014/main" val="2808886734"/>
                  </a:ext>
                </a:extLst>
              </a:tr>
            </a:tbl>
          </a:graphicData>
        </a:graphic>
      </p:graphicFrame>
    </p:spTree>
    <p:extLst>
      <p:ext uri="{BB962C8B-B14F-4D97-AF65-F5344CB8AC3E}">
        <p14:creationId xmlns:p14="http://schemas.microsoft.com/office/powerpoint/2010/main" val="3872847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A9B20E-5EBC-835C-6BA9-6A13D4FB6356}"/>
              </a:ext>
            </a:extLst>
          </p:cNvPr>
          <p:cNvSpPr>
            <a:spLocks noGrp="1"/>
          </p:cNvSpPr>
          <p:nvPr>
            <p:ph idx="1"/>
          </p:nvPr>
        </p:nvSpPr>
        <p:spPr>
          <a:xfrm>
            <a:off x="946116" y="461408"/>
            <a:ext cx="10515600" cy="4351338"/>
          </a:xfrm>
        </p:spPr>
        <p:txBody>
          <a:bodyPr>
            <a:normAutofit fontScale="85000" lnSpcReduction="20000"/>
          </a:bodyPr>
          <a:lstStyle/>
          <a:p>
            <a:r>
              <a:rPr lang="en-US" dirty="0"/>
              <a:t>Consider a file that occupies three clusters in the file system (clusters 3, 6 and 4). </a:t>
            </a:r>
          </a:p>
          <a:p>
            <a:r>
              <a:rPr lang="en-US" dirty="0"/>
              <a:t>The three clusters of interest are underlined. In order to recover the file content the starting cluster is first determined to be 3</a:t>
            </a:r>
            <a:r>
              <a:rPr lang="en-US" i="1" dirty="0"/>
              <a:t>d </a:t>
            </a:r>
            <a:r>
              <a:rPr lang="en-US" dirty="0"/>
              <a:t>from the Directory Entry </a:t>
            </a:r>
          </a:p>
          <a:p>
            <a:r>
              <a:rPr lang="en-US" dirty="0"/>
              <a:t>The entry for cluster 3</a:t>
            </a:r>
            <a:r>
              <a:rPr lang="en-US" i="1" dirty="0"/>
              <a:t>d </a:t>
            </a:r>
            <a:r>
              <a:rPr lang="en-US" dirty="0"/>
              <a:t>in the FAT table is then consulted. The value at this location is 0x06. This means that the next cluster in the chain is Cluster 6</a:t>
            </a:r>
            <a:r>
              <a:rPr lang="en-US" i="1" dirty="0"/>
              <a:t>d</a:t>
            </a:r>
            <a:r>
              <a:rPr lang="en-US" dirty="0"/>
              <a:t>. </a:t>
            </a:r>
          </a:p>
          <a:p>
            <a:r>
              <a:rPr lang="en-US" dirty="0"/>
              <a:t>Consulting this position in the FAT shows that the next cluster in the file’s content is 4 </a:t>
            </a:r>
            <a:r>
              <a:rPr lang="en-US" i="1" dirty="0"/>
              <a:t>d</a:t>
            </a:r>
            <a:r>
              <a:rPr lang="en-US" dirty="0"/>
              <a:t>. When the entry for cluster 4</a:t>
            </a:r>
            <a:r>
              <a:rPr lang="en-US" i="1" dirty="0"/>
              <a:t>d </a:t>
            </a:r>
            <a:r>
              <a:rPr lang="en-US" dirty="0"/>
              <a:t>is examined the end of file marker (0x0FFFFFFF) is discovered. This signifies the end of the FAT chain. Combining this information shows that the file’s contents occupy clusters 3, 6 and 4. </a:t>
            </a:r>
            <a:br>
              <a:rPr lang="en-US" dirty="0"/>
            </a:br>
            <a:br>
              <a:rPr lang="en-US" dirty="0"/>
            </a:br>
            <a:endParaRPr lang="en-MY" dirty="0"/>
          </a:p>
        </p:txBody>
      </p:sp>
      <p:pic>
        <p:nvPicPr>
          <p:cNvPr id="5" name="Picture 4">
            <a:extLst>
              <a:ext uri="{FF2B5EF4-FFF2-40B4-BE49-F238E27FC236}">
                <a16:creationId xmlns:a16="http://schemas.microsoft.com/office/drawing/2014/main" id="{A44E1FBA-51C2-72C9-25D5-69DA8E5247CB}"/>
              </a:ext>
            </a:extLst>
          </p:cNvPr>
          <p:cNvPicPr>
            <a:picLocks noChangeAspect="1"/>
          </p:cNvPicPr>
          <p:nvPr/>
        </p:nvPicPr>
        <p:blipFill>
          <a:blip r:embed="rId3"/>
          <a:stretch>
            <a:fillRect/>
          </a:stretch>
        </p:blipFill>
        <p:spPr>
          <a:xfrm>
            <a:off x="838200" y="4220923"/>
            <a:ext cx="10731433" cy="1249091"/>
          </a:xfrm>
          <a:prstGeom prst="rect">
            <a:avLst/>
          </a:prstGeom>
        </p:spPr>
      </p:pic>
      <p:sp>
        <p:nvSpPr>
          <p:cNvPr id="7" name="TextBox 6">
            <a:extLst>
              <a:ext uri="{FF2B5EF4-FFF2-40B4-BE49-F238E27FC236}">
                <a16:creationId xmlns:a16="http://schemas.microsoft.com/office/drawing/2014/main" id="{A5574AA0-D51F-2466-DC07-8AC4FD5FA819}"/>
              </a:ext>
            </a:extLst>
          </p:cNvPr>
          <p:cNvSpPr txBox="1"/>
          <p:nvPr/>
        </p:nvSpPr>
        <p:spPr>
          <a:xfrm>
            <a:off x="838200" y="5717538"/>
            <a:ext cx="8289758" cy="646331"/>
          </a:xfrm>
          <a:prstGeom prst="rect">
            <a:avLst/>
          </a:prstGeom>
          <a:noFill/>
        </p:spPr>
        <p:txBody>
          <a:bodyPr wrap="square">
            <a:spAutoFit/>
          </a:bodyPr>
          <a:lstStyle/>
          <a:p>
            <a:r>
              <a:rPr lang="en-US" sz="1800" b="0" i="0" dirty="0">
                <a:solidFill>
                  <a:srgbClr val="000000"/>
                </a:solidFill>
                <a:effectLst/>
                <a:latin typeface="STIXTwoText"/>
              </a:rPr>
              <a:t>Sample FAT32 FAT table showing a file stored in clusters 3, 6 and 4.</a:t>
            </a:r>
            <a:r>
              <a:rPr lang="en-US" dirty="0"/>
              <a:t> </a:t>
            </a:r>
            <a:br>
              <a:rPr lang="en-US" dirty="0"/>
            </a:br>
            <a:endParaRPr lang="en-MY" dirty="0"/>
          </a:p>
        </p:txBody>
      </p:sp>
    </p:spTree>
    <p:extLst>
      <p:ext uri="{BB962C8B-B14F-4D97-AF65-F5344CB8AC3E}">
        <p14:creationId xmlns:p14="http://schemas.microsoft.com/office/powerpoint/2010/main" val="254826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EB39C-8AD6-3A3C-214E-916D7AA40EB5}"/>
              </a:ext>
            </a:extLst>
          </p:cNvPr>
          <p:cNvSpPr>
            <a:spLocks noGrp="1"/>
          </p:cNvSpPr>
          <p:nvPr>
            <p:ph type="title"/>
          </p:nvPr>
        </p:nvSpPr>
        <p:spPr/>
        <p:txBody>
          <a:bodyPr/>
          <a:lstStyle/>
          <a:p>
            <a:r>
              <a:rPr lang="en-MY" b="1" dirty="0"/>
              <a:t>Directory Entries</a:t>
            </a:r>
            <a:r>
              <a:rPr lang="en-MY" dirty="0"/>
              <a:t> </a:t>
            </a:r>
          </a:p>
        </p:txBody>
      </p:sp>
      <p:sp>
        <p:nvSpPr>
          <p:cNvPr id="3" name="Content Placeholder 2">
            <a:extLst>
              <a:ext uri="{FF2B5EF4-FFF2-40B4-BE49-F238E27FC236}">
                <a16:creationId xmlns:a16="http://schemas.microsoft.com/office/drawing/2014/main" id="{F51D0F5E-8C67-7A73-259D-598ADC21F8A4}"/>
              </a:ext>
            </a:extLst>
          </p:cNvPr>
          <p:cNvSpPr>
            <a:spLocks noGrp="1"/>
          </p:cNvSpPr>
          <p:nvPr>
            <p:ph idx="1"/>
          </p:nvPr>
        </p:nvSpPr>
        <p:spPr/>
        <p:txBody>
          <a:bodyPr>
            <a:normAutofit fontScale="92500" lnSpcReduction="10000"/>
          </a:bodyPr>
          <a:lstStyle/>
          <a:p>
            <a:r>
              <a:rPr lang="en-US" dirty="0"/>
              <a:t>Directories in the FAT file system are merely normal files which contain a sequence of directory entries as content. </a:t>
            </a:r>
          </a:p>
          <a:p>
            <a:r>
              <a:rPr lang="en-US" dirty="0"/>
              <a:t>A directory entry is a 32</a:t>
            </a:r>
            <a:r>
              <a:rPr lang="en-US" i="1" dirty="0"/>
              <a:t>d </a:t>
            </a:r>
            <a:r>
              <a:rPr lang="en-US" dirty="0"/>
              <a:t>metadata associated byte structure that contains the file’s name and all with the file. </a:t>
            </a:r>
          </a:p>
          <a:p>
            <a:r>
              <a:rPr lang="en-US" dirty="0"/>
              <a:t>It allows the files on the volume to be listed, file metadata to be gathered and file content to be recovered. </a:t>
            </a:r>
          </a:p>
          <a:p>
            <a:r>
              <a:rPr lang="en-US" dirty="0"/>
              <a:t>two types of directory entry that are used in FAT </a:t>
            </a:r>
          </a:p>
          <a:p>
            <a:pPr lvl="1"/>
            <a:r>
              <a:rPr lang="en-US" dirty="0"/>
              <a:t>the structure of the generic directory entry -- allowing only for 8.3 filenames </a:t>
            </a:r>
          </a:p>
          <a:p>
            <a:pPr lvl="1"/>
            <a:r>
              <a:rPr lang="en-MY" dirty="0"/>
              <a:t>LFN directory entry -- </a:t>
            </a:r>
            <a:r>
              <a:rPr lang="en-US" dirty="0"/>
              <a:t>filename length greater than the traditional 8.3 format </a:t>
            </a:r>
            <a:br>
              <a:rPr lang="en-US" dirty="0"/>
            </a:br>
            <a:br>
              <a:rPr lang="en-US" dirty="0"/>
            </a:br>
            <a:br>
              <a:rPr lang="en-US" dirty="0"/>
            </a:br>
            <a:endParaRPr lang="en-MY" dirty="0"/>
          </a:p>
        </p:txBody>
      </p:sp>
      <p:graphicFrame>
        <p:nvGraphicFramePr>
          <p:cNvPr id="6" name="Table 5">
            <a:extLst>
              <a:ext uri="{FF2B5EF4-FFF2-40B4-BE49-F238E27FC236}">
                <a16:creationId xmlns:a16="http://schemas.microsoft.com/office/drawing/2014/main" id="{3C2ED49C-A6AE-CD45-D577-40093DCE9F4B}"/>
              </a:ext>
            </a:extLst>
          </p:cNvPr>
          <p:cNvGraphicFramePr>
            <a:graphicFrameLocks noGrp="1"/>
          </p:cNvGraphicFramePr>
          <p:nvPr>
            <p:extLst>
              <p:ext uri="{D42A27DB-BD31-4B8C-83A1-F6EECF244321}">
                <p14:modId xmlns:p14="http://schemas.microsoft.com/office/powerpoint/2010/main" val="1233300645"/>
              </p:ext>
            </p:extLst>
          </p:nvPr>
        </p:nvGraphicFramePr>
        <p:xfrm>
          <a:off x="838200" y="5306060"/>
          <a:ext cx="10515600" cy="1005840"/>
        </p:xfrm>
        <a:graphic>
          <a:graphicData uri="http://schemas.openxmlformats.org/drawingml/2006/table">
            <a:tbl>
              <a:tblPr/>
              <a:tblGrid>
                <a:gridCol w="2658035">
                  <a:extLst>
                    <a:ext uri="{9D8B030D-6E8A-4147-A177-3AD203B41FA5}">
                      <a16:colId xmlns:a16="http://schemas.microsoft.com/office/drawing/2014/main" val="725626058"/>
                    </a:ext>
                  </a:extLst>
                </a:gridCol>
                <a:gridCol w="7857565">
                  <a:extLst>
                    <a:ext uri="{9D8B030D-6E8A-4147-A177-3AD203B41FA5}">
                      <a16:colId xmlns:a16="http://schemas.microsoft.com/office/drawing/2014/main" val="1236273261"/>
                    </a:ext>
                  </a:extLst>
                </a:gridCol>
              </a:tblGrid>
              <a:tr h="0">
                <a:tc>
                  <a:txBody>
                    <a:bodyPr/>
                    <a:lstStyle/>
                    <a:p>
                      <a:pPr>
                        <a:buNone/>
                      </a:pPr>
                      <a:r>
                        <a:rPr lang="en-MY" sz="1200" b="1"/>
                        <a:t>Type</a:t>
                      </a:r>
                      <a:endParaRPr lang="en-MY" sz="1200"/>
                    </a:p>
                  </a:txBody>
                  <a:tcPr anchor="ctr">
                    <a:lnL>
                      <a:noFill/>
                    </a:lnL>
                    <a:lnR>
                      <a:noFill/>
                    </a:lnR>
                    <a:lnT>
                      <a:noFill/>
                    </a:lnT>
                    <a:lnB>
                      <a:noFill/>
                    </a:lnB>
                    <a:noFill/>
                  </a:tcPr>
                </a:tc>
                <a:tc>
                  <a:txBody>
                    <a:bodyPr/>
                    <a:lstStyle/>
                    <a:p>
                      <a:pPr>
                        <a:buNone/>
                      </a:pPr>
                      <a:r>
                        <a:rPr lang="en-MY" sz="1200" b="1"/>
                        <a:t>Description</a:t>
                      </a:r>
                      <a:endParaRPr lang="en-MY" sz="1200"/>
                    </a:p>
                  </a:txBody>
                  <a:tcPr anchor="ctr">
                    <a:lnL>
                      <a:noFill/>
                    </a:lnL>
                    <a:lnR>
                      <a:noFill/>
                    </a:lnR>
                    <a:lnT>
                      <a:noFill/>
                    </a:lnT>
                    <a:lnB>
                      <a:noFill/>
                    </a:lnB>
                    <a:noFill/>
                  </a:tcPr>
                </a:tc>
                <a:extLst>
                  <a:ext uri="{0D108BD9-81ED-4DB2-BD59-A6C34878D82A}">
                    <a16:rowId xmlns:a16="http://schemas.microsoft.com/office/drawing/2014/main" val="2660993873"/>
                  </a:ext>
                </a:extLst>
              </a:tr>
              <a:tr h="0">
                <a:tc>
                  <a:txBody>
                    <a:bodyPr/>
                    <a:lstStyle/>
                    <a:p>
                      <a:pPr>
                        <a:buNone/>
                      </a:pPr>
                      <a:r>
                        <a:rPr lang="en-MY" sz="1200" b="1"/>
                        <a:t>Standard (8.3 format)</a:t>
                      </a:r>
                      <a:endParaRPr lang="en-MY" sz="1200"/>
                    </a:p>
                  </a:txBody>
                  <a:tcPr anchor="ctr">
                    <a:lnL>
                      <a:noFill/>
                    </a:lnL>
                    <a:lnR>
                      <a:noFill/>
                    </a:lnR>
                    <a:lnT>
                      <a:noFill/>
                    </a:lnT>
                    <a:lnB>
                      <a:noFill/>
                    </a:lnB>
                    <a:noFill/>
                  </a:tcPr>
                </a:tc>
                <a:tc>
                  <a:txBody>
                    <a:bodyPr/>
                    <a:lstStyle/>
                    <a:p>
                      <a:pPr>
                        <a:buNone/>
                      </a:pPr>
                      <a:r>
                        <a:rPr lang="en-US" sz="1200"/>
                        <a:t>Old-style entry — file names can have up to </a:t>
                      </a:r>
                      <a:r>
                        <a:rPr lang="en-US" sz="1200" b="1"/>
                        <a:t>8 characters for the name</a:t>
                      </a:r>
                      <a:r>
                        <a:rPr lang="en-US" sz="1200"/>
                        <a:t> and </a:t>
                      </a:r>
                      <a:r>
                        <a:rPr lang="en-US" sz="1200" b="1"/>
                        <a:t>3 for the extension</a:t>
                      </a:r>
                      <a:r>
                        <a:rPr lang="en-US" sz="1200"/>
                        <a:t> (like </a:t>
                      </a:r>
                      <a:r>
                        <a:rPr lang="en-US" sz="1200">
                          <a:latin typeface="Courier New" panose="02070309020205020404" pitchFamily="49" charset="0"/>
                        </a:rPr>
                        <a:t>REPORT.TXT</a:t>
                      </a:r>
                      <a:r>
                        <a:rPr lang="en-US" sz="1200"/>
                        <a:t>).</a:t>
                      </a:r>
                    </a:p>
                  </a:txBody>
                  <a:tcPr anchor="ctr">
                    <a:lnL>
                      <a:noFill/>
                    </a:lnL>
                    <a:lnR>
                      <a:noFill/>
                    </a:lnR>
                    <a:lnT>
                      <a:noFill/>
                    </a:lnT>
                    <a:lnB>
                      <a:noFill/>
                    </a:lnB>
                    <a:noFill/>
                  </a:tcPr>
                </a:tc>
                <a:extLst>
                  <a:ext uri="{0D108BD9-81ED-4DB2-BD59-A6C34878D82A}">
                    <a16:rowId xmlns:a16="http://schemas.microsoft.com/office/drawing/2014/main" val="879926292"/>
                  </a:ext>
                </a:extLst>
              </a:tr>
              <a:tr h="0">
                <a:tc>
                  <a:txBody>
                    <a:bodyPr/>
                    <a:lstStyle/>
                    <a:p>
                      <a:pPr>
                        <a:buNone/>
                      </a:pPr>
                      <a:r>
                        <a:rPr lang="en-MY" sz="1200" b="1"/>
                        <a:t>LFN (Long File Name)</a:t>
                      </a:r>
                      <a:endParaRPr lang="en-MY" sz="1200"/>
                    </a:p>
                  </a:txBody>
                  <a:tcPr anchor="ctr">
                    <a:lnL>
                      <a:noFill/>
                    </a:lnL>
                    <a:lnR>
                      <a:noFill/>
                    </a:lnR>
                    <a:lnT>
                      <a:noFill/>
                    </a:lnT>
                    <a:lnB>
                      <a:noFill/>
                    </a:lnB>
                    <a:noFill/>
                  </a:tcPr>
                </a:tc>
                <a:tc>
                  <a:txBody>
                    <a:bodyPr/>
                    <a:lstStyle/>
                    <a:p>
                      <a:pPr>
                        <a:buNone/>
                      </a:pPr>
                      <a:r>
                        <a:rPr lang="en-US" sz="1200" dirty="0"/>
                        <a:t>Used when a file name is </a:t>
                      </a:r>
                      <a:r>
                        <a:rPr lang="en-US" sz="1200" b="1" dirty="0"/>
                        <a:t>longer than the 8.3 limit</a:t>
                      </a:r>
                      <a:r>
                        <a:rPr lang="en-US" sz="1200" dirty="0"/>
                        <a:t> (like </a:t>
                      </a:r>
                      <a:r>
                        <a:rPr lang="en-US" sz="1200" dirty="0">
                          <a:latin typeface="Courier New" panose="02070309020205020404" pitchFamily="49" charset="0"/>
                        </a:rPr>
                        <a:t>MyVacationPhotos2025.jpg</a:t>
                      </a:r>
                      <a:r>
                        <a:rPr lang="en-US" sz="1200" dirty="0"/>
                        <a:t>). The long name is broken into </a:t>
                      </a:r>
                      <a:r>
                        <a:rPr lang="en-US" sz="1200" b="1" dirty="0"/>
                        <a:t>multiple entries</a:t>
                      </a:r>
                      <a:r>
                        <a:rPr lang="en-US" sz="1200" dirty="0"/>
                        <a:t>, each storing part of the name.</a:t>
                      </a:r>
                    </a:p>
                  </a:txBody>
                  <a:tcPr anchor="ctr">
                    <a:lnL>
                      <a:noFill/>
                    </a:lnL>
                    <a:lnR>
                      <a:noFill/>
                    </a:lnR>
                    <a:lnT>
                      <a:noFill/>
                    </a:lnT>
                    <a:lnB>
                      <a:noFill/>
                    </a:lnB>
                    <a:noFill/>
                  </a:tcPr>
                </a:tc>
                <a:extLst>
                  <a:ext uri="{0D108BD9-81ED-4DB2-BD59-A6C34878D82A}">
                    <a16:rowId xmlns:a16="http://schemas.microsoft.com/office/drawing/2014/main" val="2903920229"/>
                  </a:ext>
                </a:extLst>
              </a:tr>
            </a:tbl>
          </a:graphicData>
        </a:graphic>
      </p:graphicFrame>
    </p:spTree>
    <p:extLst>
      <p:ext uri="{BB962C8B-B14F-4D97-AF65-F5344CB8AC3E}">
        <p14:creationId xmlns:p14="http://schemas.microsoft.com/office/powerpoint/2010/main" val="2639963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4C013-0BDE-F977-0B76-4143FBC99C2D}"/>
              </a:ext>
            </a:extLst>
          </p:cNvPr>
          <p:cNvSpPr>
            <a:spLocks noGrp="1"/>
          </p:cNvSpPr>
          <p:nvPr>
            <p:ph type="title"/>
          </p:nvPr>
        </p:nvSpPr>
        <p:spPr/>
        <p:txBody>
          <a:bodyPr/>
          <a:lstStyle/>
          <a:p>
            <a:r>
              <a:rPr lang="en-MY" b="1" dirty="0"/>
              <a:t>Directory Entries</a:t>
            </a:r>
            <a:r>
              <a:rPr lang="en-MY" dirty="0"/>
              <a:t>  (Where They Are Located)</a:t>
            </a:r>
          </a:p>
        </p:txBody>
      </p:sp>
      <p:sp>
        <p:nvSpPr>
          <p:cNvPr id="3" name="Content Placeholder 2">
            <a:extLst>
              <a:ext uri="{FF2B5EF4-FFF2-40B4-BE49-F238E27FC236}">
                <a16:creationId xmlns:a16="http://schemas.microsoft.com/office/drawing/2014/main" id="{3CAEBEAD-FCCA-F403-439A-EF18A661EA24}"/>
              </a:ext>
            </a:extLst>
          </p:cNvPr>
          <p:cNvSpPr>
            <a:spLocks noGrp="1"/>
          </p:cNvSpPr>
          <p:nvPr>
            <p:ph idx="1"/>
          </p:nvPr>
        </p:nvSpPr>
        <p:spPr/>
        <p:txBody>
          <a:bodyPr/>
          <a:lstStyle/>
          <a:p>
            <a:r>
              <a:rPr lang="en-US" b="1" dirty="0"/>
              <a:t>Root Directory Area (for FAT12/FAT16)</a:t>
            </a:r>
            <a:endParaRPr lang="en-US" dirty="0"/>
          </a:p>
          <a:p>
            <a:pPr lvl="1"/>
            <a:r>
              <a:rPr lang="en-US" dirty="0"/>
              <a:t>In FAT12 and FAT16, the </a:t>
            </a:r>
            <a:r>
              <a:rPr lang="en-US" b="1" dirty="0"/>
              <a:t>root directory</a:t>
            </a:r>
            <a:r>
              <a:rPr lang="en-US" dirty="0"/>
              <a:t> is stored </a:t>
            </a:r>
            <a:r>
              <a:rPr lang="en-US" b="1" dirty="0"/>
              <a:t>right after the FAT tables</a:t>
            </a:r>
            <a:r>
              <a:rPr lang="en-US" dirty="0"/>
              <a:t>.</a:t>
            </a:r>
          </a:p>
          <a:p>
            <a:pPr lvl="1"/>
            <a:r>
              <a:rPr lang="en-US" dirty="0"/>
              <a:t>It has a </a:t>
            </a:r>
            <a:r>
              <a:rPr lang="en-US" b="1" dirty="0"/>
              <a:t>fixed size</a:t>
            </a:r>
            <a:r>
              <a:rPr lang="en-US" dirty="0"/>
              <a:t> defined in the </a:t>
            </a:r>
            <a:r>
              <a:rPr lang="en-US" b="1" dirty="0"/>
              <a:t>Volume Boot Record (VBR)</a:t>
            </a:r>
            <a:r>
              <a:rPr lang="en-US" dirty="0"/>
              <a:t>.</a:t>
            </a:r>
          </a:p>
          <a:p>
            <a:pPr marL="457200" lvl="1" indent="0">
              <a:buNone/>
            </a:pPr>
            <a:r>
              <a:rPr lang="en-US" dirty="0"/>
              <a:t>Example layout:</a:t>
            </a:r>
          </a:p>
          <a:p>
            <a:pPr marL="457200" lvl="1" indent="0">
              <a:buNone/>
            </a:pPr>
            <a:r>
              <a:rPr lang="en-US" dirty="0"/>
              <a:t>| Boot Sector | FAT | Root Directory | Data Area |</a:t>
            </a:r>
          </a:p>
          <a:p>
            <a:r>
              <a:rPr lang="en-US" dirty="0"/>
              <a:t>Data Area (for FAT32)</a:t>
            </a:r>
          </a:p>
          <a:p>
            <a:pPr lvl="1"/>
            <a:r>
              <a:rPr lang="en-US" dirty="0"/>
              <a:t>In FAT32, the root directory is just another normal directory stored in the data area, the same place as other folders and files.</a:t>
            </a:r>
          </a:p>
          <a:p>
            <a:pPr lvl="1"/>
            <a:r>
              <a:rPr lang="en-US" dirty="0"/>
              <a:t>It starts at a specific cluster (the starting cluster is listed in the VBR, often cluster 2).</a:t>
            </a:r>
          </a:p>
          <a:p>
            <a:pPr marL="457200" lvl="1" indent="0">
              <a:buNone/>
            </a:pPr>
            <a:endParaRPr lang="en-US" dirty="0"/>
          </a:p>
          <a:p>
            <a:endParaRPr lang="en-MY" dirty="0"/>
          </a:p>
        </p:txBody>
      </p:sp>
    </p:spTree>
    <p:extLst>
      <p:ext uri="{BB962C8B-B14F-4D97-AF65-F5344CB8AC3E}">
        <p14:creationId xmlns:p14="http://schemas.microsoft.com/office/powerpoint/2010/main" val="35945312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A495D325-F266-DF49-08E4-49383B3692E2}"/>
              </a:ext>
            </a:extLst>
          </p:cNvPr>
          <p:cNvPicPr>
            <a:picLocks noGrp="1" noChangeAspect="1"/>
          </p:cNvPicPr>
          <p:nvPr>
            <p:ph idx="1"/>
          </p:nvPr>
        </p:nvPicPr>
        <p:blipFill>
          <a:blip r:embed="rId3"/>
          <a:stretch>
            <a:fillRect/>
          </a:stretch>
        </p:blipFill>
        <p:spPr>
          <a:xfrm>
            <a:off x="840277" y="643466"/>
            <a:ext cx="10511446" cy="5571067"/>
          </a:xfrm>
          <a:prstGeom prst="rect">
            <a:avLst/>
          </a:prstGeom>
        </p:spPr>
      </p:pic>
    </p:spTree>
    <p:extLst>
      <p:ext uri="{BB962C8B-B14F-4D97-AF65-F5344CB8AC3E}">
        <p14:creationId xmlns:p14="http://schemas.microsoft.com/office/powerpoint/2010/main" val="4192253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4511C-3064-DA8B-53DC-E8EF824F98CA}"/>
              </a:ext>
            </a:extLst>
          </p:cNvPr>
          <p:cNvSpPr>
            <a:spLocks noGrp="1"/>
          </p:cNvSpPr>
          <p:nvPr>
            <p:ph idx="1"/>
          </p:nvPr>
        </p:nvSpPr>
        <p:spPr>
          <a:xfrm>
            <a:off x="838200" y="720762"/>
            <a:ext cx="10515600" cy="5456201"/>
          </a:xfrm>
        </p:spPr>
        <p:txBody>
          <a:bodyPr>
            <a:normAutofit/>
          </a:bodyPr>
          <a:lstStyle/>
          <a:p>
            <a:r>
              <a:rPr lang="en-US" dirty="0"/>
              <a:t>LFN directory entry allows for filenames longer than the traditional 8.3 scheme. </a:t>
            </a:r>
          </a:p>
          <a:p>
            <a:r>
              <a:rPr lang="en-US" dirty="0"/>
              <a:t>Generally the LFN entries are found in reverse order </a:t>
            </a:r>
            <a:r>
              <a:rPr lang="en-US" i="1" dirty="0"/>
              <a:t>before </a:t>
            </a:r>
            <a:r>
              <a:rPr lang="en-US" dirty="0"/>
              <a:t>the actual directory entry itself. </a:t>
            </a:r>
          </a:p>
          <a:p>
            <a:r>
              <a:rPr lang="en-US" dirty="0"/>
              <a:t>The sequence number is used to confirm the order of these entries. The sequence number of the last LFN for a file (generally the first directory entry to appear in the sequence of directory entries) is </a:t>
            </a:r>
            <a:r>
              <a:rPr lang="en-US" dirty="0" err="1"/>
              <a:t>XOR’d</a:t>
            </a:r>
            <a:r>
              <a:rPr lang="en-US" dirty="0"/>
              <a:t> with 0x40. Hence to get the actual value this must be reversed, i.e. </a:t>
            </a:r>
            <a:r>
              <a:rPr lang="en-US" dirty="0" err="1"/>
              <a:t>XOR’d</a:t>
            </a:r>
            <a:r>
              <a:rPr lang="en-US" dirty="0"/>
              <a:t> again with 0x40. </a:t>
            </a:r>
            <a:br>
              <a:rPr lang="en-US" dirty="0"/>
            </a:br>
            <a:br>
              <a:rPr lang="en-US" dirty="0"/>
            </a:br>
            <a:br>
              <a:rPr lang="en-US" dirty="0"/>
            </a:br>
            <a:endParaRPr lang="en-MY" dirty="0"/>
          </a:p>
        </p:txBody>
      </p:sp>
    </p:spTree>
    <p:extLst>
      <p:ext uri="{BB962C8B-B14F-4D97-AF65-F5344CB8AC3E}">
        <p14:creationId xmlns:p14="http://schemas.microsoft.com/office/powerpoint/2010/main" val="1250863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close-up of a document&#10;&#10;AI-generated content may be incorrect.">
            <a:extLst>
              <a:ext uri="{FF2B5EF4-FFF2-40B4-BE49-F238E27FC236}">
                <a16:creationId xmlns:a16="http://schemas.microsoft.com/office/drawing/2014/main" id="{33D1D375-D06C-0D73-2AD9-BE9182DDF53A}"/>
              </a:ext>
            </a:extLst>
          </p:cNvPr>
          <p:cNvPicPr>
            <a:picLocks noGrp="1" noChangeAspect="1"/>
          </p:cNvPicPr>
          <p:nvPr>
            <p:ph idx="1"/>
          </p:nvPr>
        </p:nvPicPr>
        <p:blipFill>
          <a:blip r:embed="rId3"/>
          <a:stretch>
            <a:fillRect/>
          </a:stretch>
        </p:blipFill>
        <p:spPr>
          <a:xfrm>
            <a:off x="643467" y="798152"/>
            <a:ext cx="10905066" cy="5261695"/>
          </a:xfrm>
          <a:prstGeom prst="rect">
            <a:avLst/>
          </a:prstGeom>
        </p:spPr>
      </p:pic>
    </p:spTree>
    <p:extLst>
      <p:ext uri="{BB962C8B-B14F-4D97-AF65-F5344CB8AC3E}">
        <p14:creationId xmlns:p14="http://schemas.microsoft.com/office/powerpoint/2010/main" val="1425439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C7BD7CB6-E539-6DF6-8805-C2FEF5652DC5}"/>
              </a:ext>
            </a:extLst>
          </p:cNvPr>
          <p:cNvPicPr>
            <a:picLocks noChangeAspect="1"/>
          </p:cNvPicPr>
          <p:nvPr/>
        </p:nvPicPr>
        <p:blipFill>
          <a:blip r:embed="rId3"/>
          <a:stretch>
            <a:fillRect/>
          </a:stretch>
        </p:blipFill>
        <p:spPr>
          <a:xfrm>
            <a:off x="659914" y="1082432"/>
            <a:ext cx="10872172" cy="2201615"/>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3" name="Content Placeholder 2">
            <a:extLst>
              <a:ext uri="{FF2B5EF4-FFF2-40B4-BE49-F238E27FC236}">
                <a16:creationId xmlns:a16="http://schemas.microsoft.com/office/drawing/2014/main" id="{AC268A26-15B5-7B1F-D3BE-3F9A1CCB2B9A}"/>
              </a:ext>
            </a:extLst>
          </p:cNvPr>
          <p:cNvSpPr>
            <a:spLocks noGrp="1"/>
          </p:cNvSpPr>
          <p:nvPr>
            <p:ph idx="1"/>
          </p:nvPr>
        </p:nvSpPr>
        <p:spPr>
          <a:xfrm>
            <a:off x="749056" y="3573954"/>
            <a:ext cx="10693887" cy="2216512"/>
          </a:xfrm>
        </p:spPr>
        <p:txBody>
          <a:bodyPr>
            <a:normAutofit/>
          </a:bodyPr>
          <a:lstStyle/>
          <a:p>
            <a:r>
              <a:rPr lang="en-US" dirty="0"/>
              <a:t>Three directory entries for a file with a long file name component. The first two entries are LFNs while the final entry is the generic directory entry </a:t>
            </a:r>
            <a:br>
              <a:rPr lang="en-US" dirty="0"/>
            </a:br>
            <a:endParaRPr lang="en-MY" dirty="0"/>
          </a:p>
        </p:txBody>
      </p:sp>
    </p:spTree>
    <p:extLst>
      <p:ext uri="{BB962C8B-B14F-4D97-AF65-F5344CB8AC3E}">
        <p14:creationId xmlns:p14="http://schemas.microsoft.com/office/powerpoint/2010/main" val="306154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E52E6-2134-436A-B3C2-9D2A2325FD0B}"/>
              </a:ext>
            </a:extLst>
          </p:cNvPr>
          <p:cNvSpPr>
            <a:spLocks noGrp="1"/>
          </p:cNvSpPr>
          <p:nvPr>
            <p:ph type="title"/>
          </p:nvPr>
        </p:nvSpPr>
        <p:spPr/>
        <p:txBody>
          <a:bodyPr/>
          <a:lstStyle/>
          <a:p>
            <a:r>
              <a:rPr lang="en-MY" dirty="0"/>
              <a:t>8.3 name conversion</a:t>
            </a:r>
          </a:p>
        </p:txBody>
      </p:sp>
      <p:sp>
        <p:nvSpPr>
          <p:cNvPr id="3" name="Content Placeholder 2">
            <a:extLst>
              <a:ext uri="{FF2B5EF4-FFF2-40B4-BE49-F238E27FC236}">
                <a16:creationId xmlns:a16="http://schemas.microsoft.com/office/drawing/2014/main" id="{DF424358-089A-DFDA-44F6-EB540F536222}"/>
              </a:ext>
            </a:extLst>
          </p:cNvPr>
          <p:cNvSpPr>
            <a:spLocks noGrp="1"/>
          </p:cNvSpPr>
          <p:nvPr>
            <p:ph idx="1"/>
          </p:nvPr>
        </p:nvSpPr>
        <p:spPr/>
        <p:txBody>
          <a:bodyPr/>
          <a:lstStyle/>
          <a:p>
            <a:r>
              <a:rPr lang="en-US" dirty="0"/>
              <a:t>Filename: </a:t>
            </a:r>
            <a:r>
              <a:rPr lang="en-US" dirty="0" err="1"/>
              <a:t>this_is_word</a:t>
            </a:r>
            <a:endParaRPr lang="en-US" dirty="0"/>
          </a:p>
          <a:p>
            <a:r>
              <a:rPr lang="en-US" dirty="0"/>
              <a:t>Extension: docx</a:t>
            </a:r>
          </a:p>
          <a:p>
            <a:r>
              <a:rPr lang="en-US" dirty="0"/>
              <a:t>The base name can only be </a:t>
            </a:r>
            <a:r>
              <a:rPr lang="en-US" b="1" dirty="0"/>
              <a:t>8 characters</a:t>
            </a:r>
            <a:r>
              <a:rPr lang="en-US" dirty="0"/>
              <a:t>, and the extension only </a:t>
            </a:r>
            <a:r>
              <a:rPr lang="en-US" b="1" dirty="0"/>
              <a:t>3</a:t>
            </a:r>
            <a:r>
              <a:rPr lang="en-US" dirty="0"/>
              <a:t>.</a:t>
            </a:r>
          </a:p>
          <a:p>
            <a:pPr lvl="1"/>
            <a:r>
              <a:rPr lang="en-US" dirty="0"/>
              <a:t>Base name: </a:t>
            </a:r>
            <a:r>
              <a:rPr lang="en-US" dirty="0" err="1"/>
              <a:t>this_is_word</a:t>
            </a:r>
            <a:r>
              <a:rPr lang="en-US" dirty="0"/>
              <a:t> → take the first </a:t>
            </a:r>
            <a:r>
              <a:rPr lang="en-US" b="1" dirty="0"/>
              <a:t>6 characters</a:t>
            </a:r>
            <a:r>
              <a:rPr lang="en-US" dirty="0"/>
              <a:t> → THIS_I</a:t>
            </a:r>
            <a:br>
              <a:rPr lang="en-US" dirty="0"/>
            </a:br>
            <a:r>
              <a:rPr lang="en-US" dirty="0"/>
              <a:t>(FAT uses the first 6 chars + ~1 to form 8 chars)</a:t>
            </a:r>
          </a:p>
          <a:p>
            <a:pPr lvl="1"/>
            <a:r>
              <a:rPr lang="en-US" dirty="0"/>
              <a:t>Extension: docx → truncate to </a:t>
            </a:r>
            <a:r>
              <a:rPr lang="en-US" b="1" dirty="0"/>
              <a:t>3</a:t>
            </a:r>
            <a:r>
              <a:rPr lang="en-US" dirty="0"/>
              <a:t> → DOC</a:t>
            </a:r>
          </a:p>
          <a:p>
            <a:r>
              <a:rPr lang="en-US" b="1" dirty="0"/>
              <a:t>Combine and uppercase</a:t>
            </a:r>
          </a:p>
          <a:p>
            <a:r>
              <a:rPr lang="en-US" dirty="0"/>
              <a:t>Combine them → THIS_I~1.DOC</a:t>
            </a:r>
          </a:p>
          <a:p>
            <a:endParaRPr lang="en-US" dirty="0"/>
          </a:p>
          <a:p>
            <a:endParaRPr lang="en-MY" dirty="0"/>
          </a:p>
        </p:txBody>
      </p:sp>
    </p:spTree>
    <p:extLst>
      <p:ext uri="{BB962C8B-B14F-4D97-AF65-F5344CB8AC3E}">
        <p14:creationId xmlns:p14="http://schemas.microsoft.com/office/powerpoint/2010/main" val="3470057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407A9-41CA-85B9-3470-AE8FDF4B6A69}"/>
              </a:ext>
            </a:extLst>
          </p:cNvPr>
          <p:cNvSpPr>
            <a:spLocks noGrp="1"/>
          </p:cNvSpPr>
          <p:nvPr>
            <p:ph type="title"/>
          </p:nvPr>
        </p:nvSpPr>
        <p:spPr>
          <a:xfrm>
            <a:off x="838200" y="0"/>
            <a:ext cx="10515600" cy="1325563"/>
          </a:xfrm>
        </p:spPr>
        <p:txBody>
          <a:bodyPr>
            <a:normAutofit/>
          </a:bodyPr>
          <a:lstStyle/>
          <a:p>
            <a:r>
              <a:rPr lang="en-US" sz="2800" dirty="0"/>
              <a:t>FAT generic directory entry structure. </a:t>
            </a:r>
            <a:endParaRPr lang="en-MY" sz="2800" dirty="0"/>
          </a:p>
        </p:txBody>
      </p:sp>
      <p:sp>
        <p:nvSpPr>
          <p:cNvPr id="3" name="Content Placeholder 2">
            <a:extLst>
              <a:ext uri="{FF2B5EF4-FFF2-40B4-BE49-F238E27FC236}">
                <a16:creationId xmlns:a16="http://schemas.microsoft.com/office/drawing/2014/main" id="{71AB8AD0-801F-D8E5-A835-AE5DEDA90378}"/>
              </a:ext>
            </a:extLst>
          </p:cNvPr>
          <p:cNvSpPr>
            <a:spLocks noGrp="1"/>
          </p:cNvSpPr>
          <p:nvPr>
            <p:ph idx="1"/>
          </p:nvPr>
        </p:nvSpPr>
        <p:spPr>
          <a:xfrm>
            <a:off x="8195891" y="4726573"/>
            <a:ext cx="2401130" cy="471728"/>
          </a:xfrm>
        </p:spPr>
        <p:txBody>
          <a:bodyPr>
            <a:normAutofit/>
          </a:bodyPr>
          <a:lstStyle/>
          <a:p>
            <a:r>
              <a:rPr lang="en-MY" sz="1400" dirty="0"/>
              <a:t>Table 5.5</a:t>
            </a:r>
          </a:p>
        </p:txBody>
      </p:sp>
      <p:pic>
        <p:nvPicPr>
          <p:cNvPr id="5" name="Picture 4">
            <a:extLst>
              <a:ext uri="{FF2B5EF4-FFF2-40B4-BE49-F238E27FC236}">
                <a16:creationId xmlns:a16="http://schemas.microsoft.com/office/drawing/2014/main" id="{6A1B5F08-56E0-9E23-0919-90F905C4949D}"/>
              </a:ext>
            </a:extLst>
          </p:cNvPr>
          <p:cNvPicPr>
            <a:picLocks noChangeAspect="1"/>
          </p:cNvPicPr>
          <p:nvPr/>
        </p:nvPicPr>
        <p:blipFill>
          <a:blip r:embed="rId3"/>
          <a:stretch>
            <a:fillRect/>
          </a:stretch>
        </p:blipFill>
        <p:spPr>
          <a:xfrm>
            <a:off x="838200" y="1033418"/>
            <a:ext cx="7216036" cy="5824562"/>
          </a:xfrm>
          <a:prstGeom prst="rect">
            <a:avLst/>
          </a:prstGeom>
        </p:spPr>
      </p:pic>
      <p:pic>
        <p:nvPicPr>
          <p:cNvPr id="7" name="Picture 6">
            <a:extLst>
              <a:ext uri="{FF2B5EF4-FFF2-40B4-BE49-F238E27FC236}">
                <a16:creationId xmlns:a16="http://schemas.microsoft.com/office/drawing/2014/main" id="{7D6150E9-4952-CAAB-1710-6CABEB0422A3}"/>
              </a:ext>
            </a:extLst>
          </p:cNvPr>
          <p:cNvPicPr>
            <a:picLocks noChangeAspect="1"/>
          </p:cNvPicPr>
          <p:nvPr/>
        </p:nvPicPr>
        <p:blipFill>
          <a:blip r:embed="rId4"/>
          <a:stretch>
            <a:fillRect/>
          </a:stretch>
        </p:blipFill>
        <p:spPr>
          <a:xfrm>
            <a:off x="8054236" y="2131427"/>
            <a:ext cx="3048425" cy="2591162"/>
          </a:xfrm>
          <a:prstGeom prst="rect">
            <a:avLst/>
          </a:prstGeom>
        </p:spPr>
      </p:pic>
    </p:spTree>
    <p:extLst>
      <p:ext uri="{BB962C8B-B14F-4D97-AF65-F5344CB8AC3E}">
        <p14:creationId xmlns:p14="http://schemas.microsoft.com/office/powerpoint/2010/main" val="4046267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5FE39-D7D4-AE6B-5B86-6FA6A865A3A0}"/>
              </a:ext>
            </a:extLst>
          </p:cNvPr>
          <p:cNvSpPr>
            <a:spLocks noGrp="1"/>
          </p:cNvSpPr>
          <p:nvPr>
            <p:ph type="title"/>
          </p:nvPr>
        </p:nvSpPr>
        <p:spPr/>
        <p:txBody>
          <a:bodyPr/>
          <a:lstStyle/>
          <a:p>
            <a:r>
              <a:rPr lang="en-MY" b="1" dirty="0"/>
              <a:t>FAT Date and Time</a:t>
            </a:r>
            <a:r>
              <a:rPr lang="en-MY" dirty="0"/>
              <a:t> </a:t>
            </a:r>
          </a:p>
        </p:txBody>
      </p:sp>
      <p:sp>
        <p:nvSpPr>
          <p:cNvPr id="3" name="Content Placeholder 2">
            <a:extLst>
              <a:ext uri="{FF2B5EF4-FFF2-40B4-BE49-F238E27FC236}">
                <a16:creationId xmlns:a16="http://schemas.microsoft.com/office/drawing/2014/main" id="{9176167B-4EA3-2A56-83CD-8ADEC8CCCA72}"/>
              </a:ext>
            </a:extLst>
          </p:cNvPr>
          <p:cNvSpPr>
            <a:spLocks noGrp="1"/>
          </p:cNvSpPr>
          <p:nvPr>
            <p:ph idx="1"/>
          </p:nvPr>
        </p:nvSpPr>
        <p:spPr/>
        <p:txBody>
          <a:bodyPr/>
          <a:lstStyle/>
          <a:p>
            <a:r>
              <a:rPr lang="en-US" dirty="0"/>
              <a:t>epoch time values, in which time is implemented in a computer as a counter from a particular moment. </a:t>
            </a:r>
          </a:p>
          <a:p>
            <a:r>
              <a:rPr lang="en-US" dirty="0"/>
              <a:t>The FAT family of file systems is the only file system that does not use an epoch-based time system. </a:t>
            </a:r>
          </a:p>
          <a:p>
            <a:r>
              <a:rPr lang="en-US" dirty="0"/>
              <a:t>Instead FAT uses bit fields to store the date and time.</a:t>
            </a:r>
          </a:p>
          <a:p>
            <a:r>
              <a:rPr lang="en-US" dirty="0"/>
              <a:t>The FAT date is a two-byte structure which is divided into three separate components, year, month and day. </a:t>
            </a:r>
            <a:br>
              <a:rPr lang="en-US" dirty="0"/>
            </a:br>
            <a:br>
              <a:rPr lang="en-US" dirty="0"/>
            </a:br>
            <a:br>
              <a:rPr lang="en-US" dirty="0"/>
            </a:br>
            <a:endParaRPr lang="en-MY" dirty="0"/>
          </a:p>
        </p:txBody>
      </p:sp>
      <p:pic>
        <p:nvPicPr>
          <p:cNvPr id="5" name="Picture 4">
            <a:extLst>
              <a:ext uri="{FF2B5EF4-FFF2-40B4-BE49-F238E27FC236}">
                <a16:creationId xmlns:a16="http://schemas.microsoft.com/office/drawing/2014/main" id="{F6F7734C-AF3A-3AA4-C5F6-9C16875CF1D9}"/>
              </a:ext>
            </a:extLst>
          </p:cNvPr>
          <p:cNvPicPr>
            <a:picLocks noChangeAspect="1"/>
          </p:cNvPicPr>
          <p:nvPr/>
        </p:nvPicPr>
        <p:blipFill>
          <a:blip r:embed="rId3"/>
          <a:stretch>
            <a:fillRect/>
          </a:stretch>
        </p:blipFill>
        <p:spPr>
          <a:xfrm>
            <a:off x="3778933" y="4892435"/>
            <a:ext cx="4634134" cy="1419465"/>
          </a:xfrm>
          <a:prstGeom prst="rect">
            <a:avLst/>
          </a:prstGeom>
        </p:spPr>
      </p:pic>
    </p:spTree>
    <p:extLst>
      <p:ext uri="{BB962C8B-B14F-4D97-AF65-F5344CB8AC3E}">
        <p14:creationId xmlns:p14="http://schemas.microsoft.com/office/powerpoint/2010/main" val="2700429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8" name="Arc 27">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7" name="Picture 6" descr="A white background with black numbers and letters&#10;&#10;AI-generated content may be incorrect.">
            <a:extLst>
              <a:ext uri="{FF2B5EF4-FFF2-40B4-BE49-F238E27FC236}">
                <a16:creationId xmlns:a16="http://schemas.microsoft.com/office/drawing/2014/main" id="{A81DF2C5-99CF-5CE2-79AD-7E6753CE158B}"/>
              </a:ext>
            </a:extLst>
          </p:cNvPr>
          <p:cNvPicPr>
            <a:picLocks noChangeAspect="1"/>
          </p:cNvPicPr>
          <p:nvPr/>
        </p:nvPicPr>
        <p:blipFill>
          <a:blip r:embed="rId3"/>
          <a:stretch>
            <a:fillRect/>
          </a:stretch>
        </p:blipFill>
        <p:spPr>
          <a:xfrm>
            <a:off x="2749885" y="704504"/>
            <a:ext cx="6692229" cy="2957472"/>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3" name="Content Placeholder 2">
            <a:extLst>
              <a:ext uri="{FF2B5EF4-FFF2-40B4-BE49-F238E27FC236}">
                <a16:creationId xmlns:a16="http://schemas.microsoft.com/office/drawing/2014/main" id="{E8CB1924-0EFA-B361-CE5A-141EE6C7D74C}"/>
              </a:ext>
            </a:extLst>
          </p:cNvPr>
          <p:cNvSpPr>
            <a:spLocks noGrp="1"/>
          </p:cNvSpPr>
          <p:nvPr>
            <p:ph idx="1"/>
          </p:nvPr>
        </p:nvSpPr>
        <p:spPr>
          <a:xfrm>
            <a:off x="4970835" y="3998019"/>
            <a:ext cx="6382966" cy="2216512"/>
          </a:xfrm>
        </p:spPr>
        <p:txBody>
          <a:bodyPr>
            <a:normAutofit/>
          </a:bodyPr>
          <a:lstStyle/>
          <a:p>
            <a:r>
              <a:rPr lang="en-US" dirty="0"/>
              <a:t>To demonstrate the FAT date consider a value of 0x5361. This value is converted as follows: </a:t>
            </a:r>
            <a:br>
              <a:rPr lang="en-US" dirty="0"/>
            </a:br>
            <a:endParaRPr lang="en-MY" dirty="0"/>
          </a:p>
        </p:txBody>
      </p:sp>
    </p:spTree>
    <p:extLst>
      <p:ext uri="{BB962C8B-B14F-4D97-AF65-F5344CB8AC3E}">
        <p14:creationId xmlns:p14="http://schemas.microsoft.com/office/powerpoint/2010/main" val="1717645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88C19-5D53-43F0-77FD-EBB1BD466765}"/>
              </a:ext>
            </a:extLst>
          </p:cNvPr>
          <p:cNvSpPr>
            <a:spLocks noGrp="1"/>
          </p:cNvSpPr>
          <p:nvPr>
            <p:ph type="title"/>
          </p:nvPr>
        </p:nvSpPr>
        <p:spPr/>
        <p:txBody>
          <a:bodyPr/>
          <a:lstStyle/>
          <a:p>
            <a:r>
              <a:rPr lang="en-MY" dirty="0"/>
              <a:t>FAT time</a:t>
            </a:r>
          </a:p>
        </p:txBody>
      </p:sp>
      <p:sp>
        <p:nvSpPr>
          <p:cNvPr id="3" name="Content Placeholder 2">
            <a:extLst>
              <a:ext uri="{FF2B5EF4-FFF2-40B4-BE49-F238E27FC236}">
                <a16:creationId xmlns:a16="http://schemas.microsoft.com/office/drawing/2014/main" id="{F6E994F3-2C6D-C8EA-2B5A-AE952E29B34A}"/>
              </a:ext>
            </a:extLst>
          </p:cNvPr>
          <p:cNvSpPr>
            <a:spLocks noGrp="1"/>
          </p:cNvSpPr>
          <p:nvPr>
            <p:ph idx="1"/>
          </p:nvPr>
        </p:nvSpPr>
        <p:spPr/>
        <p:txBody>
          <a:bodyPr>
            <a:normAutofit lnSpcReduction="10000"/>
          </a:bodyPr>
          <a:lstStyle/>
          <a:p>
            <a:r>
              <a:rPr lang="en-US" dirty="0"/>
              <a:t>The FAT time uses the same method of storage </a:t>
            </a:r>
          </a:p>
          <a:p>
            <a:r>
              <a:rPr lang="en-US" dirty="0"/>
              <a:t>Here the five most significant bits represent the hour while the next six </a:t>
            </a:r>
            <a:r>
              <a:rPr lang="en-MY" dirty="0"/>
              <a:t>bits represent minutes. </a:t>
            </a:r>
          </a:p>
          <a:p>
            <a:r>
              <a:rPr lang="en-US" dirty="0"/>
              <a:t>This leaves five bits to represent the seconds; however, this only provides 25 = 32 </a:t>
            </a:r>
            <a:r>
              <a:rPr lang="en-US" i="1" dirty="0"/>
              <a:t>d </a:t>
            </a:r>
            <a:r>
              <a:rPr lang="en-US" dirty="0"/>
              <a:t>possible values. As this is not sufficiently large to represent 60</a:t>
            </a:r>
            <a:r>
              <a:rPr lang="en-US" i="1" dirty="0"/>
              <a:t>d </a:t>
            </a:r>
            <a:r>
              <a:rPr lang="en-US" dirty="0"/>
              <a:t>seconds, the FAT time actually records seconds divided by two! </a:t>
            </a:r>
            <a:br>
              <a:rPr lang="en-US" dirty="0"/>
            </a:br>
            <a:br>
              <a:rPr lang="en-US" dirty="0"/>
            </a:br>
            <a:br>
              <a:rPr lang="en-MY" dirty="0"/>
            </a:br>
            <a:br>
              <a:rPr lang="en-US" dirty="0"/>
            </a:br>
            <a:endParaRPr lang="en-MY" dirty="0"/>
          </a:p>
        </p:txBody>
      </p:sp>
      <p:pic>
        <p:nvPicPr>
          <p:cNvPr id="5" name="Picture 4">
            <a:extLst>
              <a:ext uri="{FF2B5EF4-FFF2-40B4-BE49-F238E27FC236}">
                <a16:creationId xmlns:a16="http://schemas.microsoft.com/office/drawing/2014/main" id="{96EB419D-4CE8-7BDF-3982-1C10BC5DBF0A}"/>
              </a:ext>
            </a:extLst>
          </p:cNvPr>
          <p:cNvPicPr>
            <a:picLocks noChangeAspect="1"/>
          </p:cNvPicPr>
          <p:nvPr/>
        </p:nvPicPr>
        <p:blipFill>
          <a:blip r:embed="rId2"/>
          <a:stretch>
            <a:fillRect/>
          </a:stretch>
        </p:blipFill>
        <p:spPr>
          <a:xfrm>
            <a:off x="7333008" y="356269"/>
            <a:ext cx="4506066" cy="1401887"/>
          </a:xfrm>
          <a:prstGeom prst="rect">
            <a:avLst/>
          </a:prstGeom>
        </p:spPr>
      </p:pic>
    </p:spTree>
    <p:extLst>
      <p:ext uri="{BB962C8B-B14F-4D97-AF65-F5344CB8AC3E}">
        <p14:creationId xmlns:p14="http://schemas.microsoft.com/office/powerpoint/2010/main" val="3952358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8D1BB0-52BB-78E0-A826-A35FB6EA835D}"/>
              </a:ext>
            </a:extLst>
          </p:cNvPr>
          <p:cNvSpPr>
            <a:spLocks noGrp="1"/>
          </p:cNvSpPr>
          <p:nvPr>
            <p:ph idx="1"/>
          </p:nvPr>
        </p:nvSpPr>
        <p:spPr>
          <a:xfrm>
            <a:off x="838199" y="660704"/>
            <a:ext cx="10515600" cy="4351338"/>
          </a:xfrm>
        </p:spPr>
        <p:txBody>
          <a:bodyPr/>
          <a:lstStyle/>
          <a:p>
            <a:r>
              <a:rPr lang="en-US" dirty="0"/>
              <a:t>Consider a recovered FAT Time value of 0x5DC5. </a:t>
            </a:r>
          </a:p>
          <a:p>
            <a:r>
              <a:rPr lang="en-US" dirty="0"/>
              <a:t>Using the same method as shown for FAT date, this value is converted to a human-readable form. </a:t>
            </a:r>
            <a:br>
              <a:rPr lang="en-US" dirty="0"/>
            </a:br>
            <a:endParaRPr lang="en-MY" dirty="0"/>
          </a:p>
        </p:txBody>
      </p:sp>
      <p:pic>
        <p:nvPicPr>
          <p:cNvPr id="5" name="Picture 4">
            <a:extLst>
              <a:ext uri="{FF2B5EF4-FFF2-40B4-BE49-F238E27FC236}">
                <a16:creationId xmlns:a16="http://schemas.microsoft.com/office/drawing/2014/main" id="{4AD8765D-4ADE-5F30-3961-703D97AE4418}"/>
              </a:ext>
            </a:extLst>
          </p:cNvPr>
          <p:cNvPicPr>
            <a:picLocks noChangeAspect="1"/>
          </p:cNvPicPr>
          <p:nvPr/>
        </p:nvPicPr>
        <p:blipFill>
          <a:blip r:embed="rId3"/>
          <a:stretch>
            <a:fillRect/>
          </a:stretch>
        </p:blipFill>
        <p:spPr>
          <a:xfrm>
            <a:off x="2974378" y="2239028"/>
            <a:ext cx="6243241" cy="2611113"/>
          </a:xfrm>
          <a:prstGeom prst="rect">
            <a:avLst/>
          </a:prstGeom>
        </p:spPr>
      </p:pic>
    </p:spTree>
    <p:extLst>
      <p:ext uri="{BB962C8B-B14F-4D97-AF65-F5344CB8AC3E}">
        <p14:creationId xmlns:p14="http://schemas.microsoft.com/office/powerpoint/2010/main" val="34235728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1892BB-5945-5FEE-0AC4-2C1C9C663032}"/>
              </a:ext>
            </a:extLst>
          </p:cNvPr>
          <p:cNvSpPr>
            <a:spLocks noGrp="1"/>
          </p:cNvSpPr>
          <p:nvPr>
            <p:ph type="title"/>
          </p:nvPr>
        </p:nvSpPr>
        <p:spPr>
          <a:xfrm>
            <a:off x="838200" y="556995"/>
            <a:ext cx="10515600" cy="1133693"/>
          </a:xfrm>
        </p:spPr>
        <p:txBody>
          <a:bodyPr>
            <a:normAutofit/>
          </a:bodyPr>
          <a:lstStyle/>
          <a:p>
            <a:r>
              <a:rPr lang="en-MY" sz="5200"/>
              <a:t>Mapping Cluster to Sector</a:t>
            </a:r>
          </a:p>
        </p:txBody>
      </p:sp>
      <p:graphicFrame>
        <p:nvGraphicFramePr>
          <p:cNvPr id="4" name="Content Placeholder 3">
            <a:extLst>
              <a:ext uri="{FF2B5EF4-FFF2-40B4-BE49-F238E27FC236}">
                <a16:creationId xmlns:a16="http://schemas.microsoft.com/office/drawing/2014/main" id="{C6BE06B5-BA27-E772-F3AB-99A3FABEAB63}"/>
              </a:ext>
            </a:extLst>
          </p:cNvPr>
          <p:cNvGraphicFramePr>
            <a:graphicFrameLocks noGrp="1"/>
          </p:cNvGraphicFramePr>
          <p:nvPr>
            <p:ph idx="1"/>
            <p:extLst>
              <p:ext uri="{D42A27DB-BD31-4B8C-83A1-F6EECF244321}">
                <p14:modId xmlns:p14="http://schemas.microsoft.com/office/powerpoint/2010/main" val="3337836456"/>
              </p:ext>
            </p:extLst>
          </p:nvPr>
        </p:nvGraphicFramePr>
        <p:xfrm>
          <a:off x="838200" y="2150945"/>
          <a:ext cx="10515601" cy="3700702"/>
        </p:xfrm>
        <a:graphic>
          <a:graphicData uri="http://schemas.openxmlformats.org/drawingml/2006/table">
            <a:tbl>
              <a:tblPr/>
              <a:tblGrid>
                <a:gridCol w="2584247">
                  <a:extLst>
                    <a:ext uri="{9D8B030D-6E8A-4147-A177-3AD203B41FA5}">
                      <a16:colId xmlns:a16="http://schemas.microsoft.com/office/drawing/2014/main" val="1071132033"/>
                    </a:ext>
                  </a:extLst>
                </a:gridCol>
                <a:gridCol w="3941553">
                  <a:extLst>
                    <a:ext uri="{9D8B030D-6E8A-4147-A177-3AD203B41FA5}">
                      <a16:colId xmlns:a16="http://schemas.microsoft.com/office/drawing/2014/main" val="445141911"/>
                    </a:ext>
                  </a:extLst>
                </a:gridCol>
                <a:gridCol w="3989801">
                  <a:extLst>
                    <a:ext uri="{9D8B030D-6E8A-4147-A177-3AD203B41FA5}">
                      <a16:colId xmlns:a16="http://schemas.microsoft.com/office/drawing/2014/main" val="1648288851"/>
                    </a:ext>
                  </a:extLst>
                </a:gridCol>
              </a:tblGrid>
              <a:tr h="355526">
                <a:tc>
                  <a:txBody>
                    <a:bodyPr/>
                    <a:lstStyle/>
                    <a:p>
                      <a:pPr algn="l" fontAlgn="ctr">
                        <a:buNone/>
                      </a:pPr>
                      <a:r>
                        <a:rPr lang="en-MY" sz="1600" b="0" i="0" u="none" strike="noStrike">
                          <a:effectLst/>
                          <a:latin typeface="Arial" panose="020B0604020202020204" pitchFamily="34" charset="0"/>
                        </a:rPr>
                        <a:t>Symbol</a:t>
                      </a:r>
                    </a:p>
                  </a:txBody>
                  <a:tcPr marL="80801" marR="80801" marT="40401" marB="40401" anchor="ctr">
                    <a:lnL>
                      <a:noFill/>
                    </a:lnL>
                    <a:lnR>
                      <a:noFill/>
                    </a:lnR>
                    <a:lnT>
                      <a:noFill/>
                    </a:lnT>
                    <a:lnB>
                      <a:noFill/>
                    </a:lnB>
                    <a:noFill/>
                  </a:tcPr>
                </a:tc>
                <a:tc>
                  <a:txBody>
                    <a:bodyPr/>
                    <a:lstStyle/>
                    <a:p>
                      <a:pPr algn="l" fontAlgn="ctr">
                        <a:buNone/>
                      </a:pPr>
                      <a:r>
                        <a:rPr lang="en-MY" sz="1600" b="0" i="0" u="none" strike="noStrike">
                          <a:effectLst/>
                          <a:latin typeface="Arial" panose="020B0604020202020204" pitchFamily="34" charset="0"/>
                        </a:rPr>
                        <a:t>Meaning</a:t>
                      </a:r>
                    </a:p>
                  </a:txBody>
                  <a:tcPr marL="80801" marR="80801" marT="40401" marB="40401" anchor="ctr">
                    <a:lnL>
                      <a:noFill/>
                    </a:lnL>
                    <a:lnR>
                      <a:noFill/>
                    </a:lnR>
                    <a:lnT>
                      <a:noFill/>
                    </a:lnT>
                    <a:lnB>
                      <a:noFill/>
                    </a:lnB>
                    <a:noFill/>
                  </a:tcPr>
                </a:tc>
                <a:tc>
                  <a:txBody>
                    <a:bodyPr/>
                    <a:lstStyle/>
                    <a:p>
                      <a:pPr algn="l" fontAlgn="ctr">
                        <a:buNone/>
                      </a:pPr>
                      <a:r>
                        <a:rPr lang="en-MY" sz="1600" b="0" i="0" u="none" strike="noStrike">
                          <a:effectLst/>
                          <a:latin typeface="Arial" panose="020B0604020202020204" pitchFamily="34" charset="0"/>
                        </a:rPr>
                        <a:t>In plain English</a:t>
                      </a:r>
                    </a:p>
                  </a:txBody>
                  <a:tcPr marL="80801" marR="80801" marT="40401" marB="40401" anchor="ctr">
                    <a:lnL>
                      <a:noFill/>
                    </a:lnL>
                    <a:lnR>
                      <a:noFill/>
                    </a:lnR>
                    <a:lnT>
                      <a:noFill/>
                    </a:lnT>
                    <a:lnB>
                      <a:noFill/>
                    </a:lnB>
                    <a:noFill/>
                  </a:tcPr>
                </a:tc>
                <a:extLst>
                  <a:ext uri="{0D108BD9-81ED-4DB2-BD59-A6C34878D82A}">
                    <a16:rowId xmlns:a16="http://schemas.microsoft.com/office/drawing/2014/main" val="1531398476"/>
                  </a:ext>
                </a:extLst>
              </a:tr>
              <a:tr h="597930">
                <a:tc>
                  <a:txBody>
                    <a:bodyPr/>
                    <a:lstStyle/>
                    <a:p>
                      <a:pPr algn="l" fontAlgn="ctr">
                        <a:buNone/>
                      </a:pPr>
                      <a:r>
                        <a:rPr lang="en-MY" sz="1600" b="0" i="0" u="none" strike="noStrike">
                          <a:effectLst/>
                          <a:latin typeface="Courier New" panose="02070309020205020404" pitchFamily="49" charset="0"/>
                        </a:rPr>
                        <a:t>S#</a:t>
                      </a:r>
                      <a:endParaRPr lang="en-MY" sz="1600" b="0" i="0" u="none" strike="noStrike">
                        <a:effectLst/>
                        <a:latin typeface="Arial" panose="020B0604020202020204" pitchFamily="34" charset="0"/>
                      </a:endParaRPr>
                    </a:p>
                  </a:txBody>
                  <a:tcPr marL="80801" marR="80801" marT="40401" marB="40401" anchor="ctr">
                    <a:lnL>
                      <a:noFill/>
                    </a:lnL>
                    <a:lnR>
                      <a:noFill/>
                    </a:lnR>
                    <a:lnT>
                      <a:noFill/>
                    </a:lnT>
                    <a:lnB>
                      <a:noFill/>
                    </a:lnB>
                    <a:noFill/>
                  </a:tcPr>
                </a:tc>
                <a:tc>
                  <a:txBody>
                    <a:bodyPr/>
                    <a:lstStyle/>
                    <a:p>
                      <a:pPr algn="l" fontAlgn="ctr">
                        <a:buNone/>
                      </a:pPr>
                      <a:r>
                        <a:rPr lang="en-MY" sz="1600" b="1" i="0" u="none" strike="noStrike">
                          <a:effectLst/>
                          <a:latin typeface="Arial" panose="020B0604020202020204" pitchFamily="34" charset="0"/>
                        </a:rPr>
                        <a:t>Sector number</a:t>
                      </a:r>
                      <a:endParaRPr lang="en-MY" sz="1600" b="0" i="0" u="none" strike="noStrike">
                        <a:effectLst/>
                        <a:latin typeface="Arial" panose="020B0604020202020204" pitchFamily="34" charset="0"/>
                      </a:endParaRPr>
                    </a:p>
                  </a:txBody>
                  <a:tcPr marL="80801" marR="80801" marT="40401" marB="40401" anchor="ctr">
                    <a:lnL>
                      <a:noFill/>
                    </a:lnL>
                    <a:lnR>
                      <a:noFill/>
                    </a:lnR>
                    <a:lnT>
                      <a:noFill/>
                    </a:lnT>
                    <a:lnB>
                      <a:noFill/>
                    </a:lnB>
                    <a:noFill/>
                  </a:tcPr>
                </a:tc>
                <a:tc>
                  <a:txBody>
                    <a:bodyPr/>
                    <a:lstStyle/>
                    <a:p>
                      <a:pPr algn="l" fontAlgn="ctr">
                        <a:buNone/>
                      </a:pPr>
                      <a:r>
                        <a:rPr lang="en-US" sz="1600" b="0" i="0" u="none" strike="noStrike">
                          <a:effectLst/>
                          <a:latin typeface="Arial" panose="020B0604020202020204" pitchFamily="34" charset="0"/>
                        </a:rPr>
                        <a:t>The physical sector on the disk where your cluster begins</a:t>
                      </a:r>
                    </a:p>
                  </a:txBody>
                  <a:tcPr marL="80801" marR="80801" marT="40401" marB="40401" anchor="ctr">
                    <a:lnL>
                      <a:noFill/>
                    </a:lnL>
                    <a:lnR>
                      <a:noFill/>
                    </a:lnR>
                    <a:lnT>
                      <a:noFill/>
                    </a:lnT>
                    <a:lnB>
                      <a:noFill/>
                    </a:lnB>
                    <a:noFill/>
                  </a:tcPr>
                </a:tc>
                <a:extLst>
                  <a:ext uri="{0D108BD9-81ED-4DB2-BD59-A6C34878D82A}">
                    <a16:rowId xmlns:a16="http://schemas.microsoft.com/office/drawing/2014/main" val="2622266329"/>
                  </a:ext>
                </a:extLst>
              </a:tr>
              <a:tr h="597930">
                <a:tc>
                  <a:txBody>
                    <a:bodyPr/>
                    <a:lstStyle/>
                    <a:p>
                      <a:pPr algn="l" fontAlgn="ctr">
                        <a:buNone/>
                      </a:pPr>
                      <a:r>
                        <a:rPr lang="en-MY" sz="1600" b="0" i="0" u="none" strike="noStrike">
                          <a:effectLst/>
                          <a:latin typeface="Courier New" panose="02070309020205020404" pitchFamily="49" charset="0"/>
                        </a:rPr>
                        <a:t>C#</a:t>
                      </a:r>
                      <a:endParaRPr lang="en-MY" sz="1600" b="0" i="0" u="none" strike="noStrike">
                        <a:effectLst/>
                        <a:latin typeface="Arial" panose="020B0604020202020204" pitchFamily="34" charset="0"/>
                      </a:endParaRPr>
                    </a:p>
                  </a:txBody>
                  <a:tcPr marL="80801" marR="80801" marT="40401" marB="40401" anchor="ctr">
                    <a:lnL>
                      <a:noFill/>
                    </a:lnL>
                    <a:lnR>
                      <a:noFill/>
                    </a:lnR>
                    <a:lnT>
                      <a:noFill/>
                    </a:lnT>
                    <a:lnB>
                      <a:noFill/>
                    </a:lnB>
                    <a:noFill/>
                  </a:tcPr>
                </a:tc>
                <a:tc>
                  <a:txBody>
                    <a:bodyPr/>
                    <a:lstStyle/>
                    <a:p>
                      <a:pPr algn="l" fontAlgn="ctr">
                        <a:buNone/>
                      </a:pPr>
                      <a:r>
                        <a:rPr lang="en-MY" sz="1600" b="1" i="0" u="none" strike="noStrike">
                          <a:effectLst/>
                          <a:latin typeface="Arial" panose="020B0604020202020204" pitchFamily="34" charset="0"/>
                        </a:rPr>
                        <a:t>Cluster number</a:t>
                      </a:r>
                      <a:endParaRPr lang="en-MY" sz="1600" b="0" i="0" u="none" strike="noStrike">
                        <a:effectLst/>
                        <a:latin typeface="Arial" panose="020B0604020202020204" pitchFamily="34" charset="0"/>
                      </a:endParaRPr>
                    </a:p>
                  </a:txBody>
                  <a:tcPr marL="80801" marR="80801" marT="40401" marB="40401" anchor="ctr">
                    <a:lnL>
                      <a:noFill/>
                    </a:lnL>
                    <a:lnR>
                      <a:noFill/>
                    </a:lnR>
                    <a:lnT>
                      <a:noFill/>
                    </a:lnT>
                    <a:lnB>
                      <a:noFill/>
                    </a:lnB>
                    <a:noFill/>
                  </a:tcPr>
                </a:tc>
                <a:tc>
                  <a:txBody>
                    <a:bodyPr/>
                    <a:lstStyle/>
                    <a:p>
                      <a:pPr algn="l" fontAlgn="ctr">
                        <a:buNone/>
                      </a:pPr>
                      <a:r>
                        <a:rPr lang="en-US" sz="1600" b="0" i="0" u="none" strike="noStrike">
                          <a:effectLst/>
                          <a:latin typeface="Arial" panose="020B0604020202020204" pitchFamily="34" charset="0"/>
                        </a:rPr>
                        <a:t>The cluster you want to find (e.g., cluster 5)</a:t>
                      </a:r>
                    </a:p>
                  </a:txBody>
                  <a:tcPr marL="80801" marR="80801" marT="40401" marB="40401" anchor="ctr">
                    <a:lnL>
                      <a:noFill/>
                    </a:lnL>
                    <a:lnR>
                      <a:noFill/>
                    </a:lnR>
                    <a:lnT>
                      <a:noFill/>
                    </a:lnT>
                    <a:lnB>
                      <a:noFill/>
                    </a:lnB>
                    <a:noFill/>
                  </a:tcPr>
                </a:tc>
                <a:extLst>
                  <a:ext uri="{0D108BD9-81ED-4DB2-BD59-A6C34878D82A}">
                    <a16:rowId xmlns:a16="http://schemas.microsoft.com/office/drawing/2014/main" val="747721733"/>
                  </a:ext>
                </a:extLst>
              </a:tr>
              <a:tr h="597930">
                <a:tc>
                  <a:txBody>
                    <a:bodyPr/>
                    <a:lstStyle/>
                    <a:p>
                      <a:pPr algn="l" fontAlgn="ctr">
                        <a:buNone/>
                      </a:pPr>
                      <a:r>
                        <a:rPr lang="en-MY" sz="1600" b="0" i="0" u="none" strike="noStrike">
                          <a:effectLst/>
                          <a:latin typeface="Courier New" panose="02070309020205020404" pitchFamily="49" charset="0"/>
                        </a:rPr>
                        <a:t>CSize</a:t>
                      </a:r>
                      <a:endParaRPr lang="en-MY" sz="1600" b="0" i="0" u="none" strike="noStrike">
                        <a:effectLst/>
                        <a:latin typeface="Arial" panose="020B0604020202020204" pitchFamily="34" charset="0"/>
                      </a:endParaRPr>
                    </a:p>
                  </a:txBody>
                  <a:tcPr marL="80801" marR="80801" marT="40401" marB="40401" anchor="ctr">
                    <a:lnL>
                      <a:noFill/>
                    </a:lnL>
                    <a:lnR>
                      <a:noFill/>
                    </a:lnR>
                    <a:lnT>
                      <a:noFill/>
                    </a:lnT>
                    <a:lnB>
                      <a:noFill/>
                    </a:lnB>
                    <a:noFill/>
                  </a:tcPr>
                </a:tc>
                <a:tc>
                  <a:txBody>
                    <a:bodyPr/>
                    <a:lstStyle/>
                    <a:p>
                      <a:pPr algn="l" fontAlgn="ctr">
                        <a:buNone/>
                      </a:pPr>
                      <a:r>
                        <a:rPr lang="en-MY" sz="1600" b="1" i="0" u="none" strike="noStrike">
                          <a:effectLst/>
                          <a:latin typeface="Arial" panose="020B0604020202020204" pitchFamily="34" charset="0"/>
                        </a:rPr>
                        <a:t>Cluster size</a:t>
                      </a:r>
                      <a:endParaRPr lang="en-MY" sz="1600" b="0" i="0" u="none" strike="noStrike">
                        <a:effectLst/>
                        <a:latin typeface="Arial" panose="020B0604020202020204" pitchFamily="34" charset="0"/>
                      </a:endParaRPr>
                    </a:p>
                  </a:txBody>
                  <a:tcPr marL="80801" marR="80801" marT="40401" marB="40401" anchor="ctr">
                    <a:lnL>
                      <a:noFill/>
                    </a:lnL>
                    <a:lnR>
                      <a:noFill/>
                    </a:lnR>
                    <a:lnT>
                      <a:noFill/>
                    </a:lnT>
                    <a:lnB>
                      <a:noFill/>
                    </a:lnB>
                    <a:noFill/>
                  </a:tcPr>
                </a:tc>
                <a:tc>
                  <a:txBody>
                    <a:bodyPr/>
                    <a:lstStyle/>
                    <a:p>
                      <a:pPr algn="l" fontAlgn="ctr">
                        <a:buNone/>
                      </a:pPr>
                      <a:r>
                        <a:rPr lang="en-US" sz="1600" b="0" i="0" u="none" strike="noStrike">
                          <a:effectLst/>
                          <a:latin typeface="Arial" panose="020B0604020202020204" pitchFamily="34" charset="0"/>
                        </a:rPr>
                        <a:t>How many sectors are inside each cluster (from the boot sector)</a:t>
                      </a:r>
                    </a:p>
                  </a:txBody>
                  <a:tcPr marL="80801" marR="80801" marT="40401" marB="40401" anchor="ctr">
                    <a:lnL>
                      <a:noFill/>
                    </a:lnL>
                    <a:lnR>
                      <a:noFill/>
                    </a:lnR>
                    <a:lnT>
                      <a:noFill/>
                    </a:lnT>
                    <a:lnB>
                      <a:noFill/>
                    </a:lnB>
                    <a:noFill/>
                  </a:tcPr>
                </a:tc>
                <a:extLst>
                  <a:ext uri="{0D108BD9-81ED-4DB2-BD59-A6C34878D82A}">
                    <a16:rowId xmlns:a16="http://schemas.microsoft.com/office/drawing/2014/main" val="4124264322"/>
                  </a:ext>
                </a:extLst>
              </a:tr>
              <a:tr h="597930">
                <a:tc>
                  <a:txBody>
                    <a:bodyPr/>
                    <a:lstStyle/>
                    <a:p>
                      <a:pPr algn="l" fontAlgn="ctr">
                        <a:buNone/>
                      </a:pPr>
                      <a:r>
                        <a:rPr lang="en-MY" sz="1600" b="0" i="0" u="none" strike="noStrike">
                          <a:effectLst/>
                          <a:latin typeface="Courier New" panose="02070309020205020404" pitchFamily="49" charset="0"/>
                        </a:rPr>
                        <a:t>RSize</a:t>
                      </a:r>
                      <a:endParaRPr lang="en-MY" sz="1600" b="0" i="0" u="none" strike="noStrike">
                        <a:effectLst/>
                        <a:latin typeface="Arial" panose="020B0604020202020204" pitchFamily="34" charset="0"/>
                      </a:endParaRPr>
                    </a:p>
                  </a:txBody>
                  <a:tcPr marL="80801" marR="80801" marT="40401" marB="40401" anchor="ctr">
                    <a:lnL>
                      <a:noFill/>
                    </a:lnL>
                    <a:lnR>
                      <a:noFill/>
                    </a:lnR>
                    <a:lnT>
                      <a:noFill/>
                    </a:lnT>
                    <a:lnB>
                      <a:noFill/>
                    </a:lnB>
                    <a:noFill/>
                  </a:tcPr>
                </a:tc>
                <a:tc>
                  <a:txBody>
                    <a:bodyPr/>
                    <a:lstStyle/>
                    <a:p>
                      <a:pPr algn="l" fontAlgn="ctr">
                        <a:buNone/>
                      </a:pPr>
                      <a:r>
                        <a:rPr lang="en-MY" sz="1600" b="1" i="0" u="none" strike="noStrike">
                          <a:effectLst/>
                          <a:latin typeface="Arial" panose="020B0604020202020204" pitchFamily="34" charset="0"/>
                        </a:rPr>
                        <a:t>Reserved area size</a:t>
                      </a:r>
                      <a:endParaRPr lang="en-MY" sz="1600" b="0" i="0" u="none" strike="noStrike">
                        <a:effectLst/>
                        <a:latin typeface="Arial" panose="020B0604020202020204" pitchFamily="34" charset="0"/>
                      </a:endParaRPr>
                    </a:p>
                  </a:txBody>
                  <a:tcPr marL="80801" marR="80801" marT="40401" marB="40401" anchor="ctr">
                    <a:lnL>
                      <a:noFill/>
                    </a:lnL>
                    <a:lnR>
                      <a:noFill/>
                    </a:lnR>
                    <a:lnT>
                      <a:noFill/>
                    </a:lnT>
                    <a:lnB>
                      <a:noFill/>
                    </a:lnB>
                    <a:noFill/>
                  </a:tcPr>
                </a:tc>
                <a:tc>
                  <a:txBody>
                    <a:bodyPr/>
                    <a:lstStyle/>
                    <a:p>
                      <a:pPr algn="l" fontAlgn="ctr">
                        <a:buNone/>
                      </a:pPr>
                      <a:r>
                        <a:rPr lang="en-US" sz="1600" b="0" i="0" u="none" strike="noStrike">
                          <a:effectLst/>
                          <a:latin typeface="Arial" panose="020B0604020202020204" pitchFamily="34" charset="0"/>
                        </a:rPr>
                        <a:t>How many sectors are used by the reserved area (like boot records)</a:t>
                      </a:r>
                    </a:p>
                  </a:txBody>
                  <a:tcPr marL="80801" marR="80801" marT="40401" marB="40401" anchor="ctr">
                    <a:lnL>
                      <a:noFill/>
                    </a:lnL>
                    <a:lnR>
                      <a:noFill/>
                    </a:lnR>
                    <a:lnT>
                      <a:noFill/>
                    </a:lnT>
                    <a:lnB>
                      <a:noFill/>
                    </a:lnB>
                    <a:noFill/>
                  </a:tcPr>
                </a:tc>
                <a:extLst>
                  <a:ext uri="{0D108BD9-81ED-4DB2-BD59-A6C34878D82A}">
                    <a16:rowId xmlns:a16="http://schemas.microsoft.com/office/drawing/2014/main" val="3374195574"/>
                  </a:ext>
                </a:extLst>
              </a:tr>
              <a:tr h="597930">
                <a:tc>
                  <a:txBody>
                    <a:bodyPr/>
                    <a:lstStyle/>
                    <a:p>
                      <a:pPr algn="l" fontAlgn="ctr">
                        <a:buNone/>
                      </a:pPr>
                      <a:r>
                        <a:rPr lang="en-MY" sz="1600" b="0" i="0" u="none" strike="noStrike">
                          <a:effectLst/>
                          <a:latin typeface="Courier New" panose="02070309020205020404" pitchFamily="49" charset="0"/>
                        </a:rPr>
                        <a:t>FAT#</a:t>
                      </a:r>
                      <a:endParaRPr lang="en-MY" sz="1600" b="0" i="0" u="none" strike="noStrike">
                        <a:effectLst/>
                        <a:latin typeface="Arial" panose="020B0604020202020204" pitchFamily="34" charset="0"/>
                      </a:endParaRPr>
                    </a:p>
                  </a:txBody>
                  <a:tcPr marL="80801" marR="80801" marT="40401" marB="40401" anchor="ctr">
                    <a:lnL>
                      <a:noFill/>
                    </a:lnL>
                    <a:lnR>
                      <a:noFill/>
                    </a:lnR>
                    <a:lnT>
                      <a:noFill/>
                    </a:lnT>
                    <a:lnB>
                      <a:noFill/>
                    </a:lnB>
                    <a:noFill/>
                  </a:tcPr>
                </a:tc>
                <a:tc>
                  <a:txBody>
                    <a:bodyPr/>
                    <a:lstStyle/>
                    <a:p>
                      <a:pPr algn="l" fontAlgn="ctr">
                        <a:buNone/>
                      </a:pPr>
                      <a:r>
                        <a:rPr lang="en-MY" sz="1600" b="1" i="0" u="none" strike="noStrike">
                          <a:effectLst/>
                          <a:latin typeface="Arial" panose="020B0604020202020204" pitchFamily="34" charset="0"/>
                        </a:rPr>
                        <a:t>Number of FATs</a:t>
                      </a:r>
                      <a:endParaRPr lang="en-MY" sz="1600" b="0" i="0" u="none" strike="noStrike">
                        <a:effectLst/>
                        <a:latin typeface="Arial" panose="020B0604020202020204" pitchFamily="34" charset="0"/>
                      </a:endParaRPr>
                    </a:p>
                  </a:txBody>
                  <a:tcPr marL="80801" marR="80801" marT="40401" marB="40401" anchor="ctr">
                    <a:lnL>
                      <a:noFill/>
                    </a:lnL>
                    <a:lnR>
                      <a:noFill/>
                    </a:lnR>
                    <a:lnT>
                      <a:noFill/>
                    </a:lnT>
                    <a:lnB>
                      <a:noFill/>
                    </a:lnB>
                    <a:noFill/>
                  </a:tcPr>
                </a:tc>
                <a:tc>
                  <a:txBody>
                    <a:bodyPr/>
                    <a:lstStyle/>
                    <a:p>
                      <a:pPr algn="l" fontAlgn="ctr">
                        <a:buNone/>
                      </a:pPr>
                      <a:r>
                        <a:rPr lang="en-US" sz="1600" b="0" i="0" u="none" strike="noStrike">
                          <a:effectLst/>
                          <a:latin typeface="Arial" panose="020B0604020202020204" pitchFamily="34" charset="0"/>
                        </a:rPr>
                        <a:t>Usually 2 — means two copies of the FAT are stored</a:t>
                      </a:r>
                    </a:p>
                  </a:txBody>
                  <a:tcPr marL="80801" marR="80801" marT="40401" marB="40401" anchor="ctr">
                    <a:lnL>
                      <a:noFill/>
                    </a:lnL>
                    <a:lnR>
                      <a:noFill/>
                    </a:lnR>
                    <a:lnT>
                      <a:noFill/>
                    </a:lnT>
                    <a:lnB>
                      <a:noFill/>
                    </a:lnB>
                    <a:noFill/>
                  </a:tcPr>
                </a:tc>
                <a:extLst>
                  <a:ext uri="{0D108BD9-81ED-4DB2-BD59-A6C34878D82A}">
                    <a16:rowId xmlns:a16="http://schemas.microsoft.com/office/drawing/2014/main" val="4011486630"/>
                  </a:ext>
                </a:extLst>
              </a:tr>
              <a:tr h="355526">
                <a:tc>
                  <a:txBody>
                    <a:bodyPr/>
                    <a:lstStyle/>
                    <a:p>
                      <a:pPr algn="l" fontAlgn="ctr">
                        <a:buNone/>
                      </a:pPr>
                      <a:r>
                        <a:rPr lang="en-MY" sz="1600" b="0" i="0" u="none" strike="noStrike">
                          <a:effectLst/>
                          <a:latin typeface="Courier New" panose="02070309020205020404" pitchFamily="49" charset="0"/>
                        </a:rPr>
                        <a:t>FATSize</a:t>
                      </a:r>
                      <a:endParaRPr lang="en-MY" sz="1600" b="0" i="0" u="none" strike="noStrike">
                        <a:effectLst/>
                        <a:latin typeface="Arial" panose="020B0604020202020204" pitchFamily="34" charset="0"/>
                      </a:endParaRPr>
                    </a:p>
                  </a:txBody>
                  <a:tcPr marL="80801" marR="80801" marT="40401" marB="40401" anchor="ctr">
                    <a:lnL>
                      <a:noFill/>
                    </a:lnL>
                    <a:lnR>
                      <a:noFill/>
                    </a:lnR>
                    <a:lnT>
                      <a:noFill/>
                    </a:lnT>
                    <a:lnB>
                      <a:noFill/>
                    </a:lnB>
                    <a:noFill/>
                  </a:tcPr>
                </a:tc>
                <a:tc>
                  <a:txBody>
                    <a:bodyPr/>
                    <a:lstStyle/>
                    <a:p>
                      <a:pPr algn="l" fontAlgn="ctr">
                        <a:buNone/>
                      </a:pPr>
                      <a:r>
                        <a:rPr lang="en-MY" sz="1600" b="1" i="0" u="none" strike="noStrike">
                          <a:effectLst/>
                          <a:latin typeface="Arial" panose="020B0604020202020204" pitchFamily="34" charset="0"/>
                        </a:rPr>
                        <a:t>Size of each FAT</a:t>
                      </a:r>
                      <a:endParaRPr lang="en-MY" sz="1600" b="0" i="0" u="none" strike="noStrike">
                        <a:effectLst/>
                        <a:latin typeface="Arial" panose="020B0604020202020204" pitchFamily="34" charset="0"/>
                      </a:endParaRPr>
                    </a:p>
                  </a:txBody>
                  <a:tcPr marL="80801" marR="80801" marT="40401" marB="40401" anchor="ctr">
                    <a:lnL>
                      <a:noFill/>
                    </a:lnL>
                    <a:lnR>
                      <a:noFill/>
                    </a:lnR>
                    <a:lnT>
                      <a:noFill/>
                    </a:lnT>
                    <a:lnB>
                      <a:noFill/>
                    </a:lnB>
                    <a:noFill/>
                  </a:tcPr>
                </a:tc>
                <a:tc>
                  <a:txBody>
                    <a:bodyPr/>
                    <a:lstStyle/>
                    <a:p>
                      <a:pPr algn="l" fontAlgn="ctr">
                        <a:buNone/>
                      </a:pPr>
                      <a:r>
                        <a:rPr lang="en-US" sz="1600" b="0" i="0" u="none" strike="noStrike">
                          <a:effectLst/>
                          <a:latin typeface="Arial" panose="020B0604020202020204" pitchFamily="34" charset="0"/>
                        </a:rPr>
                        <a:t>How many sectors each FAT takes up</a:t>
                      </a:r>
                    </a:p>
                  </a:txBody>
                  <a:tcPr marL="80801" marR="80801" marT="40401" marB="40401" anchor="ctr">
                    <a:lnL>
                      <a:noFill/>
                    </a:lnL>
                    <a:lnR>
                      <a:noFill/>
                    </a:lnR>
                    <a:lnT>
                      <a:noFill/>
                    </a:lnT>
                    <a:lnB>
                      <a:noFill/>
                    </a:lnB>
                    <a:noFill/>
                  </a:tcPr>
                </a:tc>
                <a:extLst>
                  <a:ext uri="{0D108BD9-81ED-4DB2-BD59-A6C34878D82A}">
                    <a16:rowId xmlns:a16="http://schemas.microsoft.com/office/drawing/2014/main" val="3322736425"/>
                  </a:ext>
                </a:extLst>
              </a:tr>
            </a:tbl>
          </a:graphicData>
        </a:graphic>
      </p:graphicFrame>
    </p:spTree>
    <p:extLst>
      <p:ext uri="{BB962C8B-B14F-4D97-AF65-F5344CB8AC3E}">
        <p14:creationId xmlns:p14="http://schemas.microsoft.com/office/powerpoint/2010/main" val="27083422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673FFE-0C18-64F8-5772-DA2C6976D164}"/>
              </a:ext>
            </a:extLst>
          </p:cNvPr>
          <p:cNvSpPr>
            <a:spLocks noGrp="1"/>
          </p:cNvSpPr>
          <p:nvPr>
            <p:ph idx="1"/>
          </p:nvPr>
        </p:nvSpPr>
        <p:spPr>
          <a:xfrm>
            <a:off x="838200" y="685757"/>
            <a:ext cx="10515600" cy="4351338"/>
          </a:xfrm>
        </p:spPr>
        <p:txBody>
          <a:bodyPr/>
          <a:lstStyle/>
          <a:p>
            <a:r>
              <a:rPr lang="en-US" b="1" dirty="0"/>
              <a:t>What a “cluster” and “sector” mean</a:t>
            </a:r>
          </a:p>
          <a:p>
            <a:pPr lvl="1"/>
            <a:r>
              <a:rPr lang="en-US" dirty="0"/>
              <a:t>A </a:t>
            </a:r>
            <a:r>
              <a:rPr lang="en-US" b="1" dirty="0"/>
              <a:t>sector</a:t>
            </a:r>
            <a:r>
              <a:rPr lang="en-US" dirty="0"/>
              <a:t> is the smallest physical unit on a disk (usually </a:t>
            </a:r>
            <a:r>
              <a:rPr lang="en-US" b="1" dirty="0"/>
              <a:t>512 bytes</a:t>
            </a:r>
            <a:r>
              <a:rPr lang="en-US" dirty="0"/>
              <a:t>)</a:t>
            </a:r>
          </a:p>
          <a:p>
            <a:pPr lvl="1"/>
            <a:r>
              <a:rPr lang="en-US" dirty="0"/>
              <a:t>A </a:t>
            </a:r>
            <a:r>
              <a:rPr lang="en-US" b="1" dirty="0"/>
              <a:t>cluster</a:t>
            </a:r>
            <a:r>
              <a:rPr lang="en-US" dirty="0"/>
              <a:t> is a group of one or more sectors (for example, 8 sectors = 1 cluster)</a:t>
            </a:r>
          </a:p>
          <a:p>
            <a:r>
              <a:rPr lang="en-US" dirty="0"/>
              <a:t>So, when you want to find where </a:t>
            </a:r>
            <a:r>
              <a:rPr lang="en-US" i="1" dirty="0"/>
              <a:t>Cluster 5</a:t>
            </a:r>
            <a:r>
              <a:rPr lang="en-US" dirty="0"/>
              <a:t> is physically stored, you need to figure out:</a:t>
            </a:r>
          </a:p>
          <a:p>
            <a:pPr lvl="1"/>
            <a:r>
              <a:rPr lang="en-US" dirty="0"/>
              <a:t>“Which sector number on the disk does that cluster start at?”</a:t>
            </a:r>
          </a:p>
          <a:p>
            <a:endParaRPr lang="en-MY" dirty="0"/>
          </a:p>
        </p:txBody>
      </p:sp>
    </p:spTree>
    <p:extLst>
      <p:ext uri="{BB962C8B-B14F-4D97-AF65-F5344CB8AC3E}">
        <p14:creationId xmlns:p14="http://schemas.microsoft.com/office/powerpoint/2010/main" val="24709212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0A09E-8A34-66E0-6AE7-DC070E23D1A4}"/>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05F391ED-2258-6FB7-54B4-872043023C0E}"/>
              </a:ext>
            </a:extLst>
          </p:cNvPr>
          <p:cNvSpPr>
            <a:spLocks noGrp="1"/>
          </p:cNvSpPr>
          <p:nvPr>
            <p:ph idx="1"/>
          </p:nvPr>
        </p:nvSpPr>
        <p:spPr/>
        <p:txBody>
          <a:bodyPr/>
          <a:lstStyle/>
          <a:p>
            <a:r>
              <a:rPr lang="en-US" dirty="0"/>
              <a:t>The FAT file system divides the disk into </a:t>
            </a:r>
            <a:r>
              <a:rPr lang="en-US" b="1" dirty="0"/>
              <a:t>areas</a:t>
            </a:r>
            <a:r>
              <a:rPr lang="en-US" dirty="0"/>
              <a:t>:</a:t>
            </a:r>
          </a:p>
          <a:p>
            <a:pPr lvl="1"/>
            <a:r>
              <a:rPr lang="en-US" b="1" dirty="0"/>
              <a:t>Reserved area</a:t>
            </a:r>
            <a:r>
              <a:rPr lang="en-US" dirty="0"/>
              <a:t> — where the boot sector (VBR) and system info live</a:t>
            </a:r>
          </a:p>
          <a:p>
            <a:pPr lvl="1"/>
            <a:r>
              <a:rPr lang="en-US" b="1" dirty="0"/>
              <a:t>FAT area</a:t>
            </a:r>
            <a:r>
              <a:rPr lang="en-US" dirty="0"/>
              <a:t> — where the File Allocation Tables (maps of clusters) are stored</a:t>
            </a:r>
          </a:p>
          <a:p>
            <a:pPr lvl="1"/>
            <a:r>
              <a:rPr lang="en-US" b="1" dirty="0"/>
              <a:t>Data area</a:t>
            </a:r>
            <a:r>
              <a:rPr lang="en-US" dirty="0"/>
              <a:t> — where actual files and folders’ contents (clusters) are stored</a:t>
            </a:r>
          </a:p>
          <a:p>
            <a:r>
              <a:rPr lang="en-US" dirty="0"/>
              <a:t>The </a:t>
            </a:r>
            <a:r>
              <a:rPr lang="en-US" b="1" dirty="0"/>
              <a:t>data area</a:t>
            </a:r>
            <a:r>
              <a:rPr lang="en-US" dirty="0"/>
              <a:t> is where the real file content begins — that’s where clusters 2, 3, 4, etc. live.</a:t>
            </a:r>
          </a:p>
          <a:p>
            <a:endParaRPr lang="en-MY" dirty="0"/>
          </a:p>
        </p:txBody>
      </p:sp>
      <p:pic>
        <p:nvPicPr>
          <p:cNvPr id="5" name="Picture 4">
            <a:extLst>
              <a:ext uri="{FF2B5EF4-FFF2-40B4-BE49-F238E27FC236}">
                <a16:creationId xmlns:a16="http://schemas.microsoft.com/office/drawing/2014/main" id="{D236F447-E7B0-BBFA-1045-D9F7F447BE89}"/>
              </a:ext>
            </a:extLst>
          </p:cNvPr>
          <p:cNvPicPr>
            <a:picLocks noChangeAspect="1"/>
          </p:cNvPicPr>
          <p:nvPr/>
        </p:nvPicPr>
        <p:blipFill>
          <a:blip r:embed="rId2"/>
          <a:stretch>
            <a:fillRect/>
          </a:stretch>
        </p:blipFill>
        <p:spPr>
          <a:xfrm>
            <a:off x="1984185" y="681037"/>
            <a:ext cx="8543795" cy="665471"/>
          </a:xfrm>
          <a:prstGeom prst="rect">
            <a:avLst/>
          </a:prstGeom>
        </p:spPr>
      </p:pic>
    </p:spTree>
    <p:extLst>
      <p:ext uri="{BB962C8B-B14F-4D97-AF65-F5344CB8AC3E}">
        <p14:creationId xmlns:p14="http://schemas.microsoft.com/office/powerpoint/2010/main" val="7248952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F7792EC-AF04-8779-8DDE-876B96DDDD06}"/>
              </a:ext>
            </a:extLst>
          </p:cNvPr>
          <p:cNvGraphicFramePr>
            <a:graphicFrameLocks noGrp="1"/>
          </p:cNvGraphicFramePr>
          <p:nvPr>
            <p:ph idx="1"/>
            <p:extLst>
              <p:ext uri="{D42A27DB-BD31-4B8C-83A1-F6EECF244321}">
                <p14:modId xmlns:p14="http://schemas.microsoft.com/office/powerpoint/2010/main" val="2732364875"/>
              </p:ext>
            </p:extLst>
          </p:nvPr>
        </p:nvGraphicFramePr>
        <p:xfrm>
          <a:off x="925883" y="1271247"/>
          <a:ext cx="10515600" cy="2560320"/>
        </p:xfrm>
        <a:graphic>
          <a:graphicData uri="http://schemas.openxmlformats.org/drawingml/2006/table">
            <a:tbl>
              <a:tblPr/>
              <a:tblGrid>
                <a:gridCol w="1554271">
                  <a:extLst>
                    <a:ext uri="{9D8B030D-6E8A-4147-A177-3AD203B41FA5}">
                      <a16:colId xmlns:a16="http://schemas.microsoft.com/office/drawing/2014/main" val="2443466638"/>
                    </a:ext>
                  </a:extLst>
                </a:gridCol>
                <a:gridCol w="3043825">
                  <a:extLst>
                    <a:ext uri="{9D8B030D-6E8A-4147-A177-3AD203B41FA5}">
                      <a16:colId xmlns:a16="http://schemas.microsoft.com/office/drawing/2014/main" val="3515053591"/>
                    </a:ext>
                  </a:extLst>
                </a:gridCol>
                <a:gridCol w="5917504">
                  <a:extLst>
                    <a:ext uri="{9D8B030D-6E8A-4147-A177-3AD203B41FA5}">
                      <a16:colId xmlns:a16="http://schemas.microsoft.com/office/drawing/2014/main" val="2365387877"/>
                    </a:ext>
                  </a:extLst>
                </a:gridCol>
              </a:tblGrid>
              <a:tr h="0">
                <a:tc>
                  <a:txBody>
                    <a:bodyPr/>
                    <a:lstStyle/>
                    <a:p>
                      <a:pPr>
                        <a:buNone/>
                      </a:pPr>
                      <a:r>
                        <a:rPr lang="en-MY"/>
                        <a:t>Symbol</a:t>
                      </a:r>
                    </a:p>
                  </a:txBody>
                  <a:tcPr anchor="ctr">
                    <a:lnL>
                      <a:noFill/>
                    </a:lnL>
                    <a:lnR>
                      <a:noFill/>
                    </a:lnR>
                    <a:lnT>
                      <a:noFill/>
                    </a:lnT>
                    <a:lnB>
                      <a:noFill/>
                    </a:lnB>
                    <a:noFill/>
                  </a:tcPr>
                </a:tc>
                <a:tc>
                  <a:txBody>
                    <a:bodyPr/>
                    <a:lstStyle/>
                    <a:p>
                      <a:pPr>
                        <a:buNone/>
                      </a:pPr>
                      <a:r>
                        <a:rPr lang="en-MY" dirty="0"/>
                        <a:t>Meaning</a:t>
                      </a:r>
                    </a:p>
                  </a:txBody>
                  <a:tcPr anchor="ctr">
                    <a:lnL>
                      <a:noFill/>
                    </a:lnL>
                    <a:lnR>
                      <a:noFill/>
                    </a:lnR>
                    <a:lnT>
                      <a:noFill/>
                    </a:lnT>
                    <a:lnB>
                      <a:noFill/>
                    </a:lnB>
                    <a:noFill/>
                  </a:tcPr>
                </a:tc>
                <a:tc>
                  <a:txBody>
                    <a:bodyPr/>
                    <a:lstStyle/>
                    <a:p>
                      <a:pPr>
                        <a:buNone/>
                      </a:pPr>
                      <a:r>
                        <a:rPr lang="en-MY"/>
                        <a:t>Plain explanation</a:t>
                      </a:r>
                    </a:p>
                  </a:txBody>
                  <a:tcPr anchor="ctr">
                    <a:lnL>
                      <a:noFill/>
                    </a:lnL>
                    <a:lnR>
                      <a:noFill/>
                    </a:lnR>
                    <a:lnT>
                      <a:noFill/>
                    </a:lnT>
                    <a:lnB>
                      <a:noFill/>
                    </a:lnB>
                    <a:noFill/>
                  </a:tcPr>
                </a:tc>
                <a:extLst>
                  <a:ext uri="{0D108BD9-81ED-4DB2-BD59-A6C34878D82A}">
                    <a16:rowId xmlns:a16="http://schemas.microsoft.com/office/drawing/2014/main" val="3506250741"/>
                  </a:ext>
                </a:extLst>
              </a:tr>
              <a:tr h="0">
                <a:tc>
                  <a:txBody>
                    <a:bodyPr/>
                    <a:lstStyle/>
                    <a:p>
                      <a:pPr>
                        <a:buNone/>
                      </a:pPr>
                      <a:r>
                        <a:rPr lang="en-MY" b="1"/>
                        <a:t>C#</a:t>
                      </a:r>
                      <a:endParaRPr lang="en-MY"/>
                    </a:p>
                  </a:txBody>
                  <a:tcPr anchor="ctr">
                    <a:lnL>
                      <a:noFill/>
                    </a:lnL>
                    <a:lnR>
                      <a:noFill/>
                    </a:lnR>
                    <a:lnT>
                      <a:noFill/>
                    </a:lnT>
                    <a:lnB>
                      <a:noFill/>
                    </a:lnB>
                    <a:noFill/>
                  </a:tcPr>
                </a:tc>
                <a:tc>
                  <a:txBody>
                    <a:bodyPr/>
                    <a:lstStyle/>
                    <a:p>
                      <a:pPr>
                        <a:buNone/>
                      </a:pPr>
                      <a:r>
                        <a:rPr lang="en-MY"/>
                        <a:t>Cluster number</a:t>
                      </a:r>
                    </a:p>
                  </a:txBody>
                  <a:tcPr anchor="ctr">
                    <a:lnL>
                      <a:noFill/>
                    </a:lnL>
                    <a:lnR>
                      <a:noFill/>
                    </a:lnR>
                    <a:lnT>
                      <a:noFill/>
                    </a:lnT>
                    <a:lnB>
                      <a:noFill/>
                    </a:lnB>
                    <a:noFill/>
                  </a:tcPr>
                </a:tc>
                <a:tc>
                  <a:txBody>
                    <a:bodyPr/>
                    <a:lstStyle/>
                    <a:p>
                      <a:pPr>
                        <a:buNone/>
                      </a:pPr>
                      <a:r>
                        <a:rPr lang="en-US"/>
                        <a:t>The cluster you’re interested in (e.g., cluster 5).</a:t>
                      </a:r>
                    </a:p>
                  </a:txBody>
                  <a:tcPr anchor="ctr">
                    <a:lnL>
                      <a:noFill/>
                    </a:lnL>
                    <a:lnR>
                      <a:noFill/>
                    </a:lnR>
                    <a:lnT>
                      <a:noFill/>
                    </a:lnT>
                    <a:lnB>
                      <a:noFill/>
                    </a:lnB>
                    <a:noFill/>
                  </a:tcPr>
                </a:tc>
                <a:extLst>
                  <a:ext uri="{0D108BD9-81ED-4DB2-BD59-A6C34878D82A}">
                    <a16:rowId xmlns:a16="http://schemas.microsoft.com/office/drawing/2014/main" val="2052528796"/>
                  </a:ext>
                </a:extLst>
              </a:tr>
              <a:tr h="0">
                <a:tc>
                  <a:txBody>
                    <a:bodyPr/>
                    <a:lstStyle/>
                    <a:p>
                      <a:pPr>
                        <a:buNone/>
                      </a:pPr>
                      <a:r>
                        <a:rPr lang="en-MY" b="1"/>
                        <a:t>CSize</a:t>
                      </a:r>
                      <a:endParaRPr lang="en-MY"/>
                    </a:p>
                  </a:txBody>
                  <a:tcPr anchor="ctr">
                    <a:lnL>
                      <a:noFill/>
                    </a:lnL>
                    <a:lnR>
                      <a:noFill/>
                    </a:lnR>
                    <a:lnT>
                      <a:noFill/>
                    </a:lnT>
                    <a:lnB>
                      <a:noFill/>
                    </a:lnB>
                    <a:noFill/>
                  </a:tcPr>
                </a:tc>
                <a:tc>
                  <a:txBody>
                    <a:bodyPr/>
                    <a:lstStyle/>
                    <a:p>
                      <a:pPr>
                        <a:buNone/>
                      </a:pPr>
                      <a:r>
                        <a:rPr lang="en-MY"/>
                        <a:t>Cluster size</a:t>
                      </a:r>
                    </a:p>
                  </a:txBody>
                  <a:tcPr anchor="ctr">
                    <a:lnL>
                      <a:noFill/>
                    </a:lnL>
                    <a:lnR>
                      <a:noFill/>
                    </a:lnR>
                    <a:lnT>
                      <a:noFill/>
                    </a:lnT>
                    <a:lnB>
                      <a:noFill/>
                    </a:lnB>
                    <a:noFill/>
                  </a:tcPr>
                </a:tc>
                <a:tc>
                  <a:txBody>
                    <a:bodyPr/>
                    <a:lstStyle/>
                    <a:p>
                      <a:pPr>
                        <a:buNone/>
                      </a:pPr>
                      <a:r>
                        <a:rPr lang="en-US"/>
                        <a:t>How many sectors make up one cluster (from VBR).</a:t>
                      </a:r>
                    </a:p>
                  </a:txBody>
                  <a:tcPr anchor="ctr">
                    <a:lnL>
                      <a:noFill/>
                    </a:lnL>
                    <a:lnR>
                      <a:noFill/>
                    </a:lnR>
                    <a:lnT>
                      <a:noFill/>
                    </a:lnT>
                    <a:lnB>
                      <a:noFill/>
                    </a:lnB>
                    <a:noFill/>
                  </a:tcPr>
                </a:tc>
                <a:extLst>
                  <a:ext uri="{0D108BD9-81ED-4DB2-BD59-A6C34878D82A}">
                    <a16:rowId xmlns:a16="http://schemas.microsoft.com/office/drawing/2014/main" val="333639985"/>
                  </a:ext>
                </a:extLst>
              </a:tr>
              <a:tr h="0">
                <a:tc>
                  <a:txBody>
                    <a:bodyPr/>
                    <a:lstStyle/>
                    <a:p>
                      <a:pPr>
                        <a:buNone/>
                      </a:pPr>
                      <a:r>
                        <a:rPr lang="en-MY" b="1"/>
                        <a:t>RSize</a:t>
                      </a:r>
                      <a:endParaRPr lang="en-MY"/>
                    </a:p>
                  </a:txBody>
                  <a:tcPr anchor="ctr">
                    <a:lnL>
                      <a:noFill/>
                    </a:lnL>
                    <a:lnR>
                      <a:noFill/>
                    </a:lnR>
                    <a:lnT>
                      <a:noFill/>
                    </a:lnT>
                    <a:lnB>
                      <a:noFill/>
                    </a:lnB>
                    <a:noFill/>
                  </a:tcPr>
                </a:tc>
                <a:tc>
                  <a:txBody>
                    <a:bodyPr/>
                    <a:lstStyle/>
                    <a:p>
                      <a:pPr>
                        <a:buNone/>
                      </a:pPr>
                      <a:r>
                        <a:rPr lang="en-MY"/>
                        <a:t>Reserved area size</a:t>
                      </a:r>
                    </a:p>
                  </a:txBody>
                  <a:tcPr anchor="ctr">
                    <a:lnL>
                      <a:noFill/>
                    </a:lnL>
                    <a:lnR>
                      <a:noFill/>
                    </a:lnR>
                    <a:lnT>
                      <a:noFill/>
                    </a:lnT>
                    <a:lnB>
                      <a:noFill/>
                    </a:lnB>
                    <a:noFill/>
                  </a:tcPr>
                </a:tc>
                <a:tc>
                  <a:txBody>
                    <a:bodyPr/>
                    <a:lstStyle/>
                    <a:p>
                      <a:pPr>
                        <a:buNone/>
                      </a:pPr>
                      <a:r>
                        <a:rPr lang="en-US"/>
                        <a:t>How many sectors are before the FAT area.</a:t>
                      </a:r>
                    </a:p>
                  </a:txBody>
                  <a:tcPr anchor="ctr">
                    <a:lnL>
                      <a:noFill/>
                    </a:lnL>
                    <a:lnR>
                      <a:noFill/>
                    </a:lnR>
                    <a:lnT>
                      <a:noFill/>
                    </a:lnT>
                    <a:lnB>
                      <a:noFill/>
                    </a:lnB>
                    <a:noFill/>
                  </a:tcPr>
                </a:tc>
                <a:extLst>
                  <a:ext uri="{0D108BD9-81ED-4DB2-BD59-A6C34878D82A}">
                    <a16:rowId xmlns:a16="http://schemas.microsoft.com/office/drawing/2014/main" val="1312942493"/>
                  </a:ext>
                </a:extLst>
              </a:tr>
              <a:tr h="0">
                <a:tc>
                  <a:txBody>
                    <a:bodyPr/>
                    <a:lstStyle/>
                    <a:p>
                      <a:pPr>
                        <a:buNone/>
                      </a:pPr>
                      <a:r>
                        <a:rPr lang="en-MY" b="1"/>
                        <a:t>FAT#</a:t>
                      </a:r>
                      <a:endParaRPr lang="en-MY"/>
                    </a:p>
                  </a:txBody>
                  <a:tcPr anchor="ctr">
                    <a:lnL>
                      <a:noFill/>
                    </a:lnL>
                    <a:lnR>
                      <a:noFill/>
                    </a:lnR>
                    <a:lnT>
                      <a:noFill/>
                    </a:lnT>
                    <a:lnB>
                      <a:noFill/>
                    </a:lnB>
                    <a:noFill/>
                  </a:tcPr>
                </a:tc>
                <a:tc>
                  <a:txBody>
                    <a:bodyPr/>
                    <a:lstStyle/>
                    <a:p>
                      <a:pPr>
                        <a:buNone/>
                      </a:pPr>
                      <a:r>
                        <a:rPr lang="en-MY"/>
                        <a:t>Number of FAT copies</a:t>
                      </a:r>
                    </a:p>
                  </a:txBody>
                  <a:tcPr anchor="ctr">
                    <a:lnL>
                      <a:noFill/>
                    </a:lnL>
                    <a:lnR>
                      <a:noFill/>
                    </a:lnR>
                    <a:lnT>
                      <a:noFill/>
                    </a:lnT>
                    <a:lnB>
                      <a:noFill/>
                    </a:lnB>
                    <a:noFill/>
                  </a:tcPr>
                </a:tc>
                <a:tc>
                  <a:txBody>
                    <a:bodyPr/>
                    <a:lstStyle/>
                    <a:p>
                      <a:pPr>
                        <a:buNone/>
                      </a:pPr>
                      <a:r>
                        <a:rPr lang="en-US"/>
                        <a:t>Usually 2 (FAT1 and FAT2).</a:t>
                      </a:r>
                    </a:p>
                  </a:txBody>
                  <a:tcPr anchor="ctr">
                    <a:lnL>
                      <a:noFill/>
                    </a:lnL>
                    <a:lnR>
                      <a:noFill/>
                    </a:lnR>
                    <a:lnT>
                      <a:noFill/>
                    </a:lnT>
                    <a:lnB>
                      <a:noFill/>
                    </a:lnB>
                    <a:noFill/>
                  </a:tcPr>
                </a:tc>
                <a:extLst>
                  <a:ext uri="{0D108BD9-81ED-4DB2-BD59-A6C34878D82A}">
                    <a16:rowId xmlns:a16="http://schemas.microsoft.com/office/drawing/2014/main" val="502050711"/>
                  </a:ext>
                </a:extLst>
              </a:tr>
              <a:tr h="0">
                <a:tc>
                  <a:txBody>
                    <a:bodyPr/>
                    <a:lstStyle/>
                    <a:p>
                      <a:pPr>
                        <a:buNone/>
                      </a:pPr>
                      <a:r>
                        <a:rPr lang="en-MY" b="1"/>
                        <a:t>FATSize</a:t>
                      </a:r>
                      <a:endParaRPr lang="en-MY"/>
                    </a:p>
                  </a:txBody>
                  <a:tcPr anchor="ctr">
                    <a:lnL>
                      <a:noFill/>
                    </a:lnL>
                    <a:lnR>
                      <a:noFill/>
                    </a:lnR>
                    <a:lnT>
                      <a:noFill/>
                    </a:lnT>
                    <a:lnB>
                      <a:noFill/>
                    </a:lnB>
                    <a:noFill/>
                  </a:tcPr>
                </a:tc>
                <a:tc>
                  <a:txBody>
                    <a:bodyPr/>
                    <a:lstStyle/>
                    <a:p>
                      <a:pPr>
                        <a:buNone/>
                      </a:pPr>
                      <a:r>
                        <a:rPr lang="en-MY"/>
                        <a:t>FAT size</a:t>
                      </a:r>
                    </a:p>
                  </a:txBody>
                  <a:tcPr anchor="ctr">
                    <a:lnL>
                      <a:noFill/>
                    </a:lnL>
                    <a:lnR>
                      <a:noFill/>
                    </a:lnR>
                    <a:lnT>
                      <a:noFill/>
                    </a:lnT>
                    <a:lnB>
                      <a:noFill/>
                    </a:lnB>
                    <a:noFill/>
                  </a:tcPr>
                </a:tc>
                <a:tc>
                  <a:txBody>
                    <a:bodyPr/>
                    <a:lstStyle/>
                    <a:p>
                      <a:pPr>
                        <a:buNone/>
                      </a:pPr>
                      <a:r>
                        <a:rPr lang="en-US"/>
                        <a:t>How many sectors each FAT takes.</a:t>
                      </a:r>
                    </a:p>
                  </a:txBody>
                  <a:tcPr anchor="ctr">
                    <a:lnL>
                      <a:noFill/>
                    </a:lnL>
                    <a:lnR>
                      <a:noFill/>
                    </a:lnR>
                    <a:lnT>
                      <a:noFill/>
                    </a:lnT>
                    <a:lnB>
                      <a:noFill/>
                    </a:lnB>
                    <a:noFill/>
                  </a:tcPr>
                </a:tc>
                <a:extLst>
                  <a:ext uri="{0D108BD9-81ED-4DB2-BD59-A6C34878D82A}">
                    <a16:rowId xmlns:a16="http://schemas.microsoft.com/office/drawing/2014/main" val="3811610839"/>
                  </a:ext>
                </a:extLst>
              </a:tr>
              <a:tr h="0">
                <a:tc>
                  <a:txBody>
                    <a:bodyPr/>
                    <a:lstStyle/>
                    <a:p>
                      <a:pPr>
                        <a:buNone/>
                      </a:pPr>
                      <a:r>
                        <a:rPr lang="en-MY" b="1"/>
                        <a:t>S#</a:t>
                      </a:r>
                      <a:endParaRPr lang="en-MY"/>
                    </a:p>
                  </a:txBody>
                  <a:tcPr anchor="ctr">
                    <a:lnL>
                      <a:noFill/>
                    </a:lnL>
                    <a:lnR>
                      <a:noFill/>
                    </a:lnR>
                    <a:lnT>
                      <a:noFill/>
                    </a:lnT>
                    <a:lnB>
                      <a:noFill/>
                    </a:lnB>
                    <a:noFill/>
                  </a:tcPr>
                </a:tc>
                <a:tc>
                  <a:txBody>
                    <a:bodyPr/>
                    <a:lstStyle/>
                    <a:p>
                      <a:pPr>
                        <a:buNone/>
                      </a:pPr>
                      <a:r>
                        <a:rPr lang="en-MY"/>
                        <a:t>Sector number</a:t>
                      </a:r>
                    </a:p>
                  </a:txBody>
                  <a:tcPr anchor="ctr">
                    <a:lnL>
                      <a:noFill/>
                    </a:lnL>
                    <a:lnR>
                      <a:noFill/>
                    </a:lnR>
                    <a:lnT>
                      <a:noFill/>
                    </a:lnT>
                    <a:lnB>
                      <a:noFill/>
                    </a:lnB>
                    <a:noFill/>
                  </a:tcPr>
                </a:tc>
                <a:tc>
                  <a:txBody>
                    <a:bodyPr/>
                    <a:lstStyle/>
                    <a:p>
                      <a:pPr>
                        <a:buNone/>
                      </a:pPr>
                      <a:r>
                        <a:rPr lang="en-US" dirty="0"/>
                        <a:t>The result — which sector on the disk the cluster starts at.</a:t>
                      </a:r>
                    </a:p>
                  </a:txBody>
                  <a:tcPr anchor="ctr">
                    <a:lnL>
                      <a:noFill/>
                    </a:lnL>
                    <a:lnR>
                      <a:noFill/>
                    </a:lnR>
                    <a:lnT>
                      <a:noFill/>
                    </a:lnT>
                    <a:lnB>
                      <a:noFill/>
                    </a:lnB>
                    <a:noFill/>
                  </a:tcPr>
                </a:tc>
                <a:extLst>
                  <a:ext uri="{0D108BD9-81ED-4DB2-BD59-A6C34878D82A}">
                    <a16:rowId xmlns:a16="http://schemas.microsoft.com/office/drawing/2014/main" val="4242098048"/>
                  </a:ext>
                </a:extLst>
              </a:tr>
            </a:tbl>
          </a:graphicData>
        </a:graphic>
      </p:graphicFrame>
    </p:spTree>
    <p:extLst>
      <p:ext uri="{BB962C8B-B14F-4D97-AF65-F5344CB8AC3E}">
        <p14:creationId xmlns:p14="http://schemas.microsoft.com/office/powerpoint/2010/main" val="16222654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4AF2A-B4E9-309C-47F2-FDF36F076F39}"/>
              </a:ext>
            </a:extLst>
          </p:cNvPr>
          <p:cNvSpPr>
            <a:spLocks noGrp="1"/>
          </p:cNvSpPr>
          <p:nvPr>
            <p:ph type="title"/>
          </p:nvPr>
        </p:nvSpPr>
        <p:spPr/>
        <p:txBody>
          <a:bodyPr/>
          <a:lstStyle/>
          <a:p>
            <a:r>
              <a:rPr lang="en-MY" dirty="0"/>
              <a:t>Example:</a:t>
            </a:r>
          </a:p>
        </p:txBody>
      </p:sp>
      <p:graphicFrame>
        <p:nvGraphicFramePr>
          <p:cNvPr id="4" name="Content Placeholder 3">
            <a:extLst>
              <a:ext uri="{FF2B5EF4-FFF2-40B4-BE49-F238E27FC236}">
                <a16:creationId xmlns:a16="http://schemas.microsoft.com/office/drawing/2014/main" id="{854FDF69-DC27-9B38-9DAF-32C3BC9F3D00}"/>
              </a:ext>
            </a:extLst>
          </p:cNvPr>
          <p:cNvGraphicFramePr>
            <a:graphicFrameLocks noGrp="1"/>
          </p:cNvGraphicFramePr>
          <p:nvPr>
            <p:ph idx="1"/>
            <p:extLst>
              <p:ext uri="{D42A27DB-BD31-4B8C-83A1-F6EECF244321}">
                <p14:modId xmlns:p14="http://schemas.microsoft.com/office/powerpoint/2010/main" val="1044900727"/>
              </p:ext>
            </p:extLst>
          </p:nvPr>
        </p:nvGraphicFramePr>
        <p:xfrm>
          <a:off x="838200" y="1690688"/>
          <a:ext cx="10515600" cy="2194560"/>
        </p:xfrm>
        <a:graphic>
          <a:graphicData uri="http://schemas.openxmlformats.org/drawingml/2006/table">
            <a:tbl>
              <a:tblPr/>
              <a:tblGrid>
                <a:gridCol w="1817318">
                  <a:extLst>
                    <a:ext uri="{9D8B030D-6E8A-4147-A177-3AD203B41FA5}">
                      <a16:colId xmlns:a16="http://schemas.microsoft.com/office/drawing/2014/main" val="1922223622"/>
                    </a:ext>
                  </a:extLst>
                </a:gridCol>
                <a:gridCol w="8698282">
                  <a:extLst>
                    <a:ext uri="{9D8B030D-6E8A-4147-A177-3AD203B41FA5}">
                      <a16:colId xmlns:a16="http://schemas.microsoft.com/office/drawing/2014/main" val="2434705879"/>
                    </a:ext>
                  </a:extLst>
                </a:gridCol>
              </a:tblGrid>
              <a:tr h="0">
                <a:tc>
                  <a:txBody>
                    <a:bodyPr/>
                    <a:lstStyle/>
                    <a:p>
                      <a:pPr>
                        <a:buNone/>
                      </a:pPr>
                      <a:r>
                        <a:rPr lang="en-MY"/>
                        <a:t>Item</a:t>
                      </a:r>
                    </a:p>
                  </a:txBody>
                  <a:tcPr anchor="ctr">
                    <a:lnL>
                      <a:noFill/>
                    </a:lnL>
                    <a:lnR>
                      <a:noFill/>
                    </a:lnR>
                    <a:lnT>
                      <a:noFill/>
                    </a:lnT>
                    <a:lnB>
                      <a:noFill/>
                    </a:lnB>
                    <a:noFill/>
                  </a:tcPr>
                </a:tc>
                <a:tc>
                  <a:txBody>
                    <a:bodyPr/>
                    <a:lstStyle/>
                    <a:p>
                      <a:pPr>
                        <a:buNone/>
                      </a:pPr>
                      <a:r>
                        <a:rPr lang="en-MY"/>
                        <a:t>Value</a:t>
                      </a:r>
                    </a:p>
                  </a:txBody>
                  <a:tcPr anchor="ctr">
                    <a:lnL>
                      <a:noFill/>
                    </a:lnL>
                    <a:lnR>
                      <a:noFill/>
                    </a:lnR>
                    <a:lnT>
                      <a:noFill/>
                    </a:lnT>
                    <a:lnB>
                      <a:noFill/>
                    </a:lnB>
                    <a:noFill/>
                  </a:tcPr>
                </a:tc>
                <a:extLst>
                  <a:ext uri="{0D108BD9-81ED-4DB2-BD59-A6C34878D82A}">
                    <a16:rowId xmlns:a16="http://schemas.microsoft.com/office/drawing/2014/main" val="3151957522"/>
                  </a:ext>
                </a:extLst>
              </a:tr>
              <a:tr h="0">
                <a:tc>
                  <a:txBody>
                    <a:bodyPr/>
                    <a:lstStyle/>
                    <a:p>
                      <a:pPr>
                        <a:buNone/>
                      </a:pPr>
                      <a:r>
                        <a:rPr lang="en-MY"/>
                        <a:t>C#</a:t>
                      </a:r>
                    </a:p>
                  </a:txBody>
                  <a:tcPr anchor="ctr">
                    <a:lnL>
                      <a:noFill/>
                    </a:lnL>
                    <a:lnR>
                      <a:noFill/>
                    </a:lnR>
                    <a:lnT>
                      <a:noFill/>
                    </a:lnT>
                    <a:lnB>
                      <a:noFill/>
                    </a:lnB>
                    <a:noFill/>
                  </a:tcPr>
                </a:tc>
                <a:tc>
                  <a:txBody>
                    <a:bodyPr/>
                    <a:lstStyle/>
                    <a:p>
                      <a:pPr>
                        <a:buNone/>
                      </a:pPr>
                      <a:r>
                        <a:rPr lang="en-MY"/>
                        <a:t>5</a:t>
                      </a:r>
                    </a:p>
                  </a:txBody>
                  <a:tcPr anchor="ctr">
                    <a:lnL>
                      <a:noFill/>
                    </a:lnL>
                    <a:lnR>
                      <a:noFill/>
                    </a:lnR>
                    <a:lnT>
                      <a:noFill/>
                    </a:lnT>
                    <a:lnB>
                      <a:noFill/>
                    </a:lnB>
                    <a:noFill/>
                  </a:tcPr>
                </a:tc>
                <a:extLst>
                  <a:ext uri="{0D108BD9-81ED-4DB2-BD59-A6C34878D82A}">
                    <a16:rowId xmlns:a16="http://schemas.microsoft.com/office/drawing/2014/main" val="1782060034"/>
                  </a:ext>
                </a:extLst>
              </a:tr>
              <a:tr h="0">
                <a:tc>
                  <a:txBody>
                    <a:bodyPr/>
                    <a:lstStyle/>
                    <a:p>
                      <a:pPr>
                        <a:buNone/>
                      </a:pPr>
                      <a:r>
                        <a:rPr lang="en-MY"/>
                        <a:t>CSize</a:t>
                      </a:r>
                    </a:p>
                  </a:txBody>
                  <a:tcPr anchor="ctr">
                    <a:lnL>
                      <a:noFill/>
                    </a:lnL>
                    <a:lnR>
                      <a:noFill/>
                    </a:lnR>
                    <a:lnT>
                      <a:noFill/>
                    </a:lnT>
                    <a:lnB>
                      <a:noFill/>
                    </a:lnB>
                    <a:noFill/>
                  </a:tcPr>
                </a:tc>
                <a:tc>
                  <a:txBody>
                    <a:bodyPr/>
                    <a:lstStyle/>
                    <a:p>
                      <a:pPr>
                        <a:buNone/>
                      </a:pPr>
                      <a:r>
                        <a:rPr lang="en-MY"/>
                        <a:t>8 sectors per cluster</a:t>
                      </a:r>
                    </a:p>
                  </a:txBody>
                  <a:tcPr anchor="ctr">
                    <a:lnL>
                      <a:noFill/>
                    </a:lnL>
                    <a:lnR>
                      <a:noFill/>
                    </a:lnR>
                    <a:lnT>
                      <a:noFill/>
                    </a:lnT>
                    <a:lnB>
                      <a:noFill/>
                    </a:lnB>
                    <a:noFill/>
                  </a:tcPr>
                </a:tc>
                <a:extLst>
                  <a:ext uri="{0D108BD9-81ED-4DB2-BD59-A6C34878D82A}">
                    <a16:rowId xmlns:a16="http://schemas.microsoft.com/office/drawing/2014/main" val="2333300807"/>
                  </a:ext>
                </a:extLst>
              </a:tr>
              <a:tr h="0">
                <a:tc>
                  <a:txBody>
                    <a:bodyPr/>
                    <a:lstStyle/>
                    <a:p>
                      <a:pPr>
                        <a:buNone/>
                      </a:pPr>
                      <a:r>
                        <a:rPr lang="en-MY"/>
                        <a:t>RSize</a:t>
                      </a:r>
                    </a:p>
                  </a:txBody>
                  <a:tcPr anchor="ctr">
                    <a:lnL>
                      <a:noFill/>
                    </a:lnL>
                    <a:lnR>
                      <a:noFill/>
                    </a:lnR>
                    <a:lnT>
                      <a:noFill/>
                    </a:lnT>
                    <a:lnB>
                      <a:noFill/>
                    </a:lnB>
                    <a:noFill/>
                  </a:tcPr>
                </a:tc>
                <a:tc>
                  <a:txBody>
                    <a:bodyPr/>
                    <a:lstStyle/>
                    <a:p>
                      <a:pPr>
                        <a:buNone/>
                      </a:pPr>
                      <a:r>
                        <a:rPr lang="en-MY"/>
                        <a:t>32 sectors</a:t>
                      </a:r>
                    </a:p>
                  </a:txBody>
                  <a:tcPr anchor="ctr">
                    <a:lnL>
                      <a:noFill/>
                    </a:lnL>
                    <a:lnR>
                      <a:noFill/>
                    </a:lnR>
                    <a:lnT>
                      <a:noFill/>
                    </a:lnT>
                    <a:lnB>
                      <a:noFill/>
                    </a:lnB>
                    <a:noFill/>
                  </a:tcPr>
                </a:tc>
                <a:extLst>
                  <a:ext uri="{0D108BD9-81ED-4DB2-BD59-A6C34878D82A}">
                    <a16:rowId xmlns:a16="http://schemas.microsoft.com/office/drawing/2014/main" val="78569202"/>
                  </a:ext>
                </a:extLst>
              </a:tr>
              <a:tr h="0">
                <a:tc>
                  <a:txBody>
                    <a:bodyPr/>
                    <a:lstStyle/>
                    <a:p>
                      <a:pPr>
                        <a:buNone/>
                      </a:pPr>
                      <a:r>
                        <a:rPr lang="en-MY"/>
                        <a:t>FAT#</a:t>
                      </a:r>
                    </a:p>
                  </a:txBody>
                  <a:tcPr anchor="ctr">
                    <a:lnL>
                      <a:noFill/>
                    </a:lnL>
                    <a:lnR>
                      <a:noFill/>
                    </a:lnR>
                    <a:lnT>
                      <a:noFill/>
                    </a:lnT>
                    <a:lnB>
                      <a:noFill/>
                    </a:lnB>
                    <a:noFill/>
                  </a:tcPr>
                </a:tc>
                <a:tc>
                  <a:txBody>
                    <a:bodyPr/>
                    <a:lstStyle/>
                    <a:p>
                      <a:pPr>
                        <a:buNone/>
                      </a:pPr>
                      <a:r>
                        <a:rPr lang="en-MY"/>
                        <a:t>2</a:t>
                      </a:r>
                    </a:p>
                  </a:txBody>
                  <a:tcPr anchor="ctr">
                    <a:lnL>
                      <a:noFill/>
                    </a:lnL>
                    <a:lnR>
                      <a:noFill/>
                    </a:lnR>
                    <a:lnT>
                      <a:noFill/>
                    </a:lnT>
                    <a:lnB>
                      <a:noFill/>
                    </a:lnB>
                    <a:noFill/>
                  </a:tcPr>
                </a:tc>
                <a:extLst>
                  <a:ext uri="{0D108BD9-81ED-4DB2-BD59-A6C34878D82A}">
                    <a16:rowId xmlns:a16="http://schemas.microsoft.com/office/drawing/2014/main" val="1170652964"/>
                  </a:ext>
                </a:extLst>
              </a:tr>
              <a:tr h="0">
                <a:tc>
                  <a:txBody>
                    <a:bodyPr/>
                    <a:lstStyle/>
                    <a:p>
                      <a:pPr>
                        <a:buNone/>
                      </a:pPr>
                      <a:r>
                        <a:rPr lang="en-MY"/>
                        <a:t>FATSize</a:t>
                      </a:r>
                    </a:p>
                  </a:txBody>
                  <a:tcPr anchor="ctr">
                    <a:lnL>
                      <a:noFill/>
                    </a:lnL>
                    <a:lnR>
                      <a:noFill/>
                    </a:lnR>
                    <a:lnT>
                      <a:noFill/>
                    </a:lnT>
                    <a:lnB>
                      <a:noFill/>
                    </a:lnB>
                    <a:noFill/>
                  </a:tcPr>
                </a:tc>
                <a:tc>
                  <a:txBody>
                    <a:bodyPr/>
                    <a:lstStyle/>
                    <a:p>
                      <a:pPr>
                        <a:buNone/>
                      </a:pPr>
                      <a:r>
                        <a:rPr lang="en-MY" dirty="0"/>
                        <a:t>128 sectors each</a:t>
                      </a:r>
                    </a:p>
                  </a:txBody>
                  <a:tcPr anchor="ctr">
                    <a:lnL>
                      <a:noFill/>
                    </a:lnL>
                    <a:lnR>
                      <a:noFill/>
                    </a:lnR>
                    <a:lnT>
                      <a:noFill/>
                    </a:lnT>
                    <a:lnB>
                      <a:noFill/>
                    </a:lnB>
                    <a:noFill/>
                  </a:tcPr>
                </a:tc>
                <a:extLst>
                  <a:ext uri="{0D108BD9-81ED-4DB2-BD59-A6C34878D82A}">
                    <a16:rowId xmlns:a16="http://schemas.microsoft.com/office/drawing/2014/main" val="2801816397"/>
                  </a:ext>
                </a:extLst>
              </a:tr>
            </a:tbl>
          </a:graphicData>
        </a:graphic>
      </p:graphicFrame>
    </p:spTree>
    <p:extLst>
      <p:ext uri="{BB962C8B-B14F-4D97-AF65-F5344CB8AC3E}">
        <p14:creationId xmlns:p14="http://schemas.microsoft.com/office/powerpoint/2010/main" val="11775240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AE9DC-9D6B-F0E4-017D-3B2650ED9ACA}"/>
              </a:ext>
            </a:extLst>
          </p:cNvPr>
          <p:cNvSpPr>
            <a:spLocks noGrp="1"/>
          </p:cNvSpPr>
          <p:nvPr>
            <p:ph type="title"/>
          </p:nvPr>
        </p:nvSpPr>
        <p:spPr/>
        <p:txBody>
          <a:bodyPr/>
          <a:lstStyle/>
          <a:p>
            <a:r>
              <a:rPr lang="en-MY" dirty="0"/>
              <a:t>Exercise</a:t>
            </a:r>
          </a:p>
        </p:txBody>
      </p:sp>
      <p:sp>
        <p:nvSpPr>
          <p:cNvPr id="3" name="Content Placeholder 2">
            <a:extLst>
              <a:ext uri="{FF2B5EF4-FFF2-40B4-BE49-F238E27FC236}">
                <a16:creationId xmlns:a16="http://schemas.microsoft.com/office/drawing/2014/main" id="{C16EBD3B-7E6F-7B79-874D-69281544CBC8}"/>
              </a:ext>
            </a:extLst>
          </p:cNvPr>
          <p:cNvSpPr>
            <a:spLocks noGrp="1"/>
          </p:cNvSpPr>
          <p:nvPr>
            <p:ph idx="1"/>
          </p:nvPr>
        </p:nvSpPr>
        <p:spPr/>
        <p:txBody>
          <a:bodyPr/>
          <a:lstStyle/>
          <a:p>
            <a:pPr marL="0" indent="0">
              <a:buNone/>
            </a:pPr>
            <a:r>
              <a:rPr lang="en-US" dirty="0"/>
              <a:t>Represent the following dates/times as FAT date/time values.</a:t>
            </a:r>
          </a:p>
          <a:p>
            <a:pPr marL="0" indent="0">
              <a:buNone/>
            </a:pPr>
            <a:r>
              <a:rPr lang="en-US" dirty="0"/>
              <a:t>a) 14:37:28 on 17 March 2023</a:t>
            </a:r>
          </a:p>
          <a:p>
            <a:pPr marL="0" indent="0">
              <a:buNone/>
            </a:pPr>
            <a:r>
              <a:rPr lang="en-US" dirty="0"/>
              <a:t>b) 07:12:57 on 25 December 2077</a:t>
            </a:r>
          </a:p>
          <a:p>
            <a:pPr marL="0" indent="0">
              <a:buNone/>
            </a:pPr>
            <a:r>
              <a:rPr lang="en-US" dirty="0"/>
              <a:t>c) 23:59:59 on 31 December 1999 </a:t>
            </a:r>
            <a:br>
              <a:rPr lang="en-US" dirty="0"/>
            </a:br>
            <a:endParaRPr lang="en-MY" dirty="0"/>
          </a:p>
        </p:txBody>
      </p:sp>
    </p:spTree>
    <p:extLst>
      <p:ext uri="{BB962C8B-B14F-4D97-AF65-F5344CB8AC3E}">
        <p14:creationId xmlns:p14="http://schemas.microsoft.com/office/powerpoint/2010/main" val="3693751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B2F23-1370-E53D-E4A1-0351580EB8E5}"/>
              </a:ext>
            </a:extLst>
          </p:cNvPr>
          <p:cNvSpPr>
            <a:spLocks noGrp="1"/>
          </p:cNvSpPr>
          <p:nvPr>
            <p:ph type="title"/>
          </p:nvPr>
        </p:nvSpPr>
        <p:spPr/>
        <p:txBody>
          <a:bodyPr/>
          <a:lstStyle/>
          <a:p>
            <a:r>
              <a:rPr lang="en-MY" dirty="0"/>
              <a:t>Exercise</a:t>
            </a:r>
          </a:p>
        </p:txBody>
      </p:sp>
      <p:sp>
        <p:nvSpPr>
          <p:cNvPr id="3" name="Content Placeholder 2">
            <a:extLst>
              <a:ext uri="{FF2B5EF4-FFF2-40B4-BE49-F238E27FC236}">
                <a16:creationId xmlns:a16="http://schemas.microsoft.com/office/drawing/2014/main" id="{5685B612-AEE5-DA13-619C-2A07E304B6A3}"/>
              </a:ext>
            </a:extLst>
          </p:cNvPr>
          <p:cNvSpPr>
            <a:spLocks noGrp="1"/>
          </p:cNvSpPr>
          <p:nvPr>
            <p:ph idx="1"/>
          </p:nvPr>
        </p:nvSpPr>
        <p:spPr/>
        <p:txBody>
          <a:bodyPr/>
          <a:lstStyle/>
          <a:p>
            <a:pPr marL="0" indent="0">
              <a:buNone/>
            </a:pPr>
            <a:r>
              <a:rPr lang="en-US" dirty="0"/>
              <a:t>What dates/times are represented by the following FAT date/time values?</a:t>
            </a:r>
          </a:p>
          <a:p>
            <a:pPr marL="0" indent="0">
              <a:buNone/>
            </a:pPr>
            <a:r>
              <a:rPr lang="en-US" dirty="0"/>
              <a:t>a) Date: 0x5199; Time: 0x4CBA</a:t>
            </a:r>
          </a:p>
          <a:p>
            <a:pPr marL="0" indent="0">
              <a:buNone/>
            </a:pPr>
            <a:r>
              <a:rPr lang="en-US" dirty="0"/>
              <a:t>b) Date: 0x4885; Time: 0x1A3D</a:t>
            </a:r>
          </a:p>
          <a:p>
            <a:pPr marL="0" indent="0">
              <a:buNone/>
            </a:pPr>
            <a:r>
              <a:rPr lang="en-US" dirty="0"/>
              <a:t>c) Date: 0x4934; Time: 0x432F </a:t>
            </a:r>
            <a:br>
              <a:rPr lang="en-US" dirty="0"/>
            </a:br>
            <a:endParaRPr lang="en-MY" dirty="0"/>
          </a:p>
        </p:txBody>
      </p:sp>
    </p:spTree>
    <p:extLst>
      <p:ext uri="{BB962C8B-B14F-4D97-AF65-F5344CB8AC3E}">
        <p14:creationId xmlns:p14="http://schemas.microsoft.com/office/powerpoint/2010/main" val="41987403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1ADF7-CAFF-F112-3276-185765DCE26C}"/>
              </a:ext>
            </a:extLst>
          </p:cNvPr>
          <p:cNvSpPr>
            <a:spLocks noGrp="1"/>
          </p:cNvSpPr>
          <p:nvPr>
            <p:ph type="title"/>
          </p:nvPr>
        </p:nvSpPr>
        <p:spPr/>
        <p:txBody>
          <a:bodyPr/>
          <a:lstStyle/>
          <a:p>
            <a:r>
              <a:rPr lang="en-MY" dirty="0"/>
              <a:t>Analysis of FAT32</a:t>
            </a:r>
          </a:p>
        </p:txBody>
      </p:sp>
      <p:sp>
        <p:nvSpPr>
          <p:cNvPr id="3" name="Content Placeholder 2">
            <a:extLst>
              <a:ext uri="{FF2B5EF4-FFF2-40B4-BE49-F238E27FC236}">
                <a16:creationId xmlns:a16="http://schemas.microsoft.com/office/drawing/2014/main" id="{DFFD03BC-0DA4-A7F9-471B-6A80BEF63334}"/>
              </a:ext>
            </a:extLst>
          </p:cNvPr>
          <p:cNvSpPr>
            <a:spLocks noGrp="1"/>
          </p:cNvSpPr>
          <p:nvPr>
            <p:ph idx="1"/>
          </p:nvPr>
        </p:nvSpPr>
        <p:spPr/>
        <p:txBody>
          <a:bodyPr/>
          <a:lstStyle/>
          <a:p>
            <a:r>
              <a:rPr lang="en-MY" b="1" dirty="0"/>
              <a:t>Process the VBR</a:t>
            </a:r>
            <a:r>
              <a:rPr lang="en-MY" dirty="0"/>
              <a:t> </a:t>
            </a:r>
            <a:br>
              <a:rPr lang="en-MY" dirty="0"/>
            </a:br>
            <a:endParaRPr lang="en-MY" dirty="0"/>
          </a:p>
        </p:txBody>
      </p:sp>
      <p:pic>
        <p:nvPicPr>
          <p:cNvPr id="5" name="Picture 4">
            <a:extLst>
              <a:ext uri="{FF2B5EF4-FFF2-40B4-BE49-F238E27FC236}">
                <a16:creationId xmlns:a16="http://schemas.microsoft.com/office/drawing/2014/main" id="{EB915D8A-A0D4-7688-FB7D-6AA22164CEE2}"/>
              </a:ext>
            </a:extLst>
          </p:cNvPr>
          <p:cNvPicPr>
            <a:picLocks noChangeAspect="1"/>
          </p:cNvPicPr>
          <p:nvPr/>
        </p:nvPicPr>
        <p:blipFill>
          <a:blip r:embed="rId3"/>
          <a:stretch>
            <a:fillRect/>
          </a:stretch>
        </p:blipFill>
        <p:spPr>
          <a:xfrm>
            <a:off x="5361018" y="302169"/>
            <a:ext cx="5899470" cy="6039310"/>
          </a:xfrm>
          <a:prstGeom prst="rect">
            <a:avLst/>
          </a:prstGeom>
        </p:spPr>
      </p:pic>
    </p:spTree>
    <p:extLst>
      <p:ext uri="{BB962C8B-B14F-4D97-AF65-F5344CB8AC3E}">
        <p14:creationId xmlns:p14="http://schemas.microsoft.com/office/powerpoint/2010/main" val="3029398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DA831-D810-79EB-4FE7-C766B444F327}"/>
              </a:ext>
            </a:extLst>
          </p:cNvPr>
          <p:cNvSpPr>
            <a:spLocks noGrp="1"/>
          </p:cNvSpPr>
          <p:nvPr>
            <p:ph type="title"/>
          </p:nvPr>
        </p:nvSpPr>
        <p:spPr/>
        <p:txBody>
          <a:bodyPr/>
          <a:lstStyle/>
          <a:p>
            <a:endParaRPr lang="en-MY"/>
          </a:p>
        </p:txBody>
      </p:sp>
      <p:pic>
        <p:nvPicPr>
          <p:cNvPr id="5" name="Picture 4">
            <a:extLst>
              <a:ext uri="{FF2B5EF4-FFF2-40B4-BE49-F238E27FC236}">
                <a16:creationId xmlns:a16="http://schemas.microsoft.com/office/drawing/2014/main" id="{8B8A5116-5347-8636-9CAB-D1A759880508}"/>
              </a:ext>
            </a:extLst>
          </p:cNvPr>
          <p:cNvPicPr>
            <a:picLocks noChangeAspect="1"/>
          </p:cNvPicPr>
          <p:nvPr/>
        </p:nvPicPr>
        <p:blipFill>
          <a:blip r:embed="rId3"/>
          <a:stretch>
            <a:fillRect/>
          </a:stretch>
        </p:blipFill>
        <p:spPr>
          <a:xfrm>
            <a:off x="819079" y="551711"/>
            <a:ext cx="10534721" cy="2412892"/>
          </a:xfrm>
          <a:prstGeom prst="rect">
            <a:avLst/>
          </a:prstGeom>
        </p:spPr>
      </p:pic>
      <p:sp>
        <p:nvSpPr>
          <p:cNvPr id="7" name="TextBox 6">
            <a:extLst>
              <a:ext uri="{FF2B5EF4-FFF2-40B4-BE49-F238E27FC236}">
                <a16:creationId xmlns:a16="http://schemas.microsoft.com/office/drawing/2014/main" id="{6B176BDC-7FC2-7AEF-E4A9-044B57C56C28}"/>
              </a:ext>
            </a:extLst>
          </p:cNvPr>
          <p:cNvSpPr txBox="1"/>
          <p:nvPr/>
        </p:nvSpPr>
        <p:spPr>
          <a:xfrm>
            <a:off x="3986408" y="3099540"/>
            <a:ext cx="6093912" cy="646331"/>
          </a:xfrm>
          <a:prstGeom prst="rect">
            <a:avLst/>
          </a:prstGeom>
          <a:noFill/>
        </p:spPr>
        <p:txBody>
          <a:bodyPr wrap="square">
            <a:spAutoFit/>
          </a:bodyPr>
          <a:lstStyle/>
          <a:p>
            <a:r>
              <a:rPr lang="en-US" sz="1800" b="0" i="0" dirty="0">
                <a:solidFill>
                  <a:srgbClr val="000000"/>
                </a:solidFill>
                <a:effectLst/>
                <a:latin typeface="STIXTwoText"/>
              </a:rPr>
              <a:t>Excerpt from the VBR in </a:t>
            </a:r>
            <a:r>
              <a:rPr lang="en-US" sz="1800" b="1" i="0" dirty="0">
                <a:solidFill>
                  <a:srgbClr val="000000"/>
                </a:solidFill>
                <a:effectLst/>
                <a:latin typeface="STIXTwoText-Bold"/>
              </a:rPr>
              <a:t>FAT32_V1.E01</a:t>
            </a:r>
            <a:r>
              <a:rPr lang="en-US" dirty="0"/>
              <a:t> </a:t>
            </a:r>
            <a:br>
              <a:rPr lang="en-US" dirty="0"/>
            </a:br>
            <a:endParaRPr lang="en-MY" dirty="0"/>
          </a:p>
        </p:txBody>
      </p:sp>
      <p:pic>
        <p:nvPicPr>
          <p:cNvPr id="8" name="Picture 7">
            <a:extLst>
              <a:ext uri="{FF2B5EF4-FFF2-40B4-BE49-F238E27FC236}">
                <a16:creationId xmlns:a16="http://schemas.microsoft.com/office/drawing/2014/main" id="{9C2C0043-37EB-3E70-B7B8-CD3B985FEF4D}"/>
              </a:ext>
            </a:extLst>
          </p:cNvPr>
          <p:cNvPicPr>
            <a:picLocks noChangeAspect="1"/>
          </p:cNvPicPr>
          <p:nvPr/>
        </p:nvPicPr>
        <p:blipFill>
          <a:blip r:embed="rId4"/>
          <a:stretch>
            <a:fillRect/>
          </a:stretch>
        </p:blipFill>
        <p:spPr>
          <a:xfrm>
            <a:off x="1824102" y="3987632"/>
            <a:ext cx="8543795" cy="665471"/>
          </a:xfrm>
          <a:prstGeom prst="rect">
            <a:avLst/>
          </a:prstGeom>
        </p:spPr>
      </p:pic>
    </p:spTree>
    <p:extLst>
      <p:ext uri="{BB962C8B-B14F-4D97-AF65-F5344CB8AC3E}">
        <p14:creationId xmlns:p14="http://schemas.microsoft.com/office/powerpoint/2010/main" val="38166373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34AD365-2F96-05FA-47E2-E255A4303C9A}"/>
              </a:ext>
            </a:extLst>
          </p:cNvPr>
          <p:cNvPicPr>
            <a:picLocks noGrp="1" noChangeAspect="1"/>
          </p:cNvPicPr>
          <p:nvPr>
            <p:ph idx="1"/>
          </p:nvPr>
        </p:nvPicPr>
        <p:blipFill>
          <a:blip r:embed="rId2"/>
          <a:stretch>
            <a:fillRect/>
          </a:stretch>
        </p:blipFill>
        <p:spPr>
          <a:xfrm>
            <a:off x="691044" y="643466"/>
            <a:ext cx="10809912" cy="5571067"/>
          </a:xfrm>
          <a:prstGeom prst="rect">
            <a:avLst/>
          </a:prstGeom>
        </p:spPr>
      </p:pic>
    </p:spTree>
    <p:extLst>
      <p:ext uri="{BB962C8B-B14F-4D97-AF65-F5344CB8AC3E}">
        <p14:creationId xmlns:p14="http://schemas.microsoft.com/office/powerpoint/2010/main" val="36055605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6EE8C-3768-64B4-C82D-A7B57D0030BA}"/>
              </a:ext>
            </a:extLst>
          </p:cNvPr>
          <p:cNvSpPr>
            <a:spLocks noGrp="1"/>
          </p:cNvSpPr>
          <p:nvPr>
            <p:ph type="title"/>
          </p:nvPr>
        </p:nvSpPr>
        <p:spPr/>
        <p:txBody>
          <a:bodyPr/>
          <a:lstStyle/>
          <a:p>
            <a:r>
              <a:rPr lang="en-MY" dirty="0"/>
              <a:t>Root Directory</a:t>
            </a:r>
          </a:p>
        </p:txBody>
      </p:sp>
      <p:sp>
        <p:nvSpPr>
          <p:cNvPr id="3" name="Content Placeholder 2">
            <a:extLst>
              <a:ext uri="{FF2B5EF4-FFF2-40B4-BE49-F238E27FC236}">
                <a16:creationId xmlns:a16="http://schemas.microsoft.com/office/drawing/2014/main" id="{9C1F098D-7A0C-C82D-DDBD-439E2DABE866}"/>
              </a:ext>
            </a:extLst>
          </p:cNvPr>
          <p:cNvSpPr>
            <a:spLocks noGrp="1"/>
          </p:cNvSpPr>
          <p:nvPr>
            <p:ph idx="1"/>
          </p:nvPr>
        </p:nvSpPr>
        <p:spPr/>
        <p:txBody>
          <a:bodyPr/>
          <a:lstStyle/>
          <a:p>
            <a:endParaRPr lang="en-MY"/>
          </a:p>
        </p:txBody>
      </p:sp>
      <p:pic>
        <p:nvPicPr>
          <p:cNvPr id="5" name="Picture 4">
            <a:extLst>
              <a:ext uri="{FF2B5EF4-FFF2-40B4-BE49-F238E27FC236}">
                <a16:creationId xmlns:a16="http://schemas.microsoft.com/office/drawing/2014/main" id="{93DCA9E9-9C6C-AC7A-75B3-25C5C30F6A61}"/>
              </a:ext>
            </a:extLst>
          </p:cNvPr>
          <p:cNvPicPr>
            <a:picLocks noChangeAspect="1"/>
          </p:cNvPicPr>
          <p:nvPr/>
        </p:nvPicPr>
        <p:blipFill>
          <a:blip r:embed="rId2"/>
          <a:stretch>
            <a:fillRect/>
          </a:stretch>
        </p:blipFill>
        <p:spPr>
          <a:xfrm>
            <a:off x="1160034" y="1825625"/>
            <a:ext cx="9607347" cy="4093071"/>
          </a:xfrm>
          <a:prstGeom prst="rect">
            <a:avLst/>
          </a:prstGeom>
        </p:spPr>
      </p:pic>
    </p:spTree>
    <p:extLst>
      <p:ext uri="{BB962C8B-B14F-4D97-AF65-F5344CB8AC3E}">
        <p14:creationId xmlns:p14="http://schemas.microsoft.com/office/powerpoint/2010/main" val="42082614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5FBAF-00AD-EC03-5FF1-3F09E60E9D8E}"/>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C2072090-AB58-C97E-EA12-CC074FCB33C5}"/>
              </a:ext>
            </a:extLst>
          </p:cNvPr>
          <p:cNvSpPr>
            <a:spLocks noGrp="1"/>
          </p:cNvSpPr>
          <p:nvPr>
            <p:ph idx="1"/>
          </p:nvPr>
        </p:nvSpPr>
        <p:spPr/>
        <p:txBody>
          <a:bodyPr/>
          <a:lstStyle/>
          <a:p>
            <a:endParaRPr lang="en-MY"/>
          </a:p>
        </p:txBody>
      </p:sp>
      <p:pic>
        <p:nvPicPr>
          <p:cNvPr id="5" name="Picture 4">
            <a:extLst>
              <a:ext uri="{FF2B5EF4-FFF2-40B4-BE49-F238E27FC236}">
                <a16:creationId xmlns:a16="http://schemas.microsoft.com/office/drawing/2014/main" id="{92185330-E8A2-A3FB-8248-BAF5142B6AEA}"/>
              </a:ext>
            </a:extLst>
          </p:cNvPr>
          <p:cNvPicPr>
            <a:picLocks noChangeAspect="1"/>
          </p:cNvPicPr>
          <p:nvPr/>
        </p:nvPicPr>
        <p:blipFill>
          <a:blip r:embed="rId2"/>
          <a:stretch>
            <a:fillRect/>
          </a:stretch>
        </p:blipFill>
        <p:spPr>
          <a:xfrm>
            <a:off x="1146420" y="681037"/>
            <a:ext cx="9899160" cy="4993253"/>
          </a:xfrm>
          <a:prstGeom prst="rect">
            <a:avLst/>
          </a:prstGeom>
        </p:spPr>
      </p:pic>
      <p:sp>
        <p:nvSpPr>
          <p:cNvPr id="7" name="TextBox 6">
            <a:extLst>
              <a:ext uri="{FF2B5EF4-FFF2-40B4-BE49-F238E27FC236}">
                <a16:creationId xmlns:a16="http://schemas.microsoft.com/office/drawing/2014/main" id="{CFD2368F-E159-DF83-1E4F-8B153645726E}"/>
              </a:ext>
            </a:extLst>
          </p:cNvPr>
          <p:cNvSpPr txBox="1"/>
          <p:nvPr/>
        </p:nvSpPr>
        <p:spPr>
          <a:xfrm>
            <a:off x="3284949" y="5988734"/>
            <a:ext cx="7261965" cy="646331"/>
          </a:xfrm>
          <a:prstGeom prst="rect">
            <a:avLst/>
          </a:prstGeom>
          <a:noFill/>
        </p:spPr>
        <p:txBody>
          <a:bodyPr wrap="square">
            <a:spAutoFit/>
          </a:bodyPr>
          <a:lstStyle/>
          <a:p>
            <a:r>
              <a:rPr lang="en-US" sz="1800" b="0" i="0" dirty="0">
                <a:solidFill>
                  <a:srgbClr val="000000"/>
                </a:solidFill>
                <a:effectLst/>
                <a:latin typeface="PTSans-Regular"/>
              </a:rPr>
              <a:t>Processed generic root directory entries in </a:t>
            </a:r>
            <a:r>
              <a:rPr lang="en-US" sz="1800" b="1" i="0" dirty="0">
                <a:solidFill>
                  <a:srgbClr val="000000"/>
                </a:solidFill>
                <a:effectLst/>
                <a:latin typeface="PTSans-Bold"/>
              </a:rPr>
              <a:t>FAT32_V1.E01</a:t>
            </a:r>
            <a:r>
              <a:rPr lang="en-US" sz="1800" b="0" i="0" dirty="0">
                <a:solidFill>
                  <a:srgbClr val="000000"/>
                </a:solidFill>
                <a:effectLst/>
                <a:latin typeface="PTSans-Regular"/>
              </a:rPr>
              <a:t>.</a:t>
            </a:r>
            <a:r>
              <a:rPr lang="en-US" dirty="0"/>
              <a:t> </a:t>
            </a:r>
            <a:br>
              <a:rPr lang="en-US" dirty="0"/>
            </a:br>
            <a:endParaRPr lang="en-MY" dirty="0"/>
          </a:p>
        </p:txBody>
      </p:sp>
    </p:spTree>
    <p:extLst>
      <p:ext uri="{BB962C8B-B14F-4D97-AF65-F5344CB8AC3E}">
        <p14:creationId xmlns:p14="http://schemas.microsoft.com/office/powerpoint/2010/main" val="23255309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E22C2-C033-05EC-41FF-C06D5EE59C95}"/>
              </a:ext>
            </a:extLst>
          </p:cNvPr>
          <p:cNvSpPr>
            <a:spLocks noGrp="1"/>
          </p:cNvSpPr>
          <p:nvPr>
            <p:ph type="title"/>
          </p:nvPr>
        </p:nvSpPr>
        <p:spPr/>
        <p:txBody>
          <a:bodyPr/>
          <a:lstStyle/>
          <a:p>
            <a:r>
              <a:rPr lang="en-MY" b="1" dirty="0"/>
              <a:t>Process Sub-directories</a:t>
            </a:r>
            <a:r>
              <a:rPr lang="en-MY" dirty="0"/>
              <a:t> </a:t>
            </a:r>
          </a:p>
        </p:txBody>
      </p:sp>
      <p:sp>
        <p:nvSpPr>
          <p:cNvPr id="3" name="Content Placeholder 2">
            <a:extLst>
              <a:ext uri="{FF2B5EF4-FFF2-40B4-BE49-F238E27FC236}">
                <a16:creationId xmlns:a16="http://schemas.microsoft.com/office/drawing/2014/main" id="{9E2DC136-EDD8-F6AE-744D-612295061118}"/>
              </a:ext>
            </a:extLst>
          </p:cNvPr>
          <p:cNvSpPr>
            <a:spLocks noGrp="1"/>
          </p:cNvSpPr>
          <p:nvPr>
            <p:ph idx="1"/>
          </p:nvPr>
        </p:nvSpPr>
        <p:spPr/>
        <p:txBody>
          <a:bodyPr/>
          <a:lstStyle/>
          <a:p>
            <a:r>
              <a:rPr lang="en-US" dirty="0"/>
              <a:t>The next step in the analysis of the FAT file system is to process all the sub-directories. </a:t>
            </a:r>
          </a:p>
          <a:p>
            <a:r>
              <a:rPr lang="en-US" dirty="0"/>
              <a:t>Sub-directories are identical to the root directory in structure (except that they will not have a volume label entry). </a:t>
            </a:r>
          </a:p>
          <a:p>
            <a:r>
              <a:rPr lang="en-US" dirty="0"/>
              <a:t>Hence all sub-directories can be processed in the same manner as the root directory. </a:t>
            </a:r>
          </a:p>
          <a:p>
            <a:r>
              <a:rPr lang="en-US" dirty="0"/>
              <a:t>Once all sub-directories have been processed the listing of all files in the file system is complete. </a:t>
            </a:r>
            <a:br>
              <a:rPr lang="en-US" dirty="0"/>
            </a:br>
            <a:endParaRPr lang="en-MY" dirty="0"/>
          </a:p>
        </p:txBody>
      </p:sp>
    </p:spTree>
    <p:extLst>
      <p:ext uri="{BB962C8B-B14F-4D97-AF65-F5344CB8AC3E}">
        <p14:creationId xmlns:p14="http://schemas.microsoft.com/office/powerpoint/2010/main" val="22009508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0B84D-9ED9-DB01-6E45-641204C91488}"/>
              </a:ext>
            </a:extLst>
          </p:cNvPr>
          <p:cNvSpPr>
            <a:spLocks noGrp="1"/>
          </p:cNvSpPr>
          <p:nvPr>
            <p:ph type="title"/>
          </p:nvPr>
        </p:nvSpPr>
        <p:spPr/>
        <p:txBody>
          <a:bodyPr/>
          <a:lstStyle/>
          <a:p>
            <a:r>
              <a:rPr lang="en-MY" b="1" dirty="0"/>
              <a:t>Recover Metadata/Content</a:t>
            </a:r>
            <a:r>
              <a:rPr lang="en-MY" dirty="0"/>
              <a:t> </a:t>
            </a:r>
          </a:p>
        </p:txBody>
      </p:sp>
      <p:sp>
        <p:nvSpPr>
          <p:cNvPr id="3" name="Content Placeholder 2">
            <a:extLst>
              <a:ext uri="{FF2B5EF4-FFF2-40B4-BE49-F238E27FC236}">
                <a16:creationId xmlns:a16="http://schemas.microsoft.com/office/drawing/2014/main" id="{D58A9FBB-EC85-0F50-647F-C4B516963573}"/>
              </a:ext>
            </a:extLst>
          </p:cNvPr>
          <p:cNvSpPr>
            <a:spLocks noGrp="1"/>
          </p:cNvSpPr>
          <p:nvPr>
            <p:ph idx="1"/>
          </p:nvPr>
        </p:nvSpPr>
        <p:spPr/>
        <p:txBody>
          <a:bodyPr/>
          <a:lstStyle/>
          <a:p>
            <a:r>
              <a:rPr lang="en-US" dirty="0"/>
              <a:t>Consider the file </a:t>
            </a:r>
            <a:r>
              <a:rPr lang="en-US" b="1" dirty="0"/>
              <a:t>INFO.TXT</a:t>
            </a:r>
            <a:r>
              <a:rPr lang="en-US" dirty="0"/>
              <a:t>. The first cluster of this file is 0x04 (4</a:t>
            </a:r>
            <a:r>
              <a:rPr lang="en-US" i="1" dirty="0"/>
              <a:t>d</a:t>
            </a:r>
            <a:r>
              <a:rPr lang="en-US" dirty="0"/>
              <a:t>) and it is 0x8F (143</a:t>
            </a:r>
            <a:r>
              <a:rPr lang="en-US" i="1" dirty="0"/>
              <a:t>d</a:t>
            </a:r>
            <a:r>
              <a:rPr lang="en-US" dirty="0"/>
              <a:t>) bytes in size. Cluster 4</a:t>
            </a:r>
            <a:r>
              <a:rPr lang="en-US" i="1" dirty="0"/>
              <a:t>d </a:t>
            </a:r>
            <a:r>
              <a:rPr lang="en-US" dirty="0"/>
              <a:t>is found in sector number: </a:t>
            </a:r>
            <a:br>
              <a:rPr lang="en-US" dirty="0"/>
            </a:br>
            <a:endParaRPr lang="en-MY" dirty="0"/>
          </a:p>
        </p:txBody>
      </p:sp>
    </p:spTree>
    <p:extLst>
      <p:ext uri="{BB962C8B-B14F-4D97-AF65-F5344CB8AC3E}">
        <p14:creationId xmlns:p14="http://schemas.microsoft.com/office/powerpoint/2010/main" val="15104221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D69894-538C-18F4-AC8B-B3DCCBEA130B}"/>
              </a:ext>
            </a:extLst>
          </p:cNvPr>
          <p:cNvSpPr>
            <a:spLocks noGrp="1"/>
          </p:cNvSpPr>
          <p:nvPr>
            <p:ph idx="1"/>
          </p:nvPr>
        </p:nvSpPr>
        <p:spPr>
          <a:xfrm>
            <a:off x="1261991" y="883085"/>
            <a:ext cx="10515600" cy="4351338"/>
          </a:xfrm>
        </p:spPr>
        <p:txBody>
          <a:bodyPr/>
          <a:lstStyle/>
          <a:p>
            <a:pPr marL="0" indent="0">
              <a:buNone/>
            </a:pPr>
            <a:r>
              <a:rPr lang="en-MY" i="1" dirty="0"/>
              <a:t>S</a:t>
            </a:r>
            <a:r>
              <a:rPr lang="en-MY" dirty="0"/>
              <a:t># = ((4 - 2) × 8) + 32 + (2 × 1024) = 2096</a:t>
            </a:r>
            <a:r>
              <a:rPr lang="en-MY" i="1" dirty="0"/>
              <a:t>d</a:t>
            </a:r>
            <a:r>
              <a:rPr lang="en-MY" dirty="0"/>
              <a:t> </a:t>
            </a:r>
          </a:p>
        </p:txBody>
      </p:sp>
      <p:pic>
        <p:nvPicPr>
          <p:cNvPr id="5" name="Picture 4">
            <a:extLst>
              <a:ext uri="{FF2B5EF4-FFF2-40B4-BE49-F238E27FC236}">
                <a16:creationId xmlns:a16="http://schemas.microsoft.com/office/drawing/2014/main" id="{AB3BBAA7-5661-8DCF-1A1E-76D537D333E1}"/>
              </a:ext>
            </a:extLst>
          </p:cNvPr>
          <p:cNvPicPr>
            <a:picLocks noChangeAspect="1"/>
          </p:cNvPicPr>
          <p:nvPr/>
        </p:nvPicPr>
        <p:blipFill>
          <a:blip r:embed="rId2"/>
          <a:stretch>
            <a:fillRect/>
          </a:stretch>
        </p:blipFill>
        <p:spPr>
          <a:xfrm>
            <a:off x="1261991" y="1520223"/>
            <a:ext cx="10244215" cy="3077063"/>
          </a:xfrm>
          <a:prstGeom prst="rect">
            <a:avLst/>
          </a:prstGeom>
        </p:spPr>
      </p:pic>
    </p:spTree>
    <p:extLst>
      <p:ext uri="{BB962C8B-B14F-4D97-AF65-F5344CB8AC3E}">
        <p14:creationId xmlns:p14="http://schemas.microsoft.com/office/powerpoint/2010/main" val="38200852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744B80-001F-D608-0283-A6614929DB19}"/>
              </a:ext>
            </a:extLst>
          </p:cNvPr>
          <p:cNvSpPr>
            <a:spLocks noGrp="1"/>
          </p:cNvSpPr>
          <p:nvPr>
            <p:ph idx="1"/>
          </p:nvPr>
        </p:nvSpPr>
        <p:spPr>
          <a:xfrm>
            <a:off x="838200" y="773438"/>
            <a:ext cx="10515600" cy="4351338"/>
          </a:xfrm>
        </p:spPr>
        <p:txBody>
          <a:bodyPr>
            <a:normAutofit lnSpcReduction="10000"/>
          </a:bodyPr>
          <a:lstStyle/>
          <a:p>
            <a:r>
              <a:rPr lang="en-US" dirty="0"/>
              <a:t>But what about a larger file? </a:t>
            </a:r>
          </a:p>
          <a:p>
            <a:r>
              <a:rPr lang="en-US" b="1" dirty="0"/>
              <a:t>INFO.TXT </a:t>
            </a:r>
            <a:r>
              <a:rPr lang="en-US" dirty="0"/>
              <a:t>was only 143</a:t>
            </a:r>
            <a:r>
              <a:rPr lang="en-US" i="1" dirty="0"/>
              <a:t>d </a:t>
            </a:r>
            <a:r>
              <a:rPr lang="en-US" dirty="0"/>
              <a:t>bytes in size, much smaller than a single cluster. </a:t>
            </a:r>
          </a:p>
          <a:p>
            <a:r>
              <a:rPr lang="en-US" dirty="0"/>
              <a:t>What about a file such as </a:t>
            </a:r>
            <a:r>
              <a:rPr lang="en-US" b="1" dirty="0"/>
              <a:t>CLIFFS.JPG </a:t>
            </a:r>
            <a:r>
              <a:rPr lang="en-US" dirty="0"/>
              <a:t>which is 0x3E9EA (256</a:t>
            </a:r>
            <a:r>
              <a:rPr lang="en-US" i="1" dirty="0"/>
              <a:t>, </a:t>
            </a:r>
            <a:r>
              <a:rPr lang="en-US" dirty="0"/>
              <a:t>490</a:t>
            </a:r>
            <a:r>
              <a:rPr lang="en-US" i="1" dirty="0"/>
              <a:t>d</a:t>
            </a:r>
            <a:r>
              <a:rPr lang="en-US" dirty="0"/>
              <a:t>) bytes beginning in cluster 0x05 (5</a:t>
            </a:r>
            <a:r>
              <a:rPr lang="en-US" i="1" dirty="0"/>
              <a:t>d</a:t>
            </a:r>
            <a:r>
              <a:rPr lang="en-US" dirty="0"/>
              <a:t>)? </a:t>
            </a:r>
          </a:p>
          <a:p>
            <a:r>
              <a:rPr lang="en-US" dirty="0"/>
              <a:t>As this is much larger than the cluster size (4096</a:t>
            </a:r>
            <a:r>
              <a:rPr lang="en-US" i="1" dirty="0"/>
              <a:t>d </a:t>
            </a:r>
            <a:r>
              <a:rPr lang="en-US" dirty="0"/>
              <a:t>bytes) multiple clusters must be used. </a:t>
            </a:r>
          </a:p>
          <a:p>
            <a:r>
              <a:rPr lang="en-US" dirty="0"/>
              <a:t>The directory entry provides only the first cluster. In this case the FAT table is consulted. </a:t>
            </a:r>
            <a:br>
              <a:rPr lang="en-US" dirty="0"/>
            </a:br>
            <a:endParaRPr lang="en-MY" dirty="0"/>
          </a:p>
        </p:txBody>
      </p:sp>
    </p:spTree>
    <p:extLst>
      <p:ext uri="{BB962C8B-B14F-4D97-AF65-F5344CB8AC3E}">
        <p14:creationId xmlns:p14="http://schemas.microsoft.com/office/powerpoint/2010/main" val="18974975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2135</TotalTime>
  <Words>4576</Words>
  <Application>Microsoft Office PowerPoint</Application>
  <PresentationFormat>Widescreen</PresentationFormat>
  <Paragraphs>370</Paragraphs>
  <Slides>44</Slides>
  <Notes>22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44</vt:i4>
      </vt:variant>
    </vt:vector>
  </HeadingPairs>
  <TitlesOfParts>
    <vt:vector size="55" baseType="lpstr">
      <vt:lpstr>PTSans-Bold</vt:lpstr>
      <vt:lpstr>PTSans-Regular</vt:lpstr>
      <vt:lpstr>STIXTwoText</vt:lpstr>
      <vt:lpstr>STIXTwoText-Bold</vt:lpstr>
      <vt:lpstr>Aptos</vt:lpstr>
      <vt:lpstr>Aptos Display</vt:lpstr>
      <vt:lpstr>Arial</vt:lpstr>
      <vt:lpstr>Calibri</vt:lpstr>
      <vt:lpstr>Cambria Math</vt:lpstr>
      <vt:lpstr>Courier New</vt:lpstr>
      <vt:lpstr>Office Theme</vt:lpstr>
      <vt:lpstr>File System</vt:lpstr>
      <vt:lpstr>PowerPoint Presentation</vt:lpstr>
      <vt:lpstr>The FAT File System</vt:lpstr>
      <vt:lpstr>Think of the FAT as a big list (table)</vt:lpstr>
      <vt:lpstr>In simpler terms</vt:lpstr>
      <vt:lpstr>File system that was created in 1977</vt:lpstr>
      <vt:lpstr>On-Disk Structures </vt:lpstr>
      <vt:lpstr>Layout</vt:lpstr>
      <vt:lpstr>Volume Boot Record (reserved area)</vt:lpstr>
      <vt:lpstr>PowerPoint Presentation</vt:lpstr>
      <vt:lpstr>PowerPoint Presentation</vt:lpstr>
      <vt:lpstr>File System Information (FSINFO) </vt:lpstr>
      <vt:lpstr>File Allocation Table </vt:lpstr>
      <vt:lpstr>PowerPoint Presentation</vt:lpstr>
      <vt:lpstr>PowerPoint Presentation</vt:lpstr>
      <vt:lpstr>PowerPoint Presentation</vt:lpstr>
      <vt:lpstr>Directory Entries </vt:lpstr>
      <vt:lpstr>Directory Entries  (Where They Are Located)</vt:lpstr>
      <vt:lpstr>PowerPoint Presentation</vt:lpstr>
      <vt:lpstr>PowerPoint Presentation</vt:lpstr>
      <vt:lpstr>PowerPoint Presentation</vt:lpstr>
      <vt:lpstr>PowerPoint Presentation</vt:lpstr>
      <vt:lpstr>8.3 name conversion</vt:lpstr>
      <vt:lpstr>FAT generic directory entry structure. </vt:lpstr>
      <vt:lpstr>FAT Date and Time </vt:lpstr>
      <vt:lpstr>PowerPoint Presentation</vt:lpstr>
      <vt:lpstr>FAT time</vt:lpstr>
      <vt:lpstr>PowerPoint Presentation</vt:lpstr>
      <vt:lpstr>Mapping Cluster to Sector</vt:lpstr>
      <vt:lpstr>PowerPoint Presentation</vt:lpstr>
      <vt:lpstr>PowerPoint Presentation</vt:lpstr>
      <vt:lpstr>PowerPoint Presentation</vt:lpstr>
      <vt:lpstr>Example:</vt:lpstr>
      <vt:lpstr>Exercise</vt:lpstr>
      <vt:lpstr>Exercise</vt:lpstr>
      <vt:lpstr>Analysis of FAT32</vt:lpstr>
      <vt:lpstr>PowerPoint Presentation</vt:lpstr>
      <vt:lpstr>PowerPoint Presentation</vt:lpstr>
      <vt:lpstr>Root Directory</vt:lpstr>
      <vt:lpstr>PowerPoint Presentation</vt:lpstr>
      <vt:lpstr>Process Sub-directories </vt:lpstr>
      <vt:lpstr>Recover Metadata/Content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Afiqah binti Mohammad Azahari</dc:creator>
  <cp:lastModifiedBy>Afiqah binti Mohammad Azahari</cp:lastModifiedBy>
  <cp:revision>15</cp:revision>
  <dcterms:created xsi:type="dcterms:W3CDTF">2025-11-05T07:14:12Z</dcterms:created>
  <dcterms:modified xsi:type="dcterms:W3CDTF">2025-11-10T21:02:18Z</dcterms:modified>
</cp:coreProperties>
</file>