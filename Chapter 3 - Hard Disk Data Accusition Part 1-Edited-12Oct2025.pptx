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79" r:id="rId3"/>
    <p:sldId id="280" r:id="rId4"/>
    <p:sldId id="281" r:id="rId5"/>
    <p:sldId id="282" r:id="rId6"/>
    <p:sldId id="283" r:id="rId7"/>
    <p:sldId id="284" r:id="rId8"/>
    <p:sldId id="286" r:id="rId9"/>
    <p:sldId id="299" r:id="rId10"/>
    <p:sldId id="300" r:id="rId11"/>
    <p:sldId id="287" r:id="rId12"/>
    <p:sldId id="285" r:id="rId13"/>
    <p:sldId id="288" r:id="rId14"/>
    <p:sldId id="289" r:id="rId15"/>
    <p:sldId id="290" r:id="rId16"/>
    <p:sldId id="291" r:id="rId17"/>
    <p:sldId id="292" r:id="rId18"/>
    <p:sldId id="293" r:id="rId19"/>
    <p:sldId id="298" r:id="rId20"/>
    <p:sldId id="294" r:id="rId21"/>
    <p:sldId id="295" r:id="rId22"/>
    <p:sldId id="297" r:id="rId23"/>
    <p:sldId id="296" r:id="rId24"/>
    <p:sldId id="27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78519" autoAdjust="0"/>
  </p:normalViewPr>
  <p:slideViewPr>
    <p:cSldViewPr snapToGrid="0">
      <p:cViewPr varScale="1">
        <p:scale>
          <a:sx n="60" d="100"/>
          <a:sy n="60" d="100"/>
        </p:scale>
        <p:origin x="78" y="6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2E61B7-DDC3-4C0B-ADC1-59B42B5F0C44}"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AFA1AA34-9529-4AD9-B1D8-62C58F4BADAC}">
      <dgm:prSet/>
      <dgm:spPr/>
      <dgm:t>
        <a:bodyPr/>
        <a:lstStyle/>
        <a:p>
          <a:r>
            <a:rPr lang="en-US"/>
            <a:t>The analysis of data found on a storage device, namely a hard disk. </a:t>
          </a:r>
        </a:p>
      </dgm:t>
    </dgm:pt>
    <dgm:pt modelId="{45FFE0D3-5FF4-4AED-B22D-268C2ABD97F1}" type="parTrans" cxnId="{EC3C7C89-5D2D-448F-8C5F-B048FA30A146}">
      <dgm:prSet/>
      <dgm:spPr/>
      <dgm:t>
        <a:bodyPr/>
        <a:lstStyle/>
        <a:p>
          <a:endParaRPr lang="en-US"/>
        </a:p>
      </dgm:t>
    </dgm:pt>
    <dgm:pt modelId="{17FEA4D2-052F-46FB-8A48-C0830563A013}" type="sibTrans" cxnId="{EC3C7C89-5D2D-448F-8C5F-B048FA30A146}">
      <dgm:prSet/>
      <dgm:spPr/>
      <dgm:t>
        <a:bodyPr/>
        <a:lstStyle/>
        <a:p>
          <a:endParaRPr lang="en-US"/>
        </a:p>
      </dgm:t>
    </dgm:pt>
    <dgm:pt modelId="{94796605-1E22-47BC-B544-8A61C6813BD0}">
      <dgm:prSet/>
      <dgm:spPr/>
      <dgm:t>
        <a:bodyPr/>
        <a:lstStyle/>
        <a:p>
          <a:r>
            <a:rPr lang="en-US"/>
            <a:t>Data can be analyzed on a live system, but it is more common to acquire a copy of the data for a dead analysis. </a:t>
          </a:r>
        </a:p>
      </dgm:t>
    </dgm:pt>
    <dgm:pt modelId="{B7846F72-34B4-4FDE-9C9F-A424B8EE56E4}" type="parTrans" cxnId="{D2AE58DC-053E-482E-BAD9-3A074FA2518B}">
      <dgm:prSet/>
      <dgm:spPr/>
      <dgm:t>
        <a:bodyPr/>
        <a:lstStyle/>
        <a:p>
          <a:endParaRPr lang="en-US"/>
        </a:p>
      </dgm:t>
    </dgm:pt>
    <dgm:pt modelId="{3ACD7600-3FF9-4A82-BDB2-23E5BD14A858}" type="sibTrans" cxnId="{D2AE58DC-053E-482E-BAD9-3A074FA2518B}">
      <dgm:prSet/>
      <dgm:spPr/>
      <dgm:t>
        <a:bodyPr/>
        <a:lstStyle/>
        <a:p>
          <a:endParaRPr lang="en-US"/>
        </a:p>
      </dgm:t>
    </dgm:pt>
    <dgm:pt modelId="{DD08869B-C0B5-4995-9226-3B7C10987288}">
      <dgm:prSet/>
      <dgm:spPr/>
      <dgm:t>
        <a:bodyPr/>
        <a:lstStyle/>
        <a:p>
          <a:r>
            <a:rPr lang="en-US"/>
            <a:t>Acquisition typically occurs during the System Preservation phase of an investigation and is one of the most important phases in a digital forensic investigation because if data are not collected from the system, they could be lost and therefore not recognized as evidence. </a:t>
          </a:r>
        </a:p>
      </dgm:t>
    </dgm:pt>
    <dgm:pt modelId="{F75A6C58-F5E8-4E5B-9FCD-306B1217FB29}" type="parTrans" cxnId="{3007C040-5BC6-4B79-A84E-236095410B47}">
      <dgm:prSet/>
      <dgm:spPr/>
      <dgm:t>
        <a:bodyPr/>
        <a:lstStyle/>
        <a:p>
          <a:endParaRPr lang="en-US"/>
        </a:p>
      </dgm:t>
    </dgm:pt>
    <dgm:pt modelId="{418A3A31-61E6-4967-8B7B-81A2A6BC3028}" type="sibTrans" cxnId="{3007C040-5BC6-4B79-A84E-236095410B47}">
      <dgm:prSet/>
      <dgm:spPr/>
      <dgm:t>
        <a:bodyPr/>
        <a:lstStyle/>
        <a:p>
          <a:endParaRPr lang="en-US"/>
        </a:p>
      </dgm:t>
    </dgm:pt>
    <dgm:pt modelId="{25125947-8266-4A62-9CE1-64B2A58DC062}">
      <dgm:prSet/>
      <dgm:spPr/>
      <dgm:t>
        <a:bodyPr/>
        <a:lstStyle/>
        <a:p>
          <a:r>
            <a:rPr lang="en-US"/>
            <a:t>Further, if data are not collected properly, their value as legal evidence is diminished.</a:t>
          </a:r>
        </a:p>
      </dgm:t>
    </dgm:pt>
    <dgm:pt modelId="{09BB8182-0177-4321-8F98-842FD9A42931}" type="parTrans" cxnId="{3563C937-A480-467E-898A-90794F283AE6}">
      <dgm:prSet/>
      <dgm:spPr/>
      <dgm:t>
        <a:bodyPr/>
        <a:lstStyle/>
        <a:p>
          <a:endParaRPr lang="en-US"/>
        </a:p>
      </dgm:t>
    </dgm:pt>
    <dgm:pt modelId="{579B0FAD-565C-4161-9AFB-C1718CA39B30}" type="sibTrans" cxnId="{3563C937-A480-467E-898A-90794F283AE6}">
      <dgm:prSet/>
      <dgm:spPr/>
      <dgm:t>
        <a:bodyPr/>
        <a:lstStyle/>
        <a:p>
          <a:endParaRPr lang="en-US"/>
        </a:p>
      </dgm:t>
    </dgm:pt>
    <dgm:pt modelId="{2EC2E404-3AA8-1D47-B717-F32D745A3687}" type="pres">
      <dgm:prSet presAssocID="{ED2E61B7-DDC3-4C0B-ADC1-59B42B5F0C44}" presName="linear" presStyleCnt="0">
        <dgm:presLayoutVars>
          <dgm:animLvl val="lvl"/>
          <dgm:resizeHandles val="exact"/>
        </dgm:presLayoutVars>
      </dgm:prSet>
      <dgm:spPr/>
    </dgm:pt>
    <dgm:pt modelId="{59A72EAC-3D0B-A245-8F30-CEDDC2AC10FC}" type="pres">
      <dgm:prSet presAssocID="{AFA1AA34-9529-4AD9-B1D8-62C58F4BADAC}" presName="parentText" presStyleLbl="node1" presStyleIdx="0" presStyleCnt="4">
        <dgm:presLayoutVars>
          <dgm:chMax val="0"/>
          <dgm:bulletEnabled val="1"/>
        </dgm:presLayoutVars>
      </dgm:prSet>
      <dgm:spPr/>
    </dgm:pt>
    <dgm:pt modelId="{DF8EC2E4-6A04-DC4A-B76C-505361F9EDBD}" type="pres">
      <dgm:prSet presAssocID="{17FEA4D2-052F-46FB-8A48-C0830563A013}" presName="spacer" presStyleCnt="0"/>
      <dgm:spPr/>
    </dgm:pt>
    <dgm:pt modelId="{B9ABE26D-382B-2E4E-BB86-05B4BF68DF2F}" type="pres">
      <dgm:prSet presAssocID="{94796605-1E22-47BC-B544-8A61C6813BD0}" presName="parentText" presStyleLbl="node1" presStyleIdx="1" presStyleCnt="4">
        <dgm:presLayoutVars>
          <dgm:chMax val="0"/>
          <dgm:bulletEnabled val="1"/>
        </dgm:presLayoutVars>
      </dgm:prSet>
      <dgm:spPr/>
    </dgm:pt>
    <dgm:pt modelId="{688EF456-6F9E-9E40-A5FE-07B6327B0759}" type="pres">
      <dgm:prSet presAssocID="{3ACD7600-3FF9-4A82-BDB2-23E5BD14A858}" presName="spacer" presStyleCnt="0"/>
      <dgm:spPr/>
    </dgm:pt>
    <dgm:pt modelId="{57F3C54A-AD05-B24B-A699-29BBADD6708E}" type="pres">
      <dgm:prSet presAssocID="{DD08869B-C0B5-4995-9226-3B7C10987288}" presName="parentText" presStyleLbl="node1" presStyleIdx="2" presStyleCnt="4">
        <dgm:presLayoutVars>
          <dgm:chMax val="0"/>
          <dgm:bulletEnabled val="1"/>
        </dgm:presLayoutVars>
      </dgm:prSet>
      <dgm:spPr/>
    </dgm:pt>
    <dgm:pt modelId="{E7B43394-B2C7-F844-96BC-E32F80AFF924}" type="pres">
      <dgm:prSet presAssocID="{418A3A31-61E6-4967-8B7B-81A2A6BC3028}" presName="spacer" presStyleCnt="0"/>
      <dgm:spPr/>
    </dgm:pt>
    <dgm:pt modelId="{2152B471-31BF-E740-8FAA-8BC167EA0244}" type="pres">
      <dgm:prSet presAssocID="{25125947-8266-4A62-9CE1-64B2A58DC062}" presName="parentText" presStyleLbl="node1" presStyleIdx="3" presStyleCnt="4">
        <dgm:presLayoutVars>
          <dgm:chMax val="0"/>
          <dgm:bulletEnabled val="1"/>
        </dgm:presLayoutVars>
      </dgm:prSet>
      <dgm:spPr/>
    </dgm:pt>
  </dgm:ptLst>
  <dgm:cxnLst>
    <dgm:cxn modelId="{3563C937-A480-467E-898A-90794F283AE6}" srcId="{ED2E61B7-DDC3-4C0B-ADC1-59B42B5F0C44}" destId="{25125947-8266-4A62-9CE1-64B2A58DC062}" srcOrd="3" destOrd="0" parTransId="{09BB8182-0177-4321-8F98-842FD9A42931}" sibTransId="{579B0FAD-565C-4161-9AFB-C1718CA39B30}"/>
    <dgm:cxn modelId="{3007C040-5BC6-4B79-A84E-236095410B47}" srcId="{ED2E61B7-DDC3-4C0B-ADC1-59B42B5F0C44}" destId="{DD08869B-C0B5-4995-9226-3B7C10987288}" srcOrd="2" destOrd="0" parTransId="{F75A6C58-F5E8-4E5B-9FCD-306B1217FB29}" sibTransId="{418A3A31-61E6-4967-8B7B-81A2A6BC3028}"/>
    <dgm:cxn modelId="{15AA407C-5C4F-474B-9AE7-B85A2E58F05C}" type="presOf" srcId="{AFA1AA34-9529-4AD9-B1D8-62C58F4BADAC}" destId="{59A72EAC-3D0B-A245-8F30-CEDDC2AC10FC}" srcOrd="0" destOrd="0" presId="urn:microsoft.com/office/officeart/2005/8/layout/vList2"/>
    <dgm:cxn modelId="{EC3C7C89-5D2D-448F-8C5F-B048FA30A146}" srcId="{ED2E61B7-DDC3-4C0B-ADC1-59B42B5F0C44}" destId="{AFA1AA34-9529-4AD9-B1D8-62C58F4BADAC}" srcOrd="0" destOrd="0" parTransId="{45FFE0D3-5FF4-4AED-B22D-268C2ABD97F1}" sibTransId="{17FEA4D2-052F-46FB-8A48-C0830563A013}"/>
    <dgm:cxn modelId="{C5FDD58A-EBB3-2D49-93E0-83EC251BCA0A}" type="presOf" srcId="{DD08869B-C0B5-4995-9226-3B7C10987288}" destId="{57F3C54A-AD05-B24B-A699-29BBADD6708E}" srcOrd="0" destOrd="0" presId="urn:microsoft.com/office/officeart/2005/8/layout/vList2"/>
    <dgm:cxn modelId="{46469B96-7068-0443-B0FE-07508F14F24F}" type="presOf" srcId="{94796605-1E22-47BC-B544-8A61C6813BD0}" destId="{B9ABE26D-382B-2E4E-BB86-05B4BF68DF2F}" srcOrd="0" destOrd="0" presId="urn:microsoft.com/office/officeart/2005/8/layout/vList2"/>
    <dgm:cxn modelId="{9D5A969C-1D1A-FB43-87F4-A27BAE9A5E03}" type="presOf" srcId="{25125947-8266-4A62-9CE1-64B2A58DC062}" destId="{2152B471-31BF-E740-8FAA-8BC167EA0244}" srcOrd="0" destOrd="0" presId="urn:microsoft.com/office/officeart/2005/8/layout/vList2"/>
    <dgm:cxn modelId="{D2AE58DC-053E-482E-BAD9-3A074FA2518B}" srcId="{ED2E61B7-DDC3-4C0B-ADC1-59B42B5F0C44}" destId="{94796605-1E22-47BC-B544-8A61C6813BD0}" srcOrd="1" destOrd="0" parTransId="{B7846F72-34B4-4FDE-9C9F-A424B8EE56E4}" sibTransId="{3ACD7600-3FF9-4A82-BDB2-23E5BD14A858}"/>
    <dgm:cxn modelId="{9E650BE3-F0D1-AA46-A1E7-E55B8BD26A32}" type="presOf" srcId="{ED2E61B7-DDC3-4C0B-ADC1-59B42B5F0C44}" destId="{2EC2E404-3AA8-1D47-B717-F32D745A3687}" srcOrd="0" destOrd="0" presId="urn:microsoft.com/office/officeart/2005/8/layout/vList2"/>
    <dgm:cxn modelId="{6CB2152B-BB52-7E4F-9E4B-E273D7E95697}" type="presParOf" srcId="{2EC2E404-3AA8-1D47-B717-F32D745A3687}" destId="{59A72EAC-3D0B-A245-8F30-CEDDC2AC10FC}" srcOrd="0" destOrd="0" presId="urn:microsoft.com/office/officeart/2005/8/layout/vList2"/>
    <dgm:cxn modelId="{6FE800A6-2908-9F4D-98E3-D27F5C3DEE1A}" type="presParOf" srcId="{2EC2E404-3AA8-1D47-B717-F32D745A3687}" destId="{DF8EC2E4-6A04-DC4A-B76C-505361F9EDBD}" srcOrd="1" destOrd="0" presId="urn:microsoft.com/office/officeart/2005/8/layout/vList2"/>
    <dgm:cxn modelId="{6D1B7D85-CBC1-DE48-B228-FDFBAA8143B8}" type="presParOf" srcId="{2EC2E404-3AA8-1D47-B717-F32D745A3687}" destId="{B9ABE26D-382B-2E4E-BB86-05B4BF68DF2F}" srcOrd="2" destOrd="0" presId="urn:microsoft.com/office/officeart/2005/8/layout/vList2"/>
    <dgm:cxn modelId="{8EB58322-834D-F744-8A2E-A2D5EFB2EBED}" type="presParOf" srcId="{2EC2E404-3AA8-1D47-B717-F32D745A3687}" destId="{688EF456-6F9E-9E40-A5FE-07B6327B0759}" srcOrd="3" destOrd="0" presId="urn:microsoft.com/office/officeart/2005/8/layout/vList2"/>
    <dgm:cxn modelId="{CAC654EE-6E25-4844-8FFE-4B8C6A34A2EA}" type="presParOf" srcId="{2EC2E404-3AA8-1D47-B717-F32D745A3687}" destId="{57F3C54A-AD05-B24B-A699-29BBADD6708E}" srcOrd="4" destOrd="0" presId="urn:microsoft.com/office/officeart/2005/8/layout/vList2"/>
    <dgm:cxn modelId="{AE0FE8F7-7DEC-4940-806E-00FC0DC0AD62}" type="presParOf" srcId="{2EC2E404-3AA8-1D47-B717-F32D745A3687}" destId="{E7B43394-B2C7-F844-96BC-E32F80AFF924}" srcOrd="5" destOrd="0" presId="urn:microsoft.com/office/officeart/2005/8/layout/vList2"/>
    <dgm:cxn modelId="{8200278E-9527-BD4D-9750-2E251BD4EDB8}" type="presParOf" srcId="{2EC2E404-3AA8-1D47-B717-F32D745A3687}" destId="{2152B471-31BF-E740-8FAA-8BC167EA0244}"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F095441-5B9A-4CEC-9AED-7EF4081FA7D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0E3FE89-926C-4A47-9E52-B7BD30E7710F}">
      <dgm:prSet/>
      <dgm:spPr/>
      <dgm:t>
        <a:bodyPr/>
        <a:lstStyle/>
        <a:p>
          <a:r>
            <a:rPr lang="en-US"/>
            <a:t>There are two major parts of the acquisition process. </a:t>
          </a:r>
        </a:p>
      </dgm:t>
    </dgm:pt>
    <dgm:pt modelId="{4F84DB86-C530-4D15-BA92-4DA9B9FFDE33}" type="parTrans" cxnId="{39BD5EE0-60A7-4A45-8F87-2D64D2B3CE80}">
      <dgm:prSet/>
      <dgm:spPr/>
      <dgm:t>
        <a:bodyPr/>
        <a:lstStyle/>
        <a:p>
          <a:endParaRPr lang="en-US"/>
        </a:p>
      </dgm:t>
    </dgm:pt>
    <dgm:pt modelId="{0BB90BDE-B8A0-4827-9558-38BA9D4414D4}" type="sibTrans" cxnId="{39BD5EE0-60A7-4A45-8F87-2D64D2B3CE80}">
      <dgm:prSet/>
      <dgm:spPr/>
      <dgm:t>
        <a:bodyPr/>
        <a:lstStyle/>
        <a:p>
          <a:endParaRPr lang="en-US"/>
        </a:p>
      </dgm:t>
    </dgm:pt>
    <dgm:pt modelId="{62D15572-8B47-4B6F-AAD4-170DF2E5E079}">
      <dgm:prSet/>
      <dgm:spPr/>
      <dgm:t>
        <a:bodyPr/>
        <a:lstStyle/>
        <a:p>
          <a:r>
            <a:rPr lang="en-US"/>
            <a:t>First, we need to read data from a source, and </a:t>
          </a:r>
        </a:p>
      </dgm:t>
    </dgm:pt>
    <dgm:pt modelId="{FBD43BFF-C5A4-46A5-AC37-EFFC57A589DA}" type="parTrans" cxnId="{183C9330-53D7-47FB-AFEA-C9CFD469F7F7}">
      <dgm:prSet/>
      <dgm:spPr/>
      <dgm:t>
        <a:bodyPr/>
        <a:lstStyle/>
        <a:p>
          <a:endParaRPr lang="en-US"/>
        </a:p>
      </dgm:t>
    </dgm:pt>
    <dgm:pt modelId="{F17A8C0B-DE85-43D7-B299-C7FB87F2DD58}" type="sibTrans" cxnId="{183C9330-53D7-47FB-AFEA-C9CFD469F7F7}">
      <dgm:prSet/>
      <dgm:spPr/>
      <dgm:t>
        <a:bodyPr/>
        <a:lstStyle/>
        <a:p>
          <a:endParaRPr lang="en-US"/>
        </a:p>
      </dgm:t>
    </dgm:pt>
    <dgm:pt modelId="{C29E8678-A322-4415-B97F-69614B174172}">
      <dgm:prSet/>
      <dgm:spPr/>
      <dgm:t>
        <a:bodyPr/>
        <a:lstStyle/>
        <a:p>
          <a:r>
            <a:rPr lang="en-US"/>
            <a:t>Second, we need to write it to the destination. </a:t>
          </a:r>
        </a:p>
      </dgm:t>
    </dgm:pt>
    <dgm:pt modelId="{0D133DC8-0888-4BF3-A9AD-2C91B4308F66}" type="parTrans" cxnId="{C6FCA5C6-C757-41F9-B99F-4EC94D68950F}">
      <dgm:prSet/>
      <dgm:spPr/>
      <dgm:t>
        <a:bodyPr/>
        <a:lstStyle/>
        <a:p>
          <a:endParaRPr lang="en-US"/>
        </a:p>
      </dgm:t>
    </dgm:pt>
    <dgm:pt modelId="{8F3705DA-8CE6-4AA5-8C5D-23C4CF7DCF23}" type="sibTrans" cxnId="{C6FCA5C6-C757-41F9-B99F-4EC94D68950F}">
      <dgm:prSet/>
      <dgm:spPr/>
      <dgm:t>
        <a:bodyPr/>
        <a:lstStyle/>
        <a:p>
          <a:endParaRPr lang="en-US"/>
        </a:p>
      </dgm:t>
    </dgm:pt>
    <dgm:pt modelId="{6B8547A2-C045-4E5F-926F-36317A6FC7CA}">
      <dgm:prSet/>
      <dgm:spPr/>
      <dgm:t>
        <a:bodyPr/>
        <a:lstStyle/>
        <a:p>
          <a:r>
            <a:rPr lang="en-US"/>
            <a:t>This chapter focuses on the analysis of volume and file system data, we are going to cover the process of acquiring at the disk level (because that is where the volume data structures are located). </a:t>
          </a:r>
        </a:p>
      </dgm:t>
    </dgm:pt>
    <dgm:pt modelId="{E7868AC2-8F11-4F85-8B06-128DF1EC1DB6}" type="parTrans" cxnId="{31E3A685-FAEF-447D-AD9A-BB22C2B24ACD}">
      <dgm:prSet/>
      <dgm:spPr/>
      <dgm:t>
        <a:bodyPr/>
        <a:lstStyle/>
        <a:p>
          <a:endParaRPr lang="en-US"/>
        </a:p>
      </dgm:t>
    </dgm:pt>
    <dgm:pt modelId="{6A320CB8-3120-4521-BBF2-37A2398DF458}" type="sibTrans" cxnId="{31E3A685-FAEF-447D-AD9A-BB22C2B24ACD}">
      <dgm:prSet/>
      <dgm:spPr/>
      <dgm:t>
        <a:bodyPr/>
        <a:lstStyle/>
        <a:p>
          <a:endParaRPr lang="en-US"/>
        </a:p>
      </dgm:t>
    </dgm:pt>
    <dgm:pt modelId="{55AD6788-DA4A-4168-8F2D-2B0357CA7F8B}" type="pres">
      <dgm:prSet presAssocID="{9F095441-5B9A-4CEC-9AED-7EF4081FA7D2}" presName="root" presStyleCnt="0">
        <dgm:presLayoutVars>
          <dgm:dir/>
          <dgm:resizeHandles val="exact"/>
        </dgm:presLayoutVars>
      </dgm:prSet>
      <dgm:spPr/>
    </dgm:pt>
    <dgm:pt modelId="{3A581C26-096E-4012-9219-ED64F83F2DB5}" type="pres">
      <dgm:prSet presAssocID="{40E3FE89-926C-4A47-9E52-B7BD30E7710F}" presName="compNode" presStyleCnt="0"/>
      <dgm:spPr/>
    </dgm:pt>
    <dgm:pt modelId="{10CA6DF3-9FEE-4EC5-BC02-3FBB47114E18}" type="pres">
      <dgm:prSet presAssocID="{40E3FE89-926C-4A47-9E52-B7BD30E7710F}" presName="bgRect" presStyleLbl="bgShp" presStyleIdx="0" presStyleCnt="2"/>
      <dgm:spPr/>
    </dgm:pt>
    <dgm:pt modelId="{930EDB29-5BD5-49CF-9CD4-F8A3645F01A4}" type="pres">
      <dgm:prSet presAssocID="{40E3FE89-926C-4A47-9E52-B7BD30E7710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owchart"/>
        </a:ext>
      </dgm:extLst>
    </dgm:pt>
    <dgm:pt modelId="{E8FF5164-6EC1-48B7-8912-EABF112F7CA4}" type="pres">
      <dgm:prSet presAssocID="{40E3FE89-926C-4A47-9E52-B7BD30E7710F}" presName="spaceRect" presStyleCnt="0"/>
      <dgm:spPr/>
    </dgm:pt>
    <dgm:pt modelId="{B9DE2348-A70B-466D-B621-663F3B6D064C}" type="pres">
      <dgm:prSet presAssocID="{40E3FE89-926C-4A47-9E52-B7BD30E7710F}" presName="parTx" presStyleLbl="revTx" presStyleIdx="0" presStyleCnt="3">
        <dgm:presLayoutVars>
          <dgm:chMax val="0"/>
          <dgm:chPref val="0"/>
        </dgm:presLayoutVars>
      </dgm:prSet>
      <dgm:spPr/>
    </dgm:pt>
    <dgm:pt modelId="{593D6045-C865-4A67-8070-CA9F7C25DA51}" type="pres">
      <dgm:prSet presAssocID="{40E3FE89-926C-4A47-9E52-B7BD30E7710F}" presName="desTx" presStyleLbl="revTx" presStyleIdx="1" presStyleCnt="3">
        <dgm:presLayoutVars/>
      </dgm:prSet>
      <dgm:spPr/>
    </dgm:pt>
    <dgm:pt modelId="{51EE28D2-A8C7-43CD-8598-7AFB65FEBB5C}" type="pres">
      <dgm:prSet presAssocID="{0BB90BDE-B8A0-4827-9558-38BA9D4414D4}" presName="sibTrans" presStyleCnt="0"/>
      <dgm:spPr/>
    </dgm:pt>
    <dgm:pt modelId="{1C852F5D-0FDD-41C0-BAA7-7781D2DB4E55}" type="pres">
      <dgm:prSet presAssocID="{6B8547A2-C045-4E5F-926F-36317A6FC7CA}" presName="compNode" presStyleCnt="0"/>
      <dgm:spPr/>
    </dgm:pt>
    <dgm:pt modelId="{6E34F43F-F089-483F-93E5-D8FB8CA89E73}" type="pres">
      <dgm:prSet presAssocID="{6B8547A2-C045-4E5F-926F-36317A6FC7CA}" presName="bgRect" presStyleLbl="bgShp" presStyleIdx="1" presStyleCnt="2"/>
      <dgm:spPr/>
    </dgm:pt>
    <dgm:pt modelId="{61EF63DD-432C-418A-9CCA-2766CDC02459}" type="pres">
      <dgm:prSet presAssocID="{6B8547A2-C045-4E5F-926F-36317A6FC7C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72D39E3D-AFA0-4ABB-8659-C473B09F7C87}" type="pres">
      <dgm:prSet presAssocID="{6B8547A2-C045-4E5F-926F-36317A6FC7CA}" presName="spaceRect" presStyleCnt="0"/>
      <dgm:spPr/>
    </dgm:pt>
    <dgm:pt modelId="{940BC716-9D30-4F71-8D88-EBD5E6F916A8}" type="pres">
      <dgm:prSet presAssocID="{6B8547A2-C045-4E5F-926F-36317A6FC7CA}" presName="parTx" presStyleLbl="revTx" presStyleIdx="2" presStyleCnt="3">
        <dgm:presLayoutVars>
          <dgm:chMax val="0"/>
          <dgm:chPref val="0"/>
        </dgm:presLayoutVars>
      </dgm:prSet>
      <dgm:spPr/>
    </dgm:pt>
  </dgm:ptLst>
  <dgm:cxnLst>
    <dgm:cxn modelId="{9D466329-E4FA-4547-85D7-BBBECE19F7FE}" type="presOf" srcId="{62D15572-8B47-4B6F-AAD4-170DF2E5E079}" destId="{593D6045-C865-4A67-8070-CA9F7C25DA51}" srcOrd="0" destOrd="0" presId="urn:microsoft.com/office/officeart/2018/2/layout/IconVerticalSolidList"/>
    <dgm:cxn modelId="{183C9330-53D7-47FB-AFEA-C9CFD469F7F7}" srcId="{40E3FE89-926C-4A47-9E52-B7BD30E7710F}" destId="{62D15572-8B47-4B6F-AAD4-170DF2E5E079}" srcOrd="0" destOrd="0" parTransId="{FBD43BFF-C5A4-46A5-AC37-EFFC57A589DA}" sibTransId="{F17A8C0B-DE85-43D7-B299-C7FB87F2DD58}"/>
    <dgm:cxn modelId="{09667A38-D27C-4B65-8B64-A19F42957A09}" type="presOf" srcId="{40E3FE89-926C-4A47-9E52-B7BD30E7710F}" destId="{B9DE2348-A70B-466D-B621-663F3B6D064C}" srcOrd="0" destOrd="0" presId="urn:microsoft.com/office/officeart/2018/2/layout/IconVerticalSolidList"/>
    <dgm:cxn modelId="{90BFFE38-1265-4E95-9243-806748343460}" type="presOf" srcId="{9F095441-5B9A-4CEC-9AED-7EF4081FA7D2}" destId="{55AD6788-DA4A-4168-8F2D-2B0357CA7F8B}" srcOrd="0" destOrd="0" presId="urn:microsoft.com/office/officeart/2018/2/layout/IconVerticalSolidList"/>
    <dgm:cxn modelId="{31E3A685-FAEF-447D-AD9A-BB22C2B24ACD}" srcId="{9F095441-5B9A-4CEC-9AED-7EF4081FA7D2}" destId="{6B8547A2-C045-4E5F-926F-36317A6FC7CA}" srcOrd="1" destOrd="0" parTransId="{E7868AC2-8F11-4F85-8B06-128DF1EC1DB6}" sibTransId="{6A320CB8-3120-4521-BBF2-37A2398DF458}"/>
    <dgm:cxn modelId="{CAD3DF98-A7AB-4F60-8D13-4FF17622F899}" type="presOf" srcId="{6B8547A2-C045-4E5F-926F-36317A6FC7CA}" destId="{940BC716-9D30-4F71-8D88-EBD5E6F916A8}" srcOrd="0" destOrd="0" presId="urn:microsoft.com/office/officeart/2018/2/layout/IconVerticalSolidList"/>
    <dgm:cxn modelId="{C6FCA5C6-C757-41F9-B99F-4EC94D68950F}" srcId="{40E3FE89-926C-4A47-9E52-B7BD30E7710F}" destId="{C29E8678-A322-4415-B97F-69614B174172}" srcOrd="1" destOrd="0" parTransId="{0D133DC8-0888-4BF3-A9AD-2C91B4308F66}" sibTransId="{8F3705DA-8CE6-4AA5-8C5D-23C4CF7DCF23}"/>
    <dgm:cxn modelId="{99E4E3D0-CB40-465C-8104-F5C37C660B8B}" type="presOf" srcId="{C29E8678-A322-4415-B97F-69614B174172}" destId="{593D6045-C865-4A67-8070-CA9F7C25DA51}" srcOrd="0" destOrd="1" presId="urn:microsoft.com/office/officeart/2018/2/layout/IconVerticalSolidList"/>
    <dgm:cxn modelId="{39BD5EE0-60A7-4A45-8F87-2D64D2B3CE80}" srcId="{9F095441-5B9A-4CEC-9AED-7EF4081FA7D2}" destId="{40E3FE89-926C-4A47-9E52-B7BD30E7710F}" srcOrd="0" destOrd="0" parTransId="{4F84DB86-C530-4D15-BA92-4DA9B9FFDE33}" sibTransId="{0BB90BDE-B8A0-4827-9558-38BA9D4414D4}"/>
    <dgm:cxn modelId="{24E8E064-302F-486C-80D3-2A3848A8D950}" type="presParOf" srcId="{55AD6788-DA4A-4168-8F2D-2B0357CA7F8B}" destId="{3A581C26-096E-4012-9219-ED64F83F2DB5}" srcOrd="0" destOrd="0" presId="urn:microsoft.com/office/officeart/2018/2/layout/IconVerticalSolidList"/>
    <dgm:cxn modelId="{73A148D4-D4D1-48D4-9AB8-F90EF391987E}" type="presParOf" srcId="{3A581C26-096E-4012-9219-ED64F83F2DB5}" destId="{10CA6DF3-9FEE-4EC5-BC02-3FBB47114E18}" srcOrd="0" destOrd="0" presId="urn:microsoft.com/office/officeart/2018/2/layout/IconVerticalSolidList"/>
    <dgm:cxn modelId="{4472136D-3F87-4CDD-863B-8FE09185742B}" type="presParOf" srcId="{3A581C26-096E-4012-9219-ED64F83F2DB5}" destId="{930EDB29-5BD5-49CF-9CD4-F8A3645F01A4}" srcOrd="1" destOrd="0" presId="urn:microsoft.com/office/officeart/2018/2/layout/IconVerticalSolidList"/>
    <dgm:cxn modelId="{9956A99A-2B8C-4DC0-A1F0-53C954F29A5E}" type="presParOf" srcId="{3A581C26-096E-4012-9219-ED64F83F2DB5}" destId="{E8FF5164-6EC1-48B7-8912-EABF112F7CA4}" srcOrd="2" destOrd="0" presId="urn:microsoft.com/office/officeart/2018/2/layout/IconVerticalSolidList"/>
    <dgm:cxn modelId="{2D134E6F-A3CD-447C-8F0F-F47E7EDBD9FC}" type="presParOf" srcId="{3A581C26-096E-4012-9219-ED64F83F2DB5}" destId="{B9DE2348-A70B-466D-B621-663F3B6D064C}" srcOrd="3" destOrd="0" presId="urn:microsoft.com/office/officeart/2018/2/layout/IconVerticalSolidList"/>
    <dgm:cxn modelId="{0EDC8985-EC34-419C-9317-DF42E9C15244}" type="presParOf" srcId="{3A581C26-096E-4012-9219-ED64F83F2DB5}" destId="{593D6045-C865-4A67-8070-CA9F7C25DA51}" srcOrd="4" destOrd="0" presId="urn:microsoft.com/office/officeart/2018/2/layout/IconVerticalSolidList"/>
    <dgm:cxn modelId="{7E304D4D-CDF6-4545-B1EA-3294FABA1FC4}" type="presParOf" srcId="{55AD6788-DA4A-4168-8F2D-2B0357CA7F8B}" destId="{51EE28D2-A8C7-43CD-8598-7AFB65FEBB5C}" srcOrd="1" destOrd="0" presId="urn:microsoft.com/office/officeart/2018/2/layout/IconVerticalSolidList"/>
    <dgm:cxn modelId="{F10802EE-D142-4E37-8150-98BA183DB996}" type="presParOf" srcId="{55AD6788-DA4A-4168-8F2D-2B0357CA7F8B}" destId="{1C852F5D-0FDD-41C0-BAA7-7781D2DB4E55}" srcOrd="2" destOrd="0" presId="urn:microsoft.com/office/officeart/2018/2/layout/IconVerticalSolidList"/>
    <dgm:cxn modelId="{69220B0A-1337-4F52-8D02-E688C31870D7}" type="presParOf" srcId="{1C852F5D-0FDD-41C0-BAA7-7781D2DB4E55}" destId="{6E34F43F-F089-483F-93E5-D8FB8CA89E73}" srcOrd="0" destOrd="0" presId="urn:microsoft.com/office/officeart/2018/2/layout/IconVerticalSolidList"/>
    <dgm:cxn modelId="{8456D94E-E5D8-4A1E-903E-32A955BB67ED}" type="presParOf" srcId="{1C852F5D-0FDD-41C0-BAA7-7781D2DB4E55}" destId="{61EF63DD-432C-418A-9CCA-2766CDC02459}" srcOrd="1" destOrd="0" presId="urn:microsoft.com/office/officeart/2018/2/layout/IconVerticalSolidList"/>
    <dgm:cxn modelId="{F18B8370-23C6-406B-BA3E-98259C195A61}" type="presParOf" srcId="{1C852F5D-0FDD-41C0-BAA7-7781D2DB4E55}" destId="{72D39E3D-AFA0-4ABB-8659-C473B09F7C87}" srcOrd="2" destOrd="0" presId="urn:microsoft.com/office/officeart/2018/2/layout/IconVerticalSolidList"/>
    <dgm:cxn modelId="{84FEAF50-9B54-4717-B096-039F28510EC0}" type="presParOf" srcId="{1C852F5D-0FDD-41C0-BAA7-7781D2DB4E55}" destId="{940BC716-9D30-4F71-8D88-EBD5E6F916A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A72EAC-3D0B-A245-8F30-CEDDC2AC10FC}">
      <dsp:nvSpPr>
        <dsp:cNvPr id="0" name=""/>
        <dsp:cNvSpPr/>
      </dsp:nvSpPr>
      <dsp:spPr>
        <a:xfrm>
          <a:off x="0" y="62818"/>
          <a:ext cx="10506456" cy="1061406"/>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The analysis of data found on a storage device, namely a hard disk. </a:t>
          </a:r>
        </a:p>
      </dsp:txBody>
      <dsp:txXfrm>
        <a:off x="51814" y="114632"/>
        <a:ext cx="10402828" cy="957778"/>
      </dsp:txXfrm>
    </dsp:sp>
    <dsp:sp modelId="{B9ABE26D-382B-2E4E-BB86-05B4BF68DF2F}">
      <dsp:nvSpPr>
        <dsp:cNvPr id="0" name=""/>
        <dsp:cNvSpPr/>
      </dsp:nvSpPr>
      <dsp:spPr>
        <a:xfrm>
          <a:off x="0" y="1178945"/>
          <a:ext cx="10506456" cy="1061406"/>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Data can be analyzed on a live system, but it is more common to acquire a copy of the data for a dead analysis. </a:t>
          </a:r>
        </a:p>
      </dsp:txBody>
      <dsp:txXfrm>
        <a:off x="51814" y="1230759"/>
        <a:ext cx="10402828" cy="957778"/>
      </dsp:txXfrm>
    </dsp:sp>
    <dsp:sp modelId="{57F3C54A-AD05-B24B-A699-29BBADD6708E}">
      <dsp:nvSpPr>
        <dsp:cNvPr id="0" name=""/>
        <dsp:cNvSpPr/>
      </dsp:nvSpPr>
      <dsp:spPr>
        <a:xfrm>
          <a:off x="0" y="2295072"/>
          <a:ext cx="10506456" cy="1061406"/>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Acquisition typically occurs during the System Preservation phase of an investigation and is one of the most important phases in a digital forensic investigation because if data are not collected from the system, they could be lost and therefore not recognized as evidence. </a:t>
          </a:r>
        </a:p>
      </dsp:txBody>
      <dsp:txXfrm>
        <a:off x="51814" y="2346886"/>
        <a:ext cx="10402828" cy="957778"/>
      </dsp:txXfrm>
    </dsp:sp>
    <dsp:sp modelId="{2152B471-31BF-E740-8FAA-8BC167EA0244}">
      <dsp:nvSpPr>
        <dsp:cNvPr id="0" name=""/>
        <dsp:cNvSpPr/>
      </dsp:nvSpPr>
      <dsp:spPr>
        <a:xfrm>
          <a:off x="0" y="3411198"/>
          <a:ext cx="10506456" cy="1061406"/>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Further, if data are not collected properly, their value as legal evidence is diminished.</a:t>
          </a:r>
        </a:p>
      </dsp:txBody>
      <dsp:txXfrm>
        <a:off x="51814" y="3463012"/>
        <a:ext cx="10402828" cy="9577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CA6DF3-9FEE-4EC5-BC02-3FBB47114E18}">
      <dsp:nvSpPr>
        <dsp:cNvPr id="0" name=""/>
        <dsp:cNvSpPr/>
      </dsp:nvSpPr>
      <dsp:spPr>
        <a:xfrm>
          <a:off x="0" y="708097"/>
          <a:ext cx="10515600" cy="13072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0EDB29-5BD5-49CF-9CD4-F8A3645F01A4}">
      <dsp:nvSpPr>
        <dsp:cNvPr id="0" name=""/>
        <dsp:cNvSpPr/>
      </dsp:nvSpPr>
      <dsp:spPr>
        <a:xfrm>
          <a:off x="395445" y="1002230"/>
          <a:ext cx="718991" cy="7189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9DE2348-A70B-466D-B621-663F3B6D064C}">
      <dsp:nvSpPr>
        <dsp:cNvPr id="0" name=""/>
        <dsp:cNvSpPr/>
      </dsp:nvSpPr>
      <dsp:spPr>
        <a:xfrm>
          <a:off x="1509882" y="708097"/>
          <a:ext cx="4732020"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1066800">
            <a:lnSpc>
              <a:spcPct val="90000"/>
            </a:lnSpc>
            <a:spcBef>
              <a:spcPct val="0"/>
            </a:spcBef>
            <a:spcAft>
              <a:spcPct val="35000"/>
            </a:spcAft>
            <a:buNone/>
          </a:pPr>
          <a:r>
            <a:rPr lang="en-US" sz="2400" kern="1200"/>
            <a:t>There are two major parts of the acquisition process. </a:t>
          </a:r>
        </a:p>
      </dsp:txBody>
      <dsp:txXfrm>
        <a:off x="1509882" y="708097"/>
        <a:ext cx="4732020" cy="1307257"/>
      </dsp:txXfrm>
    </dsp:sp>
    <dsp:sp modelId="{593D6045-C865-4A67-8070-CA9F7C25DA51}">
      <dsp:nvSpPr>
        <dsp:cNvPr id="0" name=""/>
        <dsp:cNvSpPr/>
      </dsp:nvSpPr>
      <dsp:spPr>
        <a:xfrm>
          <a:off x="6241902" y="708097"/>
          <a:ext cx="427369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711200">
            <a:lnSpc>
              <a:spcPct val="90000"/>
            </a:lnSpc>
            <a:spcBef>
              <a:spcPct val="0"/>
            </a:spcBef>
            <a:spcAft>
              <a:spcPct val="35000"/>
            </a:spcAft>
            <a:buNone/>
          </a:pPr>
          <a:r>
            <a:rPr lang="en-US" sz="1600" kern="1200"/>
            <a:t>First, we need to read data from a source, and </a:t>
          </a:r>
        </a:p>
        <a:p>
          <a:pPr marL="0" lvl="0" indent="0" algn="l" defTabSz="711200">
            <a:lnSpc>
              <a:spcPct val="90000"/>
            </a:lnSpc>
            <a:spcBef>
              <a:spcPct val="0"/>
            </a:spcBef>
            <a:spcAft>
              <a:spcPct val="35000"/>
            </a:spcAft>
            <a:buNone/>
          </a:pPr>
          <a:r>
            <a:rPr lang="en-US" sz="1600" kern="1200"/>
            <a:t>Second, we need to write it to the destination. </a:t>
          </a:r>
        </a:p>
      </dsp:txBody>
      <dsp:txXfrm>
        <a:off x="6241902" y="708097"/>
        <a:ext cx="4273697" cy="1307257"/>
      </dsp:txXfrm>
    </dsp:sp>
    <dsp:sp modelId="{6E34F43F-F089-483F-93E5-D8FB8CA89E73}">
      <dsp:nvSpPr>
        <dsp:cNvPr id="0" name=""/>
        <dsp:cNvSpPr/>
      </dsp:nvSpPr>
      <dsp:spPr>
        <a:xfrm>
          <a:off x="0" y="2342169"/>
          <a:ext cx="10515600" cy="13072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EF63DD-432C-418A-9CCA-2766CDC02459}">
      <dsp:nvSpPr>
        <dsp:cNvPr id="0" name=""/>
        <dsp:cNvSpPr/>
      </dsp:nvSpPr>
      <dsp:spPr>
        <a:xfrm>
          <a:off x="395445" y="2636302"/>
          <a:ext cx="718991" cy="71899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40BC716-9D30-4F71-8D88-EBD5E6F916A8}">
      <dsp:nvSpPr>
        <dsp:cNvPr id="0" name=""/>
        <dsp:cNvSpPr/>
      </dsp:nvSpPr>
      <dsp:spPr>
        <a:xfrm>
          <a:off x="1509882" y="2342169"/>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1066800">
            <a:lnSpc>
              <a:spcPct val="90000"/>
            </a:lnSpc>
            <a:spcBef>
              <a:spcPct val="0"/>
            </a:spcBef>
            <a:spcAft>
              <a:spcPct val="35000"/>
            </a:spcAft>
            <a:buNone/>
          </a:pPr>
          <a:r>
            <a:rPr lang="en-US" sz="2400" kern="1200"/>
            <a:t>This chapter focuses on the analysis of volume and file system data, we are going to cover the process of acquiring at the disk level (because that is where the volume data structures are located). </a:t>
          </a:r>
        </a:p>
      </dsp:txBody>
      <dsp:txXfrm>
        <a:off x="1509882" y="2342169"/>
        <a:ext cx="9005717" cy="130725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BF9069-B90A-4423-9BF5-43AE552CC9D6}" type="datetimeFigureOut">
              <a:rPr lang="en-MY" smtClean="0"/>
              <a:t>12/10/2025</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7298B4-FD05-412B-8503-4D2DC86FB60A}" type="slidenum">
              <a:rPr lang="en-MY" smtClean="0"/>
              <a:t>‹#›</a:t>
            </a:fld>
            <a:endParaRPr lang="en-MY"/>
          </a:p>
        </p:txBody>
      </p:sp>
    </p:spTree>
    <p:extLst>
      <p:ext uri="{BB962C8B-B14F-4D97-AF65-F5344CB8AC3E}">
        <p14:creationId xmlns:p14="http://schemas.microsoft.com/office/powerpoint/2010/main" val="4249593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it means:</a:t>
            </a:r>
          </a:p>
          <a:p>
            <a:r>
              <a:rPr lang="en-US" dirty="0"/>
              <a:t>Data acquisition = </a:t>
            </a:r>
            <a:r>
              <a:rPr lang="en-US" b="1" dirty="0"/>
              <a:t>creating an exact copy</a:t>
            </a:r>
            <a:r>
              <a:rPr lang="en-US" dirty="0"/>
              <a:t> of a suspect’s hard disk.</a:t>
            </a:r>
          </a:p>
          <a:p>
            <a:r>
              <a:rPr lang="en-US" dirty="0"/>
              <a:t>The copy allows analysis in a controlled lab without altering the original evidence.</a:t>
            </a:r>
          </a:p>
          <a:p>
            <a:endParaRPr lang="en-MY" dirty="0"/>
          </a:p>
          <a:p>
            <a:r>
              <a:rPr lang="en-US" dirty="0"/>
              <a:t>photocopying every page of a book to study it later without touching the original.</a:t>
            </a:r>
          </a:p>
          <a:p>
            <a:r>
              <a:rPr lang="en-US" dirty="0"/>
              <a:t>every byte copied preserves evidence integrity.</a:t>
            </a:r>
            <a:endParaRPr lang="en-MY" dirty="0"/>
          </a:p>
        </p:txBody>
      </p:sp>
      <p:sp>
        <p:nvSpPr>
          <p:cNvPr id="4" name="Slide Number Placeholder 3"/>
          <p:cNvSpPr>
            <a:spLocks noGrp="1"/>
          </p:cNvSpPr>
          <p:nvPr>
            <p:ph type="sldNum" sz="quarter" idx="5"/>
          </p:nvPr>
        </p:nvSpPr>
        <p:spPr/>
        <p:txBody>
          <a:bodyPr/>
          <a:lstStyle/>
          <a:p>
            <a:fld id="{A67298B4-FD05-412B-8503-4D2DC86FB60A}" type="slidenum">
              <a:rPr lang="en-MY" smtClean="0"/>
              <a:t>2</a:t>
            </a:fld>
            <a:endParaRPr lang="en-MY"/>
          </a:p>
        </p:txBody>
      </p:sp>
    </p:spTree>
    <p:extLst>
      <p:ext uri="{BB962C8B-B14F-4D97-AF65-F5344CB8AC3E}">
        <p14:creationId xmlns:p14="http://schemas.microsoft.com/office/powerpoint/2010/main" val="20275061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 copies </a:t>
            </a:r>
            <a:r>
              <a:rPr lang="en-US" b="1" dirty="0"/>
              <a:t>chunks of data (usually multiples of 512 bytes)</a:t>
            </a:r>
            <a:r>
              <a:rPr lang="en-US" dirty="0"/>
              <a:t>.</a:t>
            </a:r>
          </a:p>
          <a:p>
            <a:r>
              <a:rPr lang="en-US" dirty="0"/>
              <a:t>If a read error occurs, the tool often writes </a:t>
            </a:r>
            <a:r>
              <a:rPr lang="en-US" b="1" dirty="0"/>
              <a:t>zeros</a:t>
            </a:r>
            <a:r>
              <a:rPr lang="en-US" dirty="0"/>
              <a:t> to the destination to keep structure consistent.</a:t>
            </a:r>
          </a:p>
          <a:p>
            <a:endParaRPr lang="en-US" dirty="0"/>
          </a:p>
          <a:p>
            <a:r>
              <a:rPr lang="en-US" dirty="0"/>
              <a:t>copying happens in “blocks” instead of one byte at a time.</a:t>
            </a:r>
          </a:p>
          <a:p>
            <a:r>
              <a:rPr lang="en-US" dirty="0"/>
              <a:t>zeros are used — to preserve data position even if content is unreadable.</a:t>
            </a:r>
            <a:endParaRPr lang="en-MY" dirty="0"/>
          </a:p>
        </p:txBody>
      </p:sp>
      <p:sp>
        <p:nvSpPr>
          <p:cNvPr id="4" name="Slide Number Placeholder 3"/>
          <p:cNvSpPr>
            <a:spLocks noGrp="1"/>
          </p:cNvSpPr>
          <p:nvPr>
            <p:ph type="sldNum" sz="quarter" idx="5"/>
          </p:nvPr>
        </p:nvSpPr>
        <p:spPr/>
        <p:txBody>
          <a:bodyPr/>
          <a:lstStyle/>
          <a:p>
            <a:fld id="{A67298B4-FD05-412B-8503-4D2DC86FB60A}" type="slidenum">
              <a:rPr lang="en-MY" smtClean="0"/>
              <a:t>4</a:t>
            </a:fld>
            <a:endParaRPr lang="en-MY"/>
          </a:p>
        </p:txBody>
      </p:sp>
    </p:spTree>
    <p:extLst>
      <p:ext uri="{BB962C8B-B14F-4D97-AF65-F5344CB8AC3E}">
        <p14:creationId xmlns:p14="http://schemas.microsoft.com/office/powerpoint/2010/main" val="278108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multiple levels where data can be captured:</a:t>
            </a:r>
          </a:p>
          <a:p>
            <a:r>
              <a:rPr lang="en-US" b="1" dirty="0"/>
              <a:t>Disk level (lowest)</a:t>
            </a:r>
            <a:r>
              <a:rPr lang="en-US" dirty="0"/>
              <a:t> – captures </a:t>
            </a:r>
            <a:r>
              <a:rPr lang="en-US" i="1" dirty="0"/>
              <a:t>everything</a:t>
            </a:r>
            <a:r>
              <a:rPr lang="en-US" dirty="0"/>
              <a:t>, even deleted files.</a:t>
            </a:r>
          </a:p>
          <a:p>
            <a:r>
              <a:rPr lang="en-US" b="1" dirty="0"/>
              <a:t>Volume level</a:t>
            </a:r>
            <a:r>
              <a:rPr lang="en-US" dirty="0"/>
              <a:t> – captures each partition’s sectors.</a:t>
            </a:r>
          </a:p>
          <a:p>
            <a:r>
              <a:rPr lang="en-US" b="1" dirty="0"/>
              <a:t>File level</a:t>
            </a:r>
            <a:r>
              <a:rPr lang="en-US" dirty="0"/>
              <a:t> – captures only visible, allocated files.</a:t>
            </a:r>
          </a:p>
          <a:p>
            <a:endParaRPr lang="en-US" dirty="0"/>
          </a:p>
          <a:p>
            <a:r>
              <a:rPr lang="en-MY" dirty="0"/>
              <a:t>Disk → Volume → File → Application</a:t>
            </a:r>
          </a:p>
          <a:p>
            <a:r>
              <a:rPr lang="en-US" dirty="0"/>
              <a:t>The lower you go, the more evidence you can preserve.</a:t>
            </a:r>
          </a:p>
          <a:p>
            <a:endParaRPr lang="en-US" dirty="0"/>
          </a:p>
          <a:p>
            <a:r>
              <a:rPr lang="en-US" b="1" dirty="0"/>
              <a:t>Example discussion:</a:t>
            </a:r>
          </a:p>
          <a:p>
            <a:r>
              <a:rPr lang="en-US" dirty="0"/>
              <a:t>File-level capture misses deleted/hidden data.</a:t>
            </a:r>
          </a:p>
          <a:p>
            <a:r>
              <a:rPr lang="en-US" dirty="0"/>
              <a:t>Disk-level capture allows recovery of deleted files or hidden data.</a:t>
            </a:r>
          </a:p>
          <a:p>
            <a:endParaRPr lang="en-MY" dirty="0"/>
          </a:p>
        </p:txBody>
      </p:sp>
      <p:sp>
        <p:nvSpPr>
          <p:cNvPr id="4" name="Slide Number Placeholder 3"/>
          <p:cNvSpPr>
            <a:spLocks noGrp="1"/>
          </p:cNvSpPr>
          <p:nvPr>
            <p:ph type="sldNum" sz="quarter" idx="5"/>
          </p:nvPr>
        </p:nvSpPr>
        <p:spPr/>
        <p:txBody>
          <a:bodyPr/>
          <a:lstStyle/>
          <a:p>
            <a:fld id="{A67298B4-FD05-412B-8503-4D2DC86FB60A}" type="slidenum">
              <a:rPr lang="en-MY" smtClean="0"/>
              <a:t>5</a:t>
            </a:fld>
            <a:endParaRPr lang="en-MY"/>
          </a:p>
        </p:txBody>
      </p:sp>
    </p:spTree>
    <p:extLst>
      <p:ext uri="{BB962C8B-B14F-4D97-AF65-F5344CB8AC3E}">
        <p14:creationId xmlns:p14="http://schemas.microsoft.com/office/powerpoint/2010/main" val="2422625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Concept:</a:t>
            </a:r>
          </a:p>
          <a:p>
            <a:r>
              <a:rPr lang="en-US" b="1" dirty="0"/>
              <a:t>NIST (National Institute of Standards and Technology)</a:t>
            </a:r>
            <a:r>
              <a:rPr lang="en-US" dirty="0"/>
              <a:t> tests forensic tools for reliability.</a:t>
            </a:r>
          </a:p>
          <a:p>
            <a:r>
              <a:rPr lang="en-US" dirty="0"/>
              <a:t>Their </a:t>
            </a:r>
            <a:r>
              <a:rPr lang="en-US" b="1" dirty="0"/>
              <a:t>CFTT project</a:t>
            </a:r>
            <a:r>
              <a:rPr lang="en-US" dirty="0"/>
              <a:t> defines requirements for disk-imaging tools.</a:t>
            </a:r>
          </a:p>
          <a:p>
            <a:endParaRPr lang="en-MY" dirty="0"/>
          </a:p>
          <a:p>
            <a:endParaRPr lang="en-MY" dirty="0"/>
          </a:p>
        </p:txBody>
      </p:sp>
      <p:sp>
        <p:nvSpPr>
          <p:cNvPr id="4" name="Slide Number Placeholder 3"/>
          <p:cNvSpPr>
            <a:spLocks noGrp="1"/>
          </p:cNvSpPr>
          <p:nvPr>
            <p:ph type="sldNum" sz="quarter" idx="5"/>
          </p:nvPr>
        </p:nvSpPr>
        <p:spPr/>
        <p:txBody>
          <a:bodyPr/>
          <a:lstStyle/>
          <a:p>
            <a:fld id="{A67298B4-FD05-412B-8503-4D2DC86FB60A}" type="slidenum">
              <a:rPr lang="en-MY" smtClean="0"/>
              <a:t>8</a:t>
            </a:fld>
            <a:endParaRPr lang="en-MY"/>
          </a:p>
        </p:txBody>
      </p:sp>
    </p:spTree>
    <p:extLst>
      <p:ext uri="{BB962C8B-B14F-4D97-AF65-F5344CB8AC3E}">
        <p14:creationId xmlns:p14="http://schemas.microsoft.com/office/powerpoint/2010/main" val="6752826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 </a:t>
            </a:r>
            <a:r>
              <a:rPr lang="en-US" b="1" dirty="0"/>
              <a:t>competently</a:t>
            </a:r>
            <a:r>
              <a:rPr lang="en-US" dirty="0"/>
              <a:t>,</a:t>
            </a:r>
          </a:p>
          <a:p>
            <a:r>
              <a:rPr lang="en-US" dirty="0"/>
              <a:t>Produces </a:t>
            </a:r>
            <a:r>
              <a:rPr lang="en-US" b="1" dirty="0"/>
              <a:t>valid, repeatable results</a:t>
            </a:r>
            <a:r>
              <a:rPr lang="en-US" dirty="0"/>
              <a:t>, and</a:t>
            </a:r>
          </a:p>
          <a:p>
            <a:r>
              <a:rPr lang="en-US" dirty="0"/>
              <a:t>Maintains </a:t>
            </a:r>
            <a:r>
              <a:rPr lang="en-US" b="1" dirty="0"/>
              <a:t>traceable evidence</a:t>
            </a:r>
            <a:r>
              <a:rPr lang="en-US" dirty="0"/>
              <a:t> and </a:t>
            </a:r>
            <a:r>
              <a:rPr lang="en-US" b="1" dirty="0"/>
              <a:t>quality control</a:t>
            </a:r>
            <a:r>
              <a:rPr lang="en-US" dirty="0"/>
              <a:t>.</a:t>
            </a:r>
          </a:p>
          <a:p>
            <a:endParaRPr lang="en-MY" dirty="0"/>
          </a:p>
        </p:txBody>
      </p:sp>
      <p:sp>
        <p:nvSpPr>
          <p:cNvPr id="4" name="Slide Number Placeholder 3"/>
          <p:cNvSpPr>
            <a:spLocks noGrp="1"/>
          </p:cNvSpPr>
          <p:nvPr>
            <p:ph type="sldNum" sz="quarter" idx="5"/>
          </p:nvPr>
        </p:nvSpPr>
        <p:spPr/>
        <p:txBody>
          <a:bodyPr/>
          <a:lstStyle/>
          <a:p>
            <a:fld id="{A67298B4-FD05-412B-8503-4D2DC86FB60A}" type="slidenum">
              <a:rPr lang="en-MY" smtClean="0"/>
              <a:t>9</a:t>
            </a:fld>
            <a:endParaRPr lang="en-MY"/>
          </a:p>
        </p:txBody>
      </p:sp>
    </p:spTree>
    <p:extLst>
      <p:ext uri="{BB962C8B-B14F-4D97-AF65-F5344CB8AC3E}">
        <p14:creationId xmlns:p14="http://schemas.microsoft.com/office/powerpoint/2010/main" val="6305109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Reading the Source Data</a:t>
            </a:r>
          </a:p>
          <a:p>
            <a:r>
              <a:rPr lang="en-US" dirty="0"/>
              <a:t>There are </a:t>
            </a:r>
            <a:r>
              <a:rPr lang="en-US" b="1" dirty="0"/>
              <a:t>two main methods</a:t>
            </a:r>
            <a:r>
              <a:rPr lang="en-US" dirty="0"/>
              <a:t>:</a:t>
            </a:r>
          </a:p>
          <a:p>
            <a:r>
              <a:rPr lang="en-US" b="1" dirty="0"/>
              <a:t>Direct Access</a:t>
            </a:r>
            <a:r>
              <a:rPr lang="en-US" dirty="0"/>
              <a:t> – the tool communicates directly with the disk.</a:t>
            </a:r>
          </a:p>
          <a:p>
            <a:r>
              <a:rPr lang="en-US" b="1" dirty="0"/>
              <a:t>BIOS Access</a:t>
            </a:r>
            <a:r>
              <a:rPr lang="en-US" dirty="0"/>
              <a:t> – the tool requests data through the system’s BIOS.</a:t>
            </a:r>
          </a:p>
          <a:p>
            <a:endParaRPr lang="en-MY" dirty="0"/>
          </a:p>
          <a:p>
            <a:r>
              <a:rPr lang="en-US" dirty="0"/>
              <a:t>Compare BIOS access to </a:t>
            </a:r>
            <a:r>
              <a:rPr lang="en-US" i="1" dirty="0"/>
              <a:t>“asking someone else to fetch a book for you”</a:t>
            </a:r>
            <a:r>
              <a:rPr lang="en-US" dirty="0"/>
              <a:t> vs. </a:t>
            </a:r>
            <a:r>
              <a:rPr lang="en-US" i="1" dirty="0"/>
              <a:t>“getting it yourself.”</a:t>
            </a:r>
            <a:endParaRPr lang="en-US" dirty="0"/>
          </a:p>
          <a:p>
            <a:r>
              <a:rPr lang="en-US" dirty="0"/>
              <a:t>Direct access is more reliable, as BIOS can report </a:t>
            </a:r>
            <a:r>
              <a:rPr lang="en-US" b="1" dirty="0"/>
              <a:t>wrong disk sizes</a:t>
            </a:r>
            <a:r>
              <a:rPr lang="en-US" dirty="0"/>
              <a:t> (e.g., 12GB disk shown as 8GB).</a:t>
            </a:r>
          </a:p>
          <a:p>
            <a:endParaRPr lang="en-MY" dirty="0"/>
          </a:p>
        </p:txBody>
      </p:sp>
      <p:sp>
        <p:nvSpPr>
          <p:cNvPr id="4" name="Slide Number Placeholder 3"/>
          <p:cNvSpPr>
            <a:spLocks noGrp="1"/>
          </p:cNvSpPr>
          <p:nvPr>
            <p:ph type="sldNum" sz="quarter" idx="5"/>
          </p:nvPr>
        </p:nvSpPr>
        <p:spPr/>
        <p:txBody>
          <a:bodyPr/>
          <a:lstStyle/>
          <a:p>
            <a:fld id="{A67298B4-FD05-412B-8503-4D2DC86FB60A}" type="slidenum">
              <a:rPr lang="en-MY" smtClean="0"/>
              <a:t>12</a:t>
            </a:fld>
            <a:endParaRPr lang="en-MY"/>
          </a:p>
        </p:txBody>
      </p:sp>
    </p:spTree>
    <p:extLst>
      <p:ext uri="{BB962C8B-B14F-4D97-AF65-F5344CB8AC3E}">
        <p14:creationId xmlns:p14="http://schemas.microsoft.com/office/powerpoint/2010/main" val="42195998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Dead acquisition is like taking a photo of a crime scene after securing it. Live acquisition is like trying to take a photo while people are still moving things around.</a:t>
            </a:r>
            <a:endParaRPr lang="en-MY" dirty="0"/>
          </a:p>
        </p:txBody>
      </p:sp>
      <p:sp>
        <p:nvSpPr>
          <p:cNvPr id="4" name="Slide Number Placeholder 3"/>
          <p:cNvSpPr>
            <a:spLocks noGrp="1"/>
          </p:cNvSpPr>
          <p:nvPr>
            <p:ph type="sldNum" sz="quarter" idx="5"/>
          </p:nvPr>
        </p:nvSpPr>
        <p:spPr/>
        <p:txBody>
          <a:bodyPr/>
          <a:lstStyle/>
          <a:p>
            <a:fld id="{A67298B4-FD05-412B-8503-4D2DC86FB60A}" type="slidenum">
              <a:rPr lang="en-MY" smtClean="0"/>
              <a:t>19</a:t>
            </a:fld>
            <a:endParaRPr lang="en-MY"/>
          </a:p>
        </p:txBody>
      </p:sp>
    </p:spTree>
    <p:extLst>
      <p:ext uri="{BB962C8B-B14F-4D97-AF65-F5344CB8AC3E}">
        <p14:creationId xmlns:p14="http://schemas.microsoft.com/office/powerpoint/2010/main" val="11250455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Concept:</a:t>
            </a:r>
          </a:p>
          <a:p>
            <a:r>
              <a:rPr lang="en-US" dirty="0"/>
              <a:t>Bad sectors may exist due to hardware issues.</a:t>
            </a:r>
          </a:p>
          <a:p>
            <a:r>
              <a:rPr lang="en-US" dirty="0"/>
              <a:t>Proper handling = </a:t>
            </a:r>
            <a:r>
              <a:rPr lang="en-US" b="1" dirty="0"/>
              <a:t>log bad sectors + fill unreadable areas with 0s</a:t>
            </a:r>
            <a:r>
              <a:rPr lang="en-US" dirty="0"/>
              <a:t>.</a:t>
            </a:r>
          </a:p>
          <a:p>
            <a:endParaRPr lang="en-US" dirty="0"/>
          </a:p>
          <a:p>
            <a:r>
              <a:rPr lang="en-US" dirty="0"/>
              <a:t>a 5-block copy where block 3 fails, so tool writes zeros in that position.</a:t>
            </a:r>
          </a:p>
          <a:p>
            <a:r>
              <a:rPr lang="en-US" dirty="0"/>
              <a:t>Explain that skipping sectors would change offsets and corrupt the structure.</a:t>
            </a:r>
          </a:p>
          <a:p>
            <a:endParaRPr lang="en-US" dirty="0"/>
          </a:p>
          <a:p>
            <a:endParaRPr lang="en-MY" dirty="0"/>
          </a:p>
        </p:txBody>
      </p:sp>
      <p:sp>
        <p:nvSpPr>
          <p:cNvPr id="4" name="Slide Number Placeholder 3"/>
          <p:cNvSpPr>
            <a:spLocks noGrp="1"/>
          </p:cNvSpPr>
          <p:nvPr>
            <p:ph type="sldNum" sz="quarter" idx="5"/>
          </p:nvPr>
        </p:nvSpPr>
        <p:spPr/>
        <p:txBody>
          <a:bodyPr/>
          <a:lstStyle/>
          <a:p>
            <a:fld id="{A67298B4-FD05-412B-8503-4D2DC86FB60A}" type="slidenum">
              <a:rPr lang="en-MY" smtClean="0"/>
              <a:t>20</a:t>
            </a:fld>
            <a:endParaRPr lang="en-MY"/>
          </a:p>
        </p:txBody>
      </p:sp>
    </p:spTree>
    <p:extLst>
      <p:ext uri="{BB962C8B-B14F-4D97-AF65-F5344CB8AC3E}">
        <p14:creationId xmlns:p14="http://schemas.microsoft.com/office/powerpoint/2010/main" val="23149378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your hard disk is like a book with 100 pages. Normally, your computer can see and use all 100 pages. But the manufacturer (or sometimes a hacker) can secretly hide a few pages at the back — say pages 95 to 100 — so you can’t read or even know they exist. That hidden section is called the Host Protected Area (HPA).</a:t>
            </a:r>
            <a:endParaRPr lang="en-MY" dirty="0"/>
          </a:p>
        </p:txBody>
      </p:sp>
      <p:sp>
        <p:nvSpPr>
          <p:cNvPr id="4" name="Slide Number Placeholder 3"/>
          <p:cNvSpPr>
            <a:spLocks noGrp="1"/>
          </p:cNvSpPr>
          <p:nvPr>
            <p:ph type="sldNum" sz="quarter" idx="5"/>
          </p:nvPr>
        </p:nvSpPr>
        <p:spPr/>
        <p:txBody>
          <a:bodyPr/>
          <a:lstStyle/>
          <a:p>
            <a:fld id="{A67298B4-FD05-412B-8503-4D2DC86FB60A}" type="slidenum">
              <a:rPr lang="en-MY" smtClean="0"/>
              <a:t>23</a:t>
            </a:fld>
            <a:endParaRPr lang="en-MY"/>
          </a:p>
        </p:txBody>
      </p:sp>
    </p:spTree>
    <p:extLst>
      <p:ext uri="{BB962C8B-B14F-4D97-AF65-F5344CB8AC3E}">
        <p14:creationId xmlns:p14="http://schemas.microsoft.com/office/powerpoint/2010/main" val="2251045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1F4AA-21FC-4E32-8CF1-55F21A2E66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2248E49-C561-4375-8970-D65085D829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BFABBA-13A2-4922-82D8-79D8A76E7A80}"/>
              </a:ext>
            </a:extLst>
          </p:cNvPr>
          <p:cNvSpPr>
            <a:spLocks noGrp="1"/>
          </p:cNvSpPr>
          <p:nvPr>
            <p:ph type="dt" sz="half" idx="10"/>
          </p:nvPr>
        </p:nvSpPr>
        <p:spPr/>
        <p:txBody>
          <a:bodyPr/>
          <a:lstStyle/>
          <a:p>
            <a:fld id="{9B66FC04-1F29-4679-B726-A329A58AE3E7}" type="datetimeFigureOut">
              <a:rPr lang="en-US" smtClean="0"/>
              <a:t>10/12/2025</a:t>
            </a:fld>
            <a:endParaRPr lang="en-US"/>
          </a:p>
        </p:txBody>
      </p:sp>
      <p:sp>
        <p:nvSpPr>
          <p:cNvPr id="5" name="Footer Placeholder 4">
            <a:extLst>
              <a:ext uri="{FF2B5EF4-FFF2-40B4-BE49-F238E27FC236}">
                <a16:creationId xmlns:a16="http://schemas.microsoft.com/office/drawing/2014/main" id="{64101FC5-C122-4AD2-919B-277C2AE0BF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CE2490-DBD5-4108-AC8F-837A9550D97D}"/>
              </a:ext>
            </a:extLst>
          </p:cNvPr>
          <p:cNvSpPr>
            <a:spLocks noGrp="1"/>
          </p:cNvSpPr>
          <p:nvPr>
            <p:ph type="sldNum" sz="quarter" idx="12"/>
          </p:nvPr>
        </p:nvSpPr>
        <p:spPr/>
        <p:txBody>
          <a:bodyPr/>
          <a:lstStyle/>
          <a:p>
            <a:fld id="{FE188F20-5675-4302-B756-18639FB72374}" type="slidenum">
              <a:rPr lang="en-US" smtClean="0"/>
              <a:t>‹#›</a:t>
            </a:fld>
            <a:endParaRPr lang="en-US"/>
          </a:p>
        </p:txBody>
      </p:sp>
    </p:spTree>
    <p:extLst>
      <p:ext uri="{BB962C8B-B14F-4D97-AF65-F5344CB8AC3E}">
        <p14:creationId xmlns:p14="http://schemas.microsoft.com/office/powerpoint/2010/main" val="2778939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1D4DF-9160-472D-A9F7-018792CB84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CE930C-5675-4A0F-B9D0-573A339DDA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27118A-BF42-42F7-A631-F4DC3BA92B3F}"/>
              </a:ext>
            </a:extLst>
          </p:cNvPr>
          <p:cNvSpPr>
            <a:spLocks noGrp="1"/>
          </p:cNvSpPr>
          <p:nvPr>
            <p:ph type="dt" sz="half" idx="10"/>
          </p:nvPr>
        </p:nvSpPr>
        <p:spPr/>
        <p:txBody>
          <a:bodyPr/>
          <a:lstStyle/>
          <a:p>
            <a:fld id="{9B66FC04-1F29-4679-B726-A329A58AE3E7}" type="datetimeFigureOut">
              <a:rPr lang="en-US" smtClean="0"/>
              <a:t>10/12/2025</a:t>
            </a:fld>
            <a:endParaRPr lang="en-US"/>
          </a:p>
        </p:txBody>
      </p:sp>
      <p:sp>
        <p:nvSpPr>
          <p:cNvPr id="5" name="Footer Placeholder 4">
            <a:extLst>
              <a:ext uri="{FF2B5EF4-FFF2-40B4-BE49-F238E27FC236}">
                <a16:creationId xmlns:a16="http://schemas.microsoft.com/office/drawing/2014/main" id="{5F2C7DE9-AAB1-437A-A680-E54D6BF282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87CFF3-982C-4C78-8379-F5E26F350CF0}"/>
              </a:ext>
            </a:extLst>
          </p:cNvPr>
          <p:cNvSpPr>
            <a:spLocks noGrp="1"/>
          </p:cNvSpPr>
          <p:nvPr>
            <p:ph type="sldNum" sz="quarter" idx="12"/>
          </p:nvPr>
        </p:nvSpPr>
        <p:spPr/>
        <p:txBody>
          <a:bodyPr/>
          <a:lstStyle/>
          <a:p>
            <a:fld id="{FE188F20-5675-4302-B756-18639FB72374}" type="slidenum">
              <a:rPr lang="en-US" smtClean="0"/>
              <a:t>‹#›</a:t>
            </a:fld>
            <a:endParaRPr lang="en-US"/>
          </a:p>
        </p:txBody>
      </p:sp>
    </p:spTree>
    <p:extLst>
      <p:ext uri="{BB962C8B-B14F-4D97-AF65-F5344CB8AC3E}">
        <p14:creationId xmlns:p14="http://schemas.microsoft.com/office/powerpoint/2010/main" val="3635720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FAF0E-B2D0-404D-AF3D-B63683A370C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B75970-9076-44C6-BFA8-29BE116CE74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363253-1903-438A-9059-E1C8B5B39412}"/>
              </a:ext>
            </a:extLst>
          </p:cNvPr>
          <p:cNvSpPr>
            <a:spLocks noGrp="1"/>
          </p:cNvSpPr>
          <p:nvPr>
            <p:ph type="dt" sz="half" idx="10"/>
          </p:nvPr>
        </p:nvSpPr>
        <p:spPr/>
        <p:txBody>
          <a:bodyPr/>
          <a:lstStyle/>
          <a:p>
            <a:fld id="{9B66FC04-1F29-4679-B726-A329A58AE3E7}" type="datetimeFigureOut">
              <a:rPr lang="en-US" smtClean="0"/>
              <a:t>10/12/2025</a:t>
            </a:fld>
            <a:endParaRPr lang="en-US"/>
          </a:p>
        </p:txBody>
      </p:sp>
      <p:sp>
        <p:nvSpPr>
          <p:cNvPr id="5" name="Footer Placeholder 4">
            <a:extLst>
              <a:ext uri="{FF2B5EF4-FFF2-40B4-BE49-F238E27FC236}">
                <a16:creationId xmlns:a16="http://schemas.microsoft.com/office/drawing/2014/main" id="{0C6A49A0-2C16-457D-B0B3-D6B6B3BBFF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A85972-7AC0-4485-AA40-CE050A9ACE15}"/>
              </a:ext>
            </a:extLst>
          </p:cNvPr>
          <p:cNvSpPr>
            <a:spLocks noGrp="1"/>
          </p:cNvSpPr>
          <p:nvPr>
            <p:ph type="sldNum" sz="quarter" idx="12"/>
          </p:nvPr>
        </p:nvSpPr>
        <p:spPr/>
        <p:txBody>
          <a:bodyPr/>
          <a:lstStyle/>
          <a:p>
            <a:fld id="{FE188F20-5675-4302-B756-18639FB72374}" type="slidenum">
              <a:rPr lang="en-US" smtClean="0"/>
              <a:t>‹#›</a:t>
            </a:fld>
            <a:endParaRPr lang="en-US"/>
          </a:p>
        </p:txBody>
      </p:sp>
    </p:spTree>
    <p:extLst>
      <p:ext uri="{BB962C8B-B14F-4D97-AF65-F5344CB8AC3E}">
        <p14:creationId xmlns:p14="http://schemas.microsoft.com/office/powerpoint/2010/main" val="1624021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6EBC4-0AE6-4AB4-8100-A9DB05E6D5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F87849-94C3-417B-8323-5C671BD693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5CF4F7-4EAC-4BC3-88F7-E26DC88D1C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755DB34-AB64-482D-B96F-07FA5969DA06}"/>
              </a:ext>
            </a:extLst>
          </p:cNvPr>
          <p:cNvSpPr>
            <a:spLocks noGrp="1"/>
          </p:cNvSpPr>
          <p:nvPr>
            <p:ph type="dt" sz="half" idx="10"/>
          </p:nvPr>
        </p:nvSpPr>
        <p:spPr/>
        <p:txBody>
          <a:bodyPr/>
          <a:lstStyle/>
          <a:p>
            <a:fld id="{9B66FC04-1F29-4679-B726-A329A58AE3E7}" type="datetimeFigureOut">
              <a:rPr lang="en-US" smtClean="0"/>
              <a:t>10/12/2025</a:t>
            </a:fld>
            <a:endParaRPr lang="en-US"/>
          </a:p>
        </p:txBody>
      </p:sp>
      <p:sp>
        <p:nvSpPr>
          <p:cNvPr id="6" name="Footer Placeholder 5">
            <a:extLst>
              <a:ext uri="{FF2B5EF4-FFF2-40B4-BE49-F238E27FC236}">
                <a16:creationId xmlns:a16="http://schemas.microsoft.com/office/drawing/2014/main" id="{89353383-EAAD-452B-90DE-983E9C4F73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0F1A85-3B67-4ABE-AF6A-56B414505D21}"/>
              </a:ext>
            </a:extLst>
          </p:cNvPr>
          <p:cNvSpPr>
            <a:spLocks noGrp="1"/>
          </p:cNvSpPr>
          <p:nvPr>
            <p:ph type="sldNum" sz="quarter" idx="12"/>
          </p:nvPr>
        </p:nvSpPr>
        <p:spPr/>
        <p:txBody>
          <a:bodyPr/>
          <a:lstStyle/>
          <a:p>
            <a:fld id="{FE188F20-5675-4302-B756-18639FB72374}" type="slidenum">
              <a:rPr lang="en-US" smtClean="0"/>
              <a:t>‹#›</a:t>
            </a:fld>
            <a:endParaRPr lang="en-US"/>
          </a:p>
        </p:txBody>
      </p:sp>
    </p:spTree>
    <p:extLst>
      <p:ext uri="{BB962C8B-B14F-4D97-AF65-F5344CB8AC3E}">
        <p14:creationId xmlns:p14="http://schemas.microsoft.com/office/powerpoint/2010/main" val="678779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774FF-0AD2-406C-8977-FABA88AC27D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2600C56-BCFC-4EA5-8CC5-CEC97A8C4F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F1E12E-4C8E-42D8-AF06-231DBBC337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9992AF-DAE3-4B19-9D15-CE6F46AD35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27842E-0DB6-41B0-92B2-AEEA2551FCA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9B48FF2-5FE4-4F09-BD53-1D6EC3A95270}"/>
              </a:ext>
            </a:extLst>
          </p:cNvPr>
          <p:cNvSpPr>
            <a:spLocks noGrp="1"/>
          </p:cNvSpPr>
          <p:nvPr>
            <p:ph type="dt" sz="half" idx="10"/>
          </p:nvPr>
        </p:nvSpPr>
        <p:spPr/>
        <p:txBody>
          <a:bodyPr/>
          <a:lstStyle/>
          <a:p>
            <a:fld id="{9B66FC04-1F29-4679-B726-A329A58AE3E7}" type="datetimeFigureOut">
              <a:rPr lang="en-US" smtClean="0"/>
              <a:t>10/12/2025</a:t>
            </a:fld>
            <a:endParaRPr lang="en-US"/>
          </a:p>
        </p:txBody>
      </p:sp>
      <p:sp>
        <p:nvSpPr>
          <p:cNvPr id="8" name="Footer Placeholder 7">
            <a:extLst>
              <a:ext uri="{FF2B5EF4-FFF2-40B4-BE49-F238E27FC236}">
                <a16:creationId xmlns:a16="http://schemas.microsoft.com/office/drawing/2014/main" id="{4A55C291-DF05-4534-A379-965DF2631AD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E21A57E-A82B-4152-B4CC-5E6D310F4829}"/>
              </a:ext>
            </a:extLst>
          </p:cNvPr>
          <p:cNvSpPr>
            <a:spLocks noGrp="1"/>
          </p:cNvSpPr>
          <p:nvPr>
            <p:ph type="sldNum" sz="quarter" idx="12"/>
          </p:nvPr>
        </p:nvSpPr>
        <p:spPr/>
        <p:txBody>
          <a:bodyPr/>
          <a:lstStyle/>
          <a:p>
            <a:fld id="{FE188F20-5675-4302-B756-18639FB72374}" type="slidenum">
              <a:rPr lang="en-US" smtClean="0"/>
              <a:t>‹#›</a:t>
            </a:fld>
            <a:endParaRPr lang="en-US"/>
          </a:p>
        </p:txBody>
      </p:sp>
    </p:spTree>
    <p:extLst>
      <p:ext uri="{BB962C8B-B14F-4D97-AF65-F5344CB8AC3E}">
        <p14:creationId xmlns:p14="http://schemas.microsoft.com/office/powerpoint/2010/main" val="2428958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22832-8D8D-47BC-A6BB-F18C3FFABB2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9DEEF7B-7B3C-4BEE-B7F1-6478A5E97527}"/>
              </a:ext>
            </a:extLst>
          </p:cNvPr>
          <p:cNvSpPr>
            <a:spLocks noGrp="1"/>
          </p:cNvSpPr>
          <p:nvPr>
            <p:ph type="dt" sz="half" idx="10"/>
          </p:nvPr>
        </p:nvSpPr>
        <p:spPr/>
        <p:txBody>
          <a:bodyPr/>
          <a:lstStyle/>
          <a:p>
            <a:fld id="{9B66FC04-1F29-4679-B726-A329A58AE3E7}" type="datetimeFigureOut">
              <a:rPr lang="en-US" smtClean="0"/>
              <a:t>10/12/2025</a:t>
            </a:fld>
            <a:endParaRPr lang="en-US"/>
          </a:p>
        </p:txBody>
      </p:sp>
      <p:sp>
        <p:nvSpPr>
          <p:cNvPr id="4" name="Footer Placeholder 3">
            <a:extLst>
              <a:ext uri="{FF2B5EF4-FFF2-40B4-BE49-F238E27FC236}">
                <a16:creationId xmlns:a16="http://schemas.microsoft.com/office/drawing/2014/main" id="{22DBB1D5-8948-4C6B-B630-02034A53B6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A58F44-6D9E-4951-96DB-927E56A96B21}"/>
              </a:ext>
            </a:extLst>
          </p:cNvPr>
          <p:cNvSpPr>
            <a:spLocks noGrp="1"/>
          </p:cNvSpPr>
          <p:nvPr>
            <p:ph type="sldNum" sz="quarter" idx="12"/>
          </p:nvPr>
        </p:nvSpPr>
        <p:spPr/>
        <p:txBody>
          <a:bodyPr/>
          <a:lstStyle/>
          <a:p>
            <a:fld id="{FE188F20-5675-4302-B756-18639FB72374}" type="slidenum">
              <a:rPr lang="en-US" smtClean="0"/>
              <a:t>‹#›</a:t>
            </a:fld>
            <a:endParaRPr lang="en-US"/>
          </a:p>
        </p:txBody>
      </p:sp>
    </p:spTree>
    <p:extLst>
      <p:ext uri="{BB962C8B-B14F-4D97-AF65-F5344CB8AC3E}">
        <p14:creationId xmlns:p14="http://schemas.microsoft.com/office/powerpoint/2010/main" val="1511098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D7977F-A269-4F97-8891-C8D01F49A819}"/>
              </a:ext>
            </a:extLst>
          </p:cNvPr>
          <p:cNvSpPr>
            <a:spLocks noGrp="1"/>
          </p:cNvSpPr>
          <p:nvPr>
            <p:ph type="dt" sz="half" idx="10"/>
          </p:nvPr>
        </p:nvSpPr>
        <p:spPr/>
        <p:txBody>
          <a:bodyPr/>
          <a:lstStyle/>
          <a:p>
            <a:fld id="{9B66FC04-1F29-4679-B726-A329A58AE3E7}" type="datetimeFigureOut">
              <a:rPr lang="en-US" smtClean="0"/>
              <a:t>10/12/2025</a:t>
            </a:fld>
            <a:endParaRPr lang="en-US"/>
          </a:p>
        </p:txBody>
      </p:sp>
      <p:sp>
        <p:nvSpPr>
          <p:cNvPr id="3" name="Footer Placeholder 2">
            <a:extLst>
              <a:ext uri="{FF2B5EF4-FFF2-40B4-BE49-F238E27FC236}">
                <a16:creationId xmlns:a16="http://schemas.microsoft.com/office/drawing/2014/main" id="{F2C2708F-2CDA-49FE-94AA-110DD7635D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D78D40E-188D-43D9-B8CA-89CF1030F235}"/>
              </a:ext>
            </a:extLst>
          </p:cNvPr>
          <p:cNvSpPr>
            <a:spLocks noGrp="1"/>
          </p:cNvSpPr>
          <p:nvPr>
            <p:ph type="sldNum" sz="quarter" idx="12"/>
          </p:nvPr>
        </p:nvSpPr>
        <p:spPr/>
        <p:txBody>
          <a:bodyPr/>
          <a:lstStyle/>
          <a:p>
            <a:fld id="{FE188F20-5675-4302-B756-18639FB72374}" type="slidenum">
              <a:rPr lang="en-US" smtClean="0"/>
              <a:t>‹#›</a:t>
            </a:fld>
            <a:endParaRPr lang="en-US"/>
          </a:p>
        </p:txBody>
      </p:sp>
    </p:spTree>
    <p:extLst>
      <p:ext uri="{BB962C8B-B14F-4D97-AF65-F5344CB8AC3E}">
        <p14:creationId xmlns:p14="http://schemas.microsoft.com/office/powerpoint/2010/main" val="2260741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E8E3E-3035-4D0C-B714-A999CAF65B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A96A64-DD52-442A-8374-0DFD7E34F5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4725F5-0CC4-4DD4-AE7B-0B761017BA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69FC3C-B4A3-41C5-9025-FAB7A42D02B3}"/>
              </a:ext>
            </a:extLst>
          </p:cNvPr>
          <p:cNvSpPr>
            <a:spLocks noGrp="1"/>
          </p:cNvSpPr>
          <p:nvPr>
            <p:ph type="dt" sz="half" idx="10"/>
          </p:nvPr>
        </p:nvSpPr>
        <p:spPr/>
        <p:txBody>
          <a:bodyPr/>
          <a:lstStyle/>
          <a:p>
            <a:fld id="{9B66FC04-1F29-4679-B726-A329A58AE3E7}" type="datetimeFigureOut">
              <a:rPr lang="en-US" smtClean="0"/>
              <a:t>10/12/2025</a:t>
            </a:fld>
            <a:endParaRPr lang="en-US"/>
          </a:p>
        </p:txBody>
      </p:sp>
      <p:sp>
        <p:nvSpPr>
          <p:cNvPr id="6" name="Footer Placeholder 5">
            <a:extLst>
              <a:ext uri="{FF2B5EF4-FFF2-40B4-BE49-F238E27FC236}">
                <a16:creationId xmlns:a16="http://schemas.microsoft.com/office/drawing/2014/main" id="{DEB03850-F406-4FD9-9B9C-052B194656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9EFE8B-A997-4B9B-8456-AB57DC725312}"/>
              </a:ext>
            </a:extLst>
          </p:cNvPr>
          <p:cNvSpPr>
            <a:spLocks noGrp="1"/>
          </p:cNvSpPr>
          <p:nvPr>
            <p:ph type="sldNum" sz="quarter" idx="12"/>
          </p:nvPr>
        </p:nvSpPr>
        <p:spPr/>
        <p:txBody>
          <a:bodyPr/>
          <a:lstStyle/>
          <a:p>
            <a:fld id="{FE188F20-5675-4302-B756-18639FB72374}" type="slidenum">
              <a:rPr lang="en-US" smtClean="0"/>
              <a:t>‹#›</a:t>
            </a:fld>
            <a:endParaRPr lang="en-US"/>
          </a:p>
        </p:txBody>
      </p:sp>
    </p:spTree>
    <p:extLst>
      <p:ext uri="{BB962C8B-B14F-4D97-AF65-F5344CB8AC3E}">
        <p14:creationId xmlns:p14="http://schemas.microsoft.com/office/powerpoint/2010/main" val="26861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4452B-5D5F-4682-A725-B26C562AE1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81C2D4-C281-493D-9EC6-9C0388AFF2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67C2C2F-DCC2-49BA-A3F4-5BDDD3BCED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F62A1A-99C2-40D1-BCEC-BBEAB9D5E455}"/>
              </a:ext>
            </a:extLst>
          </p:cNvPr>
          <p:cNvSpPr>
            <a:spLocks noGrp="1"/>
          </p:cNvSpPr>
          <p:nvPr>
            <p:ph type="dt" sz="half" idx="10"/>
          </p:nvPr>
        </p:nvSpPr>
        <p:spPr/>
        <p:txBody>
          <a:bodyPr/>
          <a:lstStyle/>
          <a:p>
            <a:fld id="{9B66FC04-1F29-4679-B726-A329A58AE3E7}" type="datetimeFigureOut">
              <a:rPr lang="en-US" smtClean="0"/>
              <a:t>10/12/2025</a:t>
            </a:fld>
            <a:endParaRPr lang="en-US"/>
          </a:p>
        </p:txBody>
      </p:sp>
      <p:sp>
        <p:nvSpPr>
          <p:cNvPr id="6" name="Footer Placeholder 5">
            <a:extLst>
              <a:ext uri="{FF2B5EF4-FFF2-40B4-BE49-F238E27FC236}">
                <a16:creationId xmlns:a16="http://schemas.microsoft.com/office/drawing/2014/main" id="{667D8C7A-9F3A-44C6-B7E0-3C2833EDD7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FA1D83-313F-4254-AA90-B4785E4C505B}"/>
              </a:ext>
            </a:extLst>
          </p:cNvPr>
          <p:cNvSpPr>
            <a:spLocks noGrp="1"/>
          </p:cNvSpPr>
          <p:nvPr>
            <p:ph type="sldNum" sz="quarter" idx="12"/>
          </p:nvPr>
        </p:nvSpPr>
        <p:spPr/>
        <p:txBody>
          <a:bodyPr/>
          <a:lstStyle/>
          <a:p>
            <a:fld id="{FE188F20-5675-4302-B756-18639FB72374}" type="slidenum">
              <a:rPr lang="en-US" smtClean="0"/>
              <a:t>‹#›</a:t>
            </a:fld>
            <a:endParaRPr lang="en-US"/>
          </a:p>
        </p:txBody>
      </p:sp>
    </p:spTree>
    <p:extLst>
      <p:ext uri="{BB962C8B-B14F-4D97-AF65-F5344CB8AC3E}">
        <p14:creationId xmlns:p14="http://schemas.microsoft.com/office/powerpoint/2010/main" val="1579554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28335-4B9F-4754-8FAE-50193B42AA2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2ECF167-CCA2-4FBF-85DD-90D07D819F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86BB0D-4B0E-4394-9E5E-087BB0AF7950}"/>
              </a:ext>
            </a:extLst>
          </p:cNvPr>
          <p:cNvSpPr>
            <a:spLocks noGrp="1"/>
          </p:cNvSpPr>
          <p:nvPr>
            <p:ph type="dt" sz="half" idx="10"/>
          </p:nvPr>
        </p:nvSpPr>
        <p:spPr/>
        <p:txBody>
          <a:bodyPr/>
          <a:lstStyle/>
          <a:p>
            <a:fld id="{9B66FC04-1F29-4679-B726-A329A58AE3E7}" type="datetimeFigureOut">
              <a:rPr lang="en-US" smtClean="0"/>
              <a:t>10/12/2025</a:t>
            </a:fld>
            <a:endParaRPr lang="en-US"/>
          </a:p>
        </p:txBody>
      </p:sp>
      <p:sp>
        <p:nvSpPr>
          <p:cNvPr id="5" name="Footer Placeholder 4">
            <a:extLst>
              <a:ext uri="{FF2B5EF4-FFF2-40B4-BE49-F238E27FC236}">
                <a16:creationId xmlns:a16="http://schemas.microsoft.com/office/drawing/2014/main" id="{7F97B379-6677-4A71-92C2-D27D10BC57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0FC99B-F6FC-4963-A51C-1DC587DBC1D4}"/>
              </a:ext>
            </a:extLst>
          </p:cNvPr>
          <p:cNvSpPr>
            <a:spLocks noGrp="1"/>
          </p:cNvSpPr>
          <p:nvPr>
            <p:ph type="sldNum" sz="quarter" idx="12"/>
          </p:nvPr>
        </p:nvSpPr>
        <p:spPr/>
        <p:txBody>
          <a:bodyPr/>
          <a:lstStyle/>
          <a:p>
            <a:fld id="{FE188F20-5675-4302-B756-18639FB72374}" type="slidenum">
              <a:rPr lang="en-US" smtClean="0"/>
              <a:t>‹#›</a:t>
            </a:fld>
            <a:endParaRPr lang="en-US"/>
          </a:p>
        </p:txBody>
      </p:sp>
    </p:spTree>
    <p:extLst>
      <p:ext uri="{BB962C8B-B14F-4D97-AF65-F5344CB8AC3E}">
        <p14:creationId xmlns:p14="http://schemas.microsoft.com/office/powerpoint/2010/main" val="4114927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694E41-C41B-4B1B-8F5C-9EF52C23B0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DD8090B-914D-40DB-A5FF-AFE53979D5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08CD75-3DF2-47D0-83DB-F50E72ADF426}"/>
              </a:ext>
            </a:extLst>
          </p:cNvPr>
          <p:cNvSpPr>
            <a:spLocks noGrp="1"/>
          </p:cNvSpPr>
          <p:nvPr>
            <p:ph type="dt" sz="half" idx="10"/>
          </p:nvPr>
        </p:nvSpPr>
        <p:spPr/>
        <p:txBody>
          <a:bodyPr/>
          <a:lstStyle/>
          <a:p>
            <a:fld id="{9B66FC04-1F29-4679-B726-A329A58AE3E7}" type="datetimeFigureOut">
              <a:rPr lang="en-US" smtClean="0"/>
              <a:t>10/12/2025</a:t>
            </a:fld>
            <a:endParaRPr lang="en-US"/>
          </a:p>
        </p:txBody>
      </p:sp>
      <p:sp>
        <p:nvSpPr>
          <p:cNvPr id="5" name="Footer Placeholder 4">
            <a:extLst>
              <a:ext uri="{FF2B5EF4-FFF2-40B4-BE49-F238E27FC236}">
                <a16:creationId xmlns:a16="http://schemas.microsoft.com/office/drawing/2014/main" id="{CDCDF02E-1CDD-41F4-9088-C70D613573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A80A33-0E31-4D52-BB2E-2DB163354FF8}"/>
              </a:ext>
            </a:extLst>
          </p:cNvPr>
          <p:cNvSpPr>
            <a:spLocks noGrp="1"/>
          </p:cNvSpPr>
          <p:nvPr>
            <p:ph type="sldNum" sz="quarter" idx="12"/>
          </p:nvPr>
        </p:nvSpPr>
        <p:spPr/>
        <p:txBody>
          <a:bodyPr/>
          <a:lstStyle/>
          <a:p>
            <a:fld id="{FE188F20-5675-4302-B756-18639FB72374}" type="slidenum">
              <a:rPr lang="en-US" smtClean="0"/>
              <a:t>‹#›</a:t>
            </a:fld>
            <a:endParaRPr lang="en-US"/>
          </a:p>
        </p:txBody>
      </p:sp>
    </p:spTree>
    <p:extLst>
      <p:ext uri="{BB962C8B-B14F-4D97-AF65-F5344CB8AC3E}">
        <p14:creationId xmlns:p14="http://schemas.microsoft.com/office/powerpoint/2010/main" val="3926728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E2CFDC-3E48-4620-BAB5-011140ADAD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F74B34-3CA7-4D22-B017-9631097E01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07D8C9-79CE-4605-A4FC-9D4C9EB3AD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66FC04-1F29-4679-B726-A329A58AE3E7}" type="datetimeFigureOut">
              <a:rPr lang="en-US" smtClean="0"/>
              <a:t>10/12/2025</a:t>
            </a:fld>
            <a:endParaRPr lang="en-US"/>
          </a:p>
        </p:txBody>
      </p:sp>
      <p:sp>
        <p:nvSpPr>
          <p:cNvPr id="5" name="Footer Placeholder 4">
            <a:extLst>
              <a:ext uri="{FF2B5EF4-FFF2-40B4-BE49-F238E27FC236}">
                <a16:creationId xmlns:a16="http://schemas.microsoft.com/office/drawing/2014/main" id="{4EC02F54-9219-4495-B4B2-76AC76724B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8374BB3-4689-431B-8226-022AB6F299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188F20-5675-4302-B756-18639FB72374}" type="slidenum">
              <a:rPr lang="en-US" smtClean="0"/>
              <a:t>‹#›</a:t>
            </a:fld>
            <a:endParaRPr lang="en-US"/>
          </a:p>
        </p:txBody>
      </p:sp>
    </p:spTree>
    <p:extLst>
      <p:ext uri="{BB962C8B-B14F-4D97-AF65-F5344CB8AC3E}">
        <p14:creationId xmlns:p14="http://schemas.microsoft.com/office/powerpoint/2010/main" val="5394363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hyperlink" Target="http://www.cftt.nist.gov/disk_imaging.htm"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Freeform: Shape 22">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Freeform: Shape 24">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DF5969A-FA89-41ED-8D90-99E4DED2A91B}"/>
              </a:ext>
            </a:extLst>
          </p:cNvPr>
          <p:cNvSpPr>
            <a:spLocks noGrp="1"/>
          </p:cNvSpPr>
          <p:nvPr>
            <p:ph type="ctrTitle"/>
          </p:nvPr>
        </p:nvSpPr>
        <p:spPr>
          <a:xfrm>
            <a:off x="1524003" y="1999615"/>
            <a:ext cx="9144000" cy="2764028"/>
          </a:xfrm>
        </p:spPr>
        <p:txBody>
          <a:bodyPr anchor="ctr">
            <a:normAutofit/>
          </a:bodyPr>
          <a:lstStyle/>
          <a:p>
            <a:br>
              <a:rPr lang="en-US" sz="3400"/>
            </a:br>
            <a:br>
              <a:rPr lang="en-US" sz="3400"/>
            </a:br>
            <a:r>
              <a:rPr lang="en-US" sz="3400"/>
              <a:t>TSF3313 FILE SYSTEM FORENSICS</a:t>
            </a:r>
            <a:br>
              <a:rPr lang="en-US" sz="3400"/>
            </a:br>
            <a:r>
              <a:rPr lang="en-US" sz="3400"/>
              <a:t>Chapter 3</a:t>
            </a:r>
            <a:br>
              <a:rPr lang="en-US" sz="3400"/>
            </a:br>
            <a:r>
              <a:rPr lang="en-US" sz="3400"/>
              <a:t>Hard Disk Data Acquisition</a:t>
            </a:r>
          </a:p>
        </p:txBody>
      </p:sp>
      <p:sp>
        <p:nvSpPr>
          <p:cNvPr id="3" name="Subtitle 2">
            <a:extLst>
              <a:ext uri="{FF2B5EF4-FFF2-40B4-BE49-F238E27FC236}">
                <a16:creationId xmlns:a16="http://schemas.microsoft.com/office/drawing/2014/main" id="{FEA2F005-FF72-4DA3-85FC-E6299313BEC8}"/>
              </a:ext>
            </a:extLst>
          </p:cNvPr>
          <p:cNvSpPr>
            <a:spLocks noGrp="1"/>
          </p:cNvSpPr>
          <p:nvPr>
            <p:ph type="subTitle" idx="1"/>
          </p:nvPr>
        </p:nvSpPr>
        <p:spPr>
          <a:xfrm>
            <a:off x="1966912" y="5645150"/>
            <a:ext cx="8258176" cy="631825"/>
          </a:xfrm>
        </p:spPr>
        <p:txBody>
          <a:bodyPr anchor="ctr">
            <a:normAutofit/>
          </a:bodyPr>
          <a:lstStyle/>
          <a:p>
            <a:endParaRPr lang="en-US" sz="2800" dirty="0"/>
          </a:p>
        </p:txBody>
      </p:sp>
      <p:sp>
        <p:nvSpPr>
          <p:cNvPr id="27" name="Rectangle 26">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42797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53CCC5-D6B2-4917-8CDD-13DC595CB102}"/>
              </a:ext>
            </a:extLst>
          </p:cNvPr>
          <p:cNvSpPr>
            <a:spLocks noGrp="1"/>
          </p:cNvSpPr>
          <p:nvPr>
            <p:ph type="title"/>
          </p:nvPr>
        </p:nvSpPr>
        <p:spPr>
          <a:xfrm>
            <a:off x="841248" y="334644"/>
            <a:ext cx="10509504" cy="1076914"/>
          </a:xfrm>
        </p:spPr>
        <p:txBody>
          <a:bodyPr anchor="ctr">
            <a:normAutofit/>
          </a:bodyPr>
          <a:lstStyle/>
          <a:p>
            <a:r>
              <a:rPr lang="en-US" sz="4000"/>
              <a:t>Hard Disk Data Acquisition</a:t>
            </a:r>
          </a:p>
        </p:txBody>
      </p:sp>
      <p:sp>
        <p:nvSpPr>
          <p:cNvPr id="11" name="Rectangle 10">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id="{5CB4A540-460C-CEC6-AA21-DEFA19173704}"/>
              </a:ext>
            </a:extLst>
          </p:cNvPr>
          <p:cNvGraphicFramePr>
            <a:graphicFrameLocks noGrp="1"/>
          </p:cNvGraphicFramePr>
          <p:nvPr>
            <p:ph idx="1"/>
            <p:extLst>
              <p:ext uri="{D42A27DB-BD31-4B8C-83A1-F6EECF244321}">
                <p14:modId xmlns:p14="http://schemas.microsoft.com/office/powerpoint/2010/main" val="3622010545"/>
              </p:ext>
            </p:extLst>
          </p:nvPr>
        </p:nvGraphicFramePr>
        <p:xfrm>
          <a:off x="838200" y="1737360"/>
          <a:ext cx="10506456" cy="45354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82657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93B4D24-F4A8-4141-A20A-E0575D1996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Meiryo"/>
            </a:endParaRPr>
          </a:p>
        </p:txBody>
      </p:sp>
      <p:sp>
        <p:nvSpPr>
          <p:cNvPr id="2" name="Title 1">
            <a:extLst>
              <a:ext uri="{FF2B5EF4-FFF2-40B4-BE49-F238E27FC236}">
                <a16:creationId xmlns:a16="http://schemas.microsoft.com/office/drawing/2014/main" id="{A5EDC8D8-0923-41C9-83B0-B4F003DE134F}"/>
              </a:ext>
            </a:extLst>
          </p:cNvPr>
          <p:cNvSpPr>
            <a:spLocks noGrp="1"/>
          </p:cNvSpPr>
          <p:nvPr>
            <p:ph type="title"/>
          </p:nvPr>
        </p:nvSpPr>
        <p:spPr>
          <a:xfrm>
            <a:off x="1920875" y="3645673"/>
            <a:ext cx="8769350" cy="950181"/>
          </a:xfrm>
        </p:spPr>
        <p:txBody>
          <a:bodyPr anchor="b">
            <a:normAutofit/>
          </a:bodyPr>
          <a:lstStyle/>
          <a:p>
            <a:pPr algn="ctr"/>
            <a:r>
              <a:rPr lang="en-US" sz="3600"/>
              <a:t>Introduction</a:t>
            </a:r>
          </a:p>
        </p:txBody>
      </p:sp>
      <p:sp>
        <p:nvSpPr>
          <p:cNvPr id="11" name="Freeform: Shape 10">
            <a:extLst>
              <a:ext uri="{FF2B5EF4-FFF2-40B4-BE49-F238E27FC236}">
                <a16:creationId xmlns:a16="http://schemas.microsoft.com/office/drawing/2014/main" id="{D845573F-F83A-4A47-B94A-2E6465F111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66883" y="557880"/>
            <a:ext cx="3458235" cy="2959687"/>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w="19050">
            <a:solidFill>
              <a:srgbClr val="FFFFFF">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E3E9CA91-0E2B-49CD-A0F6-2EA79F02FA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07954" y="676385"/>
            <a:ext cx="3236724" cy="2678356"/>
          </a:xfrm>
          <a:custGeom>
            <a:avLst/>
            <a:gdLst>
              <a:gd name="connsiteX0" fmla="*/ 1852211 w 3236724"/>
              <a:gd name="connsiteY0" fmla="*/ 0 h 2678356"/>
              <a:gd name="connsiteX1" fmla="*/ 1852285 w 3236724"/>
              <a:gd name="connsiteY1" fmla="*/ 3 h 2678356"/>
              <a:gd name="connsiteX2" fmla="*/ 1852359 w 3236724"/>
              <a:gd name="connsiteY2" fmla="*/ 0 h 2678356"/>
              <a:gd name="connsiteX3" fmla="*/ 2434596 w 3236724"/>
              <a:gd name="connsiteY3" fmla="*/ 106974 h 2678356"/>
              <a:gd name="connsiteX4" fmla="*/ 2859238 w 3236724"/>
              <a:gd name="connsiteY4" fmla="*/ 395597 h 2678356"/>
              <a:gd name="connsiteX5" fmla="*/ 3236724 w 3236724"/>
              <a:gd name="connsiteY5" fmla="*/ 1417925 h 2678356"/>
              <a:gd name="connsiteX6" fmla="*/ 3068575 w 3236724"/>
              <a:gd name="connsiteY6" fmla="*/ 1837191 h 2678356"/>
              <a:gd name="connsiteX7" fmla="*/ 2570726 w 3236724"/>
              <a:gd name="connsiteY7" fmla="*/ 2227590 h 2678356"/>
              <a:gd name="connsiteX8" fmla="*/ 2461266 w 3236724"/>
              <a:gd name="connsiteY8" fmla="*/ 2302270 h 2678356"/>
              <a:gd name="connsiteX9" fmla="*/ 1561831 w 3236724"/>
              <a:gd name="connsiteY9" fmla="*/ 2678356 h 2678356"/>
              <a:gd name="connsiteX10" fmla="*/ 1561750 w 3236724"/>
              <a:gd name="connsiteY10" fmla="*/ 2678352 h 2678356"/>
              <a:gd name="connsiteX11" fmla="*/ 1561683 w 3236724"/>
              <a:gd name="connsiteY11" fmla="*/ 2678356 h 2678356"/>
              <a:gd name="connsiteX12" fmla="*/ 376860 w 3236724"/>
              <a:gd name="connsiteY12" fmla="*/ 2067039 h 2678356"/>
              <a:gd name="connsiteX13" fmla="*/ 250592 w 3236724"/>
              <a:gd name="connsiteY13" fmla="*/ 1910648 h 2678356"/>
              <a:gd name="connsiteX14" fmla="*/ 0 w 3236724"/>
              <a:gd name="connsiteY14" fmla="*/ 1417925 h 2678356"/>
              <a:gd name="connsiteX15" fmla="*/ 151411 w 3236724"/>
              <a:gd name="connsiteY15" fmla="*/ 887282 h 2678356"/>
              <a:gd name="connsiteX16" fmla="*/ 568971 w 3236724"/>
              <a:gd name="connsiteY16" fmla="*/ 431316 h 2678356"/>
              <a:gd name="connsiteX17" fmla="*/ 1172669 w 3236724"/>
              <a:gd name="connsiteY17" fmla="*/ 115107 h 2678356"/>
              <a:gd name="connsiteX18" fmla="*/ 1852211 w 3236724"/>
              <a:gd name="connsiteY18" fmla="*/ 0 h 267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36724" h="2678356">
                <a:moveTo>
                  <a:pt x="1852211" y="0"/>
                </a:moveTo>
                <a:lnTo>
                  <a:pt x="1852285" y="3"/>
                </a:lnTo>
                <a:lnTo>
                  <a:pt x="1852359" y="0"/>
                </a:lnTo>
                <a:cubicBezTo>
                  <a:pt x="2065168" y="0"/>
                  <a:pt x="2261029" y="36024"/>
                  <a:pt x="2434596" y="106974"/>
                </a:cubicBezTo>
                <a:cubicBezTo>
                  <a:pt x="2597258" y="173517"/>
                  <a:pt x="2740125" y="270643"/>
                  <a:pt x="2859238" y="395597"/>
                </a:cubicBezTo>
                <a:cubicBezTo>
                  <a:pt x="3102677" y="651072"/>
                  <a:pt x="3236724" y="1014131"/>
                  <a:pt x="3236724" y="1417925"/>
                </a:cubicBezTo>
                <a:cubicBezTo>
                  <a:pt x="3236724" y="1579026"/>
                  <a:pt x="3184842" y="1708324"/>
                  <a:pt x="3068575" y="1837191"/>
                </a:cubicBezTo>
                <a:cubicBezTo>
                  <a:pt x="2946961" y="1971994"/>
                  <a:pt x="2764225" y="2096154"/>
                  <a:pt x="2570726" y="2227590"/>
                </a:cubicBezTo>
                <a:cubicBezTo>
                  <a:pt x="2535026" y="2251811"/>
                  <a:pt x="2498146" y="2276888"/>
                  <a:pt x="2461266" y="2302270"/>
                </a:cubicBezTo>
                <a:cubicBezTo>
                  <a:pt x="2131149" y="2529427"/>
                  <a:pt x="1890211" y="2678356"/>
                  <a:pt x="1561831" y="2678356"/>
                </a:cubicBezTo>
                <a:lnTo>
                  <a:pt x="1561750" y="2678352"/>
                </a:lnTo>
                <a:lnTo>
                  <a:pt x="1561683" y="2678356"/>
                </a:lnTo>
                <a:cubicBezTo>
                  <a:pt x="1061332" y="2678356"/>
                  <a:pt x="706977" y="2495543"/>
                  <a:pt x="376860" y="2067039"/>
                </a:cubicBezTo>
                <a:cubicBezTo>
                  <a:pt x="333659" y="2010953"/>
                  <a:pt x="291431" y="1959945"/>
                  <a:pt x="250592" y="1910648"/>
                </a:cubicBezTo>
                <a:cubicBezTo>
                  <a:pt x="81331" y="1706243"/>
                  <a:pt x="0" y="1599944"/>
                  <a:pt x="0" y="1417925"/>
                </a:cubicBezTo>
                <a:cubicBezTo>
                  <a:pt x="0" y="1237191"/>
                  <a:pt x="50979" y="1058657"/>
                  <a:pt x="151411" y="887282"/>
                </a:cubicBezTo>
                <a:cubicBezTo>
                  <a:pt x="249689" y="719635"/>
                  <a:pt x="390195" y="566180"/>
                  <a:pt x="568971" y="431316"/>
                </a:cubicBezTo>
                <a:cubicBezTo>
                  <a:pt x="744691" y="298716"/>
                  <a:pt x="953401" y="189359"/>
                  <a:pt x="1172669" y="115107"/>
                </a:cubicBezTo>
                <a:cubicBezTo>
                  <a:pt x="1397840" y="38716"/>
                  <a:pt x="1626554" y="0"/>
                  <a:pt x="1852211" y="0"/>
                </a:cubicBezTo>
                <a:close/>
              </a:path>
            </a:pathLst>
          </a:custGeom>
          <a:solidFill>
            <a:schemeClr val="bg1">
              <a:alpha val="3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 name="Picture 3" descr="A screenshot of a cell phone&#10;&#10;Description automatically generated">
            <a:extLst>
              <a:ext uri="{FF2B5EF4-FFF2-40B4-BE49-F238E27FC236}">
                <a16:creationId xmlns:a16="http://schemas.microsoft.com/office/drawing/2014/main" id="{DA9D9906-9278-4687-A772-74AEB3C971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4721" y="1540472"/>
            <a:ext cx="6121658" cy="950181"/>
          </a:xfrm>
          <a:prstGeom prst="rect">
            <a:avLst/>
          </a:prstGeom>
        </p:spPr>
      </p:pic>
      <p:sp>
        <p:nvSpPr>
          <p:cNvPr id="3" name="Content Placeholder 2">
            <a:extLst>
              <a:ext uri="{FF2B5EF4-FFF2-40B4-BE49-F238E27FC236}">
                <a16:creationId xmlns:a16="http://schemas.microsoft.com/office/drawing/2014/main" id="{9307B507-82DE-44AB-99A1-D6B207DFA9E2}"/>
              </a:ext>
            </a:extLst>
          </p:cNvPr>
          <p:cNvSpPr>
            <a:spLocks noGrp="1"/>
          </p:cNvSpPr>
          <p:nvPr>
            <p:ph idx="1"/>
          </p:nvPr>
        </p:nvSpPr>
        <p:spPr>
          <a:xfrm>
            <a:off x="1920874" y="4595854"/>
            <a:ext cx="8932863" cy="1623971"/>
          </a:xfrm>
        </p:spPr>
        <p:txBody>
          <a:bodyPr>
            <a:normAutofit/>
          </a:bodyPr>
          <a:lstStyle/>
          <a:p>
            <a:pPr algn="ctr"/>
            <a:r>
              <a:rPr lang="en-US" sz="2000"/>
              <a:t>A technique that is commonly used in the preservation of a system is to make duplicate copies of the hard disks so that they can be brought to a lab for a dead analysis.</a:t>
            </a:r>
          </a:p>
        </p:txBody>
      </p:sp>
    </p:spTree>
    <p:extLst>
      <p:ext uri="{BB962C8B-B14F-4D97-AF65-F5344CB8AC3E}">
        <p14:creationId xmlns:p14="http://schemas.microsoft.com/office/powerpoint/2010/main" val="16148157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D1A2CED-DA9B-4CCF-8215-CFC65FE71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562DFC44-A40C-4573-9230-B3EDB3EC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260019"/>
            <a:ext cx="11167447"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8965EEBE-2EDE-44A9-B589-E1DBDFC95711}"/>
              </a:ext>
            </a:extLst>
          </p:cNvPr>
          <p:cNvSpPr>
            <a:spLocks noGrp="1"/>
          </p:cNvSpPr>
          <p:nvPr>
            <p:ph type="title"/>
          </p:nvPr>
        </p:nvSpPr>
        <p:spPr>
          <a:xfrm>
            <a:off x="1115568" y="509521"/>
            <a:ext cx="10232136" cy="1014984"/>
          </a:xfrm>
        </p:spPr>
        <p:txBody>
          <a:bodyPr vert="horz" lIns="91440" tIns="45720" rIns="91440" bIns="45720" rtlCol="0" anchor="ctr">
            <a:normAutofit/>
          </a:bodyPr>
          <a:lstStyle/>
          <a:p>
            <a:r>
              <a:rPr lang="en-US" sz="4000" kern="1200">
                <a:solidFill>
                  <a:schemeClr val="tx1"/>
                </a:solidFill>
                <a:latin typeface="+mj-lt"/>
                <a:ea typeface="+mj-ea"/>
                <a:cs typeface="+mj-cs"/>
              </a:rPr>
              <a:t>Introduction</a:t>
            </a:r>
          </a:p>
        </p:txBody>
      </p:sp>
      <p:sp>
        <p:nvSpPr>
          <p:cNvPr id="15" name="Rectangle 14">
            <a:extLst>
              <a:ext uri="{FF2B5EF4-FFF2-40B4-BE49-F238E27FC236}">
                <a16:creationId xmlns:a16="http://schemas.microsoft.com/office/drawing/2014/main" id="{15589D35-CF9F-4DE9-A792-8571A09E9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658327"/>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Content Placeholder 4">
            <a:extLst>
              <a:ext uri="{FF2B5EF4-FFF2-40B4-BE49-F238E27FC236}">
                <a16:creationId xmlns:a16="http://schemas.microsoft.com/office/drawing/2014/main" id="{2AEA1E9A-9BB6-415C-9594-40EB5EFF8804}"/>
              </a:ext>
            </a:extLst>
          </p:cNvPr>
          <p:cNvSpPr>
            <a:spLocks/>
          </p:cNvSpPr>
          <p:nvPr/>
        </p:nvSpPr>
        <p:spPr>
          <a:xfrm>
            <a:off x="5419755" y="1673352"/>
            <a:ext cx="5480191" cy="4327208"/>
          </a:xfrm>
          <a:prstGeom prst="rect">
            <a:avLst/>
          </a:prstGeom>
        </p:spPr>
        <p:txBody>
          <a:bodyPr>
            <a:normAutofit/>
          </a:bodyPr>
          <a:lstStyle/>
          <a:p>
            <a:pPr defTabSz="804672">
              <a:spcAft>
                <a:spcPts val="600"/>
              </a:spcAft>
            </a:pPr>
            <a:r>
              <a:rPr lang="en-US" sz="1584" kern="1200">
                <a:solidFill>
                  <a:schemeClr val="tx1"/>
                </a:solidFill>
                <a:latin typeface="+mn-lt"/>
                <a:ea typeface="+mn-ea"/>
                <a:cs typeface="+mn-cs"/>
              </a:rPr>
              <a:t>The general, and intuitive, procedure for acquiring a storage device is to copy one byte from the original storage device (the source) to a destination storage device and repeat the process.</a:t>
            </a:r>
          </a:p>
          <a:p>
            <a:pPr defTabSz="804672">
              <a:spcAft>
                <a:spcPts val="600"/>
              </a:spcAft>
            </a:pPr>
            <a:r>
              <a:rPr lang="en-US" sz="1584" kern="1200">
                <a:solidFill>
                  <a:schemeClr val="tx1"/>
                </a:solidFill>
                <a:latin typeface="+mn-lt"/>
                <a:ea typeface="+mn-ea"/>
                <a:cs typeface="+mn-cs"/>
              </a:rPr>
              <a:t>Computers copy data from the suspect systems in chunks of data, ranging from 512 bytes to many thousands of bytes.</a:t>
            </a:r>
          </a:p>
          <a:p>
            <a:pPr defTabSz="804672">
              <a:spcAft>
                <a:spcPts val="600"/>
              </a:spcAft>
            </a:pPr>
            <a:r>
              <a:rPr lang="en-US" sz="1584" kern="1200">
                <a:solidFill>
                  <a:schemeClr val="tx1"/>
                </a:solidFill>
                <a:latin typeface="+mn-lt"/>
                <a:ea typeface="+mn-ea"/>
                <a:cs typeface="+mn-cs"/>
              </a:rPr>
              <a:t>The chunks of data that are transferred each time are typically a multiple of 512 bytes, because that is the size of most disk sectors. </a:t>
            </a:r>
          </a:p>
          <a:p>
            <a:pPr defTabSz="804672">
              <a:spcAft>
                <a:spcPts val="600"/>
              </a:spcAft>
            </a:pPr>
            <a:r>
              <a:rPr lang="en-US" sz="1584" kern="1200">
                <a:solidFill>
                  <a:schemeClr val="tx1"/>
                </a:solidFill>
                <a:latin typeface="+mn-lt"/>
                <a:ea typeface="+mn-ea"/>
                <a:cs typeface="+mn-cs"/>
              </a:rPr>
              <a:t>If the acquisition tool encounters an error while reading data from the suspect drive, many of the tools will write zeros to the destination.</a:t>
            </a:r>
            <a:endParaRPr lang="en-US"/>
          </a:p>
        </p:txBody>
      </p:sp>
      <p:sp>
        <p:nvSpPr>
          <p:cNvPr id="6" name="Text Placeholder 5">
            <a:extLst>
              <a:ext uri="{FF2B5EF4-FFF2-40B4-BE49-F238E27FC236}">
                <a16:creationId xmlns:a16="http://schemas.microsoft.com/office/drawing/2014/main" id="{E71794A9-044C-400F-8D7A-EDA9A120F1CF}"/>
              </a:ext>
            </a:extLst>
          </p:cNvPr>
          <p:cNvSpPr>
            <a:spLocks/>
          </p:cNvSpPr>
          <p:nvPr/>
        </p:nvSpPr>
        <p:spPr>
          <a:xfrm>
            <a:off x="1563325" y="2623364"/>
            <a:ext cx="3491366" cy="3384244"/>
          </a:xfrm>
          <a:prstGeom prst="rect">
            <a:avLst/>
          </a:prstGeom>
        </p:spPr>
        <p:txBody>
          <a:bodyPr>
            <a:normAutofit/>
          </a:bodyPr>
          <a:lstStyle/>
          <a:p>
            <a:pPr defTabSz="804672">
              <a:spcAft>
                <a:spcPts val="600"/>
              </a:spcAft>
            </a:pPr>
            <a:r>
              <a:rPr lang="en-US" sz="2816" kern="1200">
                <a:solidFill>
                  <a:schemeClr val="tx1"/>
                </a:solidFill>
                <a:latin typeface="+mn-lt"/>
                <a:ea typeface="+mn-ea"/>
                <a:cs typeface="+mn-cs"/>
              </a:rPr>
              <a:t>General Acquisition Procedure</a:t>
            </a:r>
            <a:endParaRPr lang="en-US" sz="3200"/>
          </a:p>
        </p:txBody>
      </p:sp>
    </p:spTree>
    <p:extLst>
      <p:ext uri="{BB962C8B-B14F-4D97-AF65-F5344CB8AC3E}">
        <p14:creationId xmlns:p14="http://schemas.microsoft.com/office/powerpoint/2010/main" val="37390881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965EEBE-2EDE-44A9-B589-E1DBDFC95711}"/>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US" sz="4400" kern="1200">
                <a:solidFill>
                  <a:schemeClr val="tx1"/>
                </a:solidFill>
                <a:latin typeface="+mj-lt"/>
                <a:ea typeface="+mj-ea"/>
                <a:cs typeface="+mj-cs"/>
              </a:rPr>
              <a:t>Introduction</a:t>
            </a:r>
          </a:p>
        </p:txBody>
      </p:sp>
      <p:sp>
        <p:nvSpPr>
          <p:cNvPr id="14" name="Rectangle 13">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Content Placeholder 4">
            <a:extLst>
              <a:ext uri="{FF2B5EF4-FFF2-40B4-BE49-F238E27FC236}">
                <a16:creationId xmlns:a16="http://schemas.microsoft.com/office/drawing/2014/main" id="{2AEA1E9A-9BB6-415C-9594-40EB5EFF8804}"/>
              </a:ext>
            </a:extLst>
          </p:cNvPr>
          <p:cNvSpPr>
            <a:spLocks/>
          </p:cNvSpPr>
          <p:nvPr/>
        </p:nvSpPr>
        <p:spPr>
          <a:xfrm>
            <a:off x="5281179" y="1926266"/>
            <a:ext cx="5509610" cy="4350438"/>
          </a:xfrm>
          <a:prstGeom prst="rect">
            <a:avLst/>
          </a:prstGeom>
        </p:spPr>
        <p:txBody>
          <a:bodyPr>
            <a:normAutofit/>
          </a:bodyPr>
          <a:lstStyle/>
          <a:p>
            <a:pPr defTabSz="813816">
              <a:spcAft>
                <a:spcPts val="600"/>
              </a:spcAft>
            </a:pPr>
            <a:r>
              <a:rPr lang="en-US" sz="1602" kern="1200">
                <a:solidFill>
                  <a:schemeClr val="tx1"/>
                </a:solidFill>
                <a:latin typeface="+mn-lt"/>
                <a:ea typeface="+mn-ea"/>
                <a:cs typeface="+mn-cs"/>
              </a:rPr>
              <a:t>The general theory of non-volatile data acquisition is to save every byte that we think may contain evidence. </a:t>
            </a:r>
          </a:p>
          <a:p>
            <a:pPr defTabSz="813816">
              <a:spcAft>
                <a:spcPts val="600"/>
              </a:spcAft>
            </a:pPr>
            <a:r>
              <a:rPr lang="en-US" sz="1602" kern="1200">
                <a:solidFill>
                  <a:schemeClr val="tx1"/>
                </a:solidFill>
                <a:latin typeface="+mn-lt"/>
                <a:ea typeface="+mn-ea"/>
                <a:cs typeface="+mn-cs"/>
              </a:rPr>
              <a:t>Data can be interpreted at different layers; for example, the disk, volume, file, and application layers. </a:t>
            </a:r>
          </a:p>
          <a:p>
            <a:pPr defTabSz="813816">
              <a:spcAft>
                <a:spcPts val="600"/>
              </a:spcAft>
            </a:pPr>
            <a:r>
              <a:rPr lang="en-US" sz="1602" kern="1200">
                <a:solidFill>
                  <a:schemeClr val="tx1"/>
                </a:solidFill>
                <a:latin typeface="+mn-lt"/>
                <a:ea typeface="+mn-ea"/>
                <a:cs typeface="+mn-cs"/>
              </a:rPr>
              <a:t>At each layer of abstraction, data are lost. Therefore, the rule of thumb is to acquire data at the lowest layer that we think there will be evidence. </a:t>
            </a:r>
          </a:p>
          <a:p>
            <a:pPr defTabSz="813816">
              <a:spcAft>
                <a:spcPts val="600"/>
              </a:spcAft>
            </a:pPr>
            <a:r>
              <a:rPr lang="en-US" sz="1602" kern="1200">
                <a:solidFill>
                  <a:schemeClr val="tx1"/>
                </a:solidFill>
                <a:latin typeface="+mn-lt"/>
                <a:ea typeface="+mn-ea"/>
                <a:cs typeface="+mn-cs"/>
              </a:rPr>
              <a:t>For most cases, an investigator will acquire every sector of a disk, which is what we cover in this chapter. </a:t>
            </a:r>
          </a:p>
          <a:p>
            <a:pPr defTabSz="813816">
              <a:spcAft>
                <a:spcPts val="600"/>
              </a:spcAft>
            </a:pPr>
            <a:r>
              <a:rPr lang="en-US" sz="1602" kern="1200">
                <a:solidFill>
                  <a:schemeClr val="tx1"/>
                </a:solidFill>
                <a:latin typeface="+mn-lt"/>
                <a:ea typeface="+mn-ea"/>
                <a:cs typeface="+mn-cs"/>
              </a:rPr>
              <a:t>Note that when we save only the contents of each sector, we lose data that data recovery specialists may need.</a:t>
            </a:r>
            <a:endParaRPr lang="en-US"/>
          </a:p>
        </p:txBody>
      </p:sp>
      <p:sp>
        <p:nvSpPr>
          <p:cNvPr id="6" name="Text Placeholder 5">
            <a:extLst>
              <a:ext uri="{FF2B5EF4-FFF2-40B4-BE49-F238E27FC236}">
                <a16:creationId xmlns:a16="http://schemas.microsoft.com/office/drawing/2014/main" id="{E71794A9-044C-400F-8D7A-EDA9A120F1CF}"/>
              </a:ext>
            </a:extLst>
          </p:cNvPr>
          <p:cNvSpPr>
            <a:spLocks/>
          </p:cNvSpPr>
          <p:nvPr/>
        </p:nvSpPr>
        <p:spPr>
          <a:xfrm>
            <a:off x="1404046" y="2881378"/>
            <a:ext cx="3510109" cy="3402412"/>
          </a:xfrm>
          <a:prstGeom prst="rect">
            <a:avLst/>
          </a:prstGeom>
        </p:spPr>
        <p:txBody>
          <a:bodyPr>
            <a:normAutofit/>
          </a:bodyPr>
          <a:lstStyle/>
          <a:p>
            <a:pPr defTabSz="813816">
              <a:spcAft>
                <a:spcPts val="600"/>
              </a:spcAft>
            </a:pPr>
            <a:r>
              <a:rPr lang="en-US" sz="2848" kern="1200">
                <a:solidFill>
                  <a:schemeClr val="tx1"/>
                </a:solidFill>
                <a:latin typeface="+mn-lt"/>
                <a:ea typeface="+mn-ea"/>
                <a:cs typeface="+mn-cs"/>
              </a:rPr>
              <a:t>Data Acquisition Layers</a:t>
            </a:r>
            <a:endParaRPr lang="en-US" sz="3200"/>
          </a:p>
        </p:txBody>
      </p:sp>
      <p:pic>
        <p:nvPicPr>
          <p:cNvPr id="7" name="Content Placeholder 7" descr="A screenshot of a cell phone&#10;&#10;Description automatically generated">
            <a:extLst>
              <a:ext uri="{FF2B5EF4-FFF2-40B4-BE49-F238E27FC236}">
                <a16:creationId xmlns:a16="http://schemas.microsoft.com/office/drawing/2014/main" id="{0525BED4-3CCD-473E-BA4E-C4754B8FC9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1211" y="4101485"/>
            <a:ext cx="3510109" cy="1827309"/>
          </a:xfrm>
          <a:prstGeom prst="rect">
            <a:avLst/>
          </a:prstGeom>
        </p:spPr>
      </p:pic>
    </p:spTree>
    <p:extLst>
      <p:ext uri="{BB962C8B-B14F-4D97-AF65-F5344CB8AC3E}">
        <p14:creationId xmlns:p14="http://schemas.microsoft.com/office/powerpoint/2010/main" val="40215693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ACC6BB2-28F8-4405-829D-0562733BEE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a16="http://schemas.microsoft.com/office/drawing/2014/main" id="{5C2E53F0-AD54-4A55-99A0-EC896CE3C2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FEFEF"/>
            </a:solidFill>
          </a:ln>
          <a:effectLst>
            <a:outerShdw blurRad="889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Freeform: Shape 14">
            <a:extLst>
              <a:ext uri="{FF2B5EF4-FFF2-40B4-BE49-F238E27FC236}">
                <a16:creationId xmlns:a16="http://schemas.microsoft.com/office/drawing/2014/main" id="{D15F19F8-85EE-477A-ACBA-4B6D06978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8965EEBE-2EDE-44A9-B589-E1DBDFC95711}"/>
              </a:ext>
            </a:extLst>
          </p:cNvPr>
          <p:cNvSpPr>
            <a:spLocks noGrp="1"/>
          </p:cNvSpPr>
          <p:nvPr>
            <p:ph type="title"/>
          </p:nvPr>
        </p:nvSpPr>
        <p:spPr>
          <a:xfrm>
            <a:off x="838200" y="253397"/>
            <a:ext cx="10515600" cy="1273233"/>
          </a:xfrm>
        </p:spPr>
        <p:txBody>
          <a:bodyPr vert="horz" lIns="91440" tIns="45720" rIns="91440" bIns="45720" rtlCol="0" anchor="ctr">
            <a:normAutofit/>
          </a:bodyPr>
          <a:lstStyle/>
          <a:p>
            <a:r>
              <a:rPr lang="en-US" sz="4000" kern="1200">
                <a:solidFill>
                  <a:schemeClr val="tx1"/>
                </a:solidFill>
                <a:latin typeface="+mj-lt"/>
                <a:ea typeface="+mj-ea"/>
                <a:cs typeface="+mj-cs"/>
              </a:rPr>
              <a:t>Introduction</a:t>
            </a:r>
          </a:p>
        </p:txBody>
      </p:sp>
      <p:sp>
        <p:nvSpPr>
          <p:cNvPr id="17" name="Rectangle 16">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7970"/>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Content Placeholder 4">
            <a:extLst>
              <a:ext uri="{FF2B5EF4-FFF2-40B4-BE49-F238E27FC236}">
                <a16:creationId xmlns:a16="http://schemas.microsoft.com/office/drawing/2014/main" id="{2AEA1E9A-9BB6-415C-9594-40EB5EFF8804}"/>
              </a:ext>
            </a:extLst>
          </p:cNvPr>
          <p:cNvSpPr>
            <a:spLocks/>
          </p:cNvSpPr>
          <p:nvPr/>
        </p:nvSpPr>
        <p:spPr>
          <a:xfrm>
            <a:off x="5335269" y="2184158"/>
            <a:ext cx="5134932" cy="4054589"/>
          </a:xfrm>
          <a:prstGeom prst="rect">
            <a:avLst/>
          </a:prstGeom>
        </p:spPr>
        <p:txBody>
          <a:bodyPr>
            <a:normAutofit fontScale="92500" lnSpcReduction="20000"/>
          </a:bodyPr>
          <a:lstStyle/>
          <a:p>
            <a:pPr defTabSz="758952">
              <a:lnSpc>
                <a:spcPct val="90000"/>
              </a:lnSpc>
              <a:spcAft>
                <a:spcPts val="600"/>
              </a:spcAft>
            </a:pPr>
            <a:r>
              <a:rPr lang="en-US" sz="1700" kern="1200">
                <a:solidFill>
                  <a:schemeClr val="tx1"/>
                </a:solidFill>
                <a:latin typeface="+mn-lt"/>
                <a:ea typeface="+mn-ea"/>
                <a:cs typeface="+mn-cs"/>
              </a:rPr>
              <a:t>Suppose that we acquired a disk at the volume level and we made a copy of every sector in each partition. </a:t>
            </a:r>
          </a:p>
          <a:p>
            <a:pPr defTabSz="758952">
              <a:lnSpc>
                <a:spcPct val="90000"/>
              </a:lnSpc>
              <a:spcAft>
                <a:spcPts val="600"/>
              </a:spcAft>
            </a:pPr>
            <a:r>
              <a:rPr lang="en-US" sz="1700" kern="1200">
                <a:solidFill>
                  <a:schemeClr val="tx1"/>
                </a:solidFill>
                <a:latin typeface="+mn-lt"/>
                <a:ea typeface="+mn-ea"/>
                <a:cs typeface="+mn-cs"/>
              </a:rPr>
              <a:t>This would allow us to recover deleted files in each partition, but we would not be able to analyze the sectors that are not allocated to partitions. </a:t>
            </a:r>
          </a:p>
          <a:p>
            <a:pPr defTabSz="758952">
              <a:lnSpc>
                <a:spcPct val="90000"/>
              </a:lnSpc>
              <a:spcAft>
                <a:spcPts val="600"/>
              </a:spcAft>
            </a:pPr>
            <a:r>
              <a:rPr lang="en-US" sz="1700" kern="1200">
                <a:solidFill>
                  <a:schemeClr val="tx1"/>
                </a:solidFill>
                <a:latin typeface="+mn-lt"/>
                <a:ea typeface="+mn-ea"/>
                <a:cs typeface="+mn-cs"/>
              </a:rPr>
              <a:t>Suppose that we used a backup utility and copied only allocated files. </a:t>
            </a:r>
          </a:p>
          <a:p>
            <a:pPr defTabSz="758952">
              <a:lnSpc>
                <a:spcPct val="90000"/>
              </a:lnSpc>
              <a:spcAft>
                <a:spcPts val="600"/>
              </a:spcAft>
            </a:pPr>
            <a:r>
              <a:rPr lang="en-US" sz="1700" kern="1200">
                <a:solidFill>
                  <a:schemeClr val="tx1"/>
                </a:solidFill>
                <a:latin typeface="+mn-lt"/>
                <a:ea typeface="+mn-ea"/>
                <a:cs typeface="+mn-cs"/>
              </a:rPr>
              <a:t>In this case, we would not be able to recover deleted files, we might not have access to all the temporal data, and we would not be able to find data that has been hidden inside partition or file system data structures. </a:t>
            </a:r>
          </a:p>
          <a:p>
            <a:pPr defTabSz="758952">
              <a:lnSpc>
                <a:spcPct val="90000"/>
              </a:lnSpc>
              <a:spcAft>
                <a:spcPts val="600"/>
              </a:spcAft>
            </a:pPr>
            <a:r>
              <a:rPr lang="en-US" sz="1700" kern="1200">
                <a:solidFill>
                  <a:schemeClr val="tx1"/>
                </a:solidFill>
                <a:latin typeface="+mn-lt"/>
                <a:ea typeface="+mn-ea"/>
                <a:cs typeface="+mn-cs"/>
              </a:rPr>
              <a:t>Sometimes a backup is the only available data, and the investigator needs to make the most of it. </a:t>
            </a:r>
          </a:p>
          <a:p>
            <a:pPr defTabSz="758952">
              <a:lnSpc>
                <a:spcPct val="90000"/>
              </a:lnSpc>
              <a:spcAft>
                <a:spcPts val="600"/>
              </a:spcAft>
            </a:pPr>
            <a:r>
              <a:rPr lang="en-US" sz="1700" kern="1200">
                <a:solidFill>
                  <a:schemeClr val="tx1"/>
                </a:solidFill>
                <a:latin typeface="+mn-lt"/>
                <a:ea typeface="+mn-ea"/>
                <a:cs typeface="+mn-cs"/>
              </a:rPr>
              <a:t>A scenario where a backup would be critical is in a corporate environment where a server is not responding because its disks were wiped with 0s and then rebooted. </a:t>
            </a:r>
          </a:p>
          <a:p>
            <a:pPr defTabSz="758952">
              <a:lnSpc>
                <a:spcPct val="90000"/>
              </a:lnSpc>
              <a:spcAft>
                <a:spcPts val="600"/>
              </a:spcAft>
            </a:pPr>
            <a:r>
              <a:rPr lang="en-US" sz="1700" kern="1200">
                <a:solidFill>
                  <a:schemeClr val="tx1"/>
                </a:solidFill>
                <a:latin typeface="+mn-lt"/>
                <a:ea typeface="+mn-ea"/>
                <a:cs typeface="+mn-cs"/>
              </a:rPr>
              <a:t>The last backups of the system might provide clues about who had access to the system and whether an attacker had compromised it.</a:t>
            </a:r>
            <a:endParaRPr lang="en-US" sz="1700"/>
          </a:p>
        </p:txBody>
      </p:sp>
      <p:sp>
        <p:nvSpPr>
          <p:cNvPr id="6" name="Text Placeholder 5">
            <a:extLst>
              <a:ext uri="{FF2B5EF4-FFF2-40B4-BE49-F238E27FC236}">
                <a16:creationId xmlns:a16="http://schemas.microsoft.com/office/drawing/2014/main" id="{E71794A9-044C-400F-8D7A-EDA9A120F1CF}"/>
              </a:ext>
            </a:extLst>
          </p:cNvPr>
          <p:cNvSpPr>
            <a:spLocks/>
          </p:cNvSpPr>
          <p:nvPr/>
        </p:nvSpPr>
        <p:spPr>
          <a:xfrm>
            <a:off x="1721798" y="3074319"/>
            <a:ext cx="3271406" cy="3171032"/>
          </a:xfrm>
          <a:prstGeom prst="rect">
            <a:avLst/>
          </a:prstGeom>
        </p:spPr>
        <p:txBody>
          <a:bodyPr>
            <a:normAutofit/>
          </a:bodyPr>
          <a:lstStyle/>
          <a:p>
            <a:pPr defTabSz="758952">
              <a:spcAft>
                <a:spcPts val="600"/>
              </a:spcAft>
            </a:pPr>
            <a:r>
              <a:rPr lang="en-US" sz="2656" kern="1200">
                <a:solidFill>
                  <a:schemeClr val="tx1"/>
                </a:solidFill>
                <a:latin typeface="+mn-lt"/>
                <a:ea typeface="+mn-ea"/>
                <a:cs typeface="+mn-cs"/>
              </a:rPr>
              <a:t>Data Acquisition Layers (cont.)</a:t>
            </a:r>
            <a:endParaRPr lang="en-US" sz="3200"/>
          </a:p>
        </p:txBody>
      </p:sp>
    </p:spTree>
    <p:extLst>
      <p:ext uri="{BB962C8B-B14F-4D97-AF65-F5344CB8AC3E}">
        <p14:creationId xmlns:p14="http://schemas.microsoft.com/office/powerpoint/2010/main" val="2307295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965EEBE-2EDE-44A9-B589-E1DBDFC95711}"/>
              </a:ext>
            </a:extLst>
          </p:cNvPr>
          <p:cNvSpPr>
            <a:spLocks noGrp="1"/>
          </p:cNvSpPr>
          <p:nvPr>
            <p:ph type="title"/>
          </p:nvPr>
        </p:nvSpPr>
        <p:spPr>
          <a:xfrm>
            <a:off x="841248" y="334644"/>
            <a:ext cx="10509504" cy="1076914"/>
          </a:xfrm>
        </p:spPr>
        <p:txBody>
          <a:bodyPr vert="horz" lIns="91440" tIns="45720" rIns="91440" bIns="45720" rtlCol="0" anchor="ctr">
            <a:normAutofit/>
          </a:bodyPr>
          <a:lstStyle/>
          <a:p>
            <a:r>
              <a:rPr lang="en-US" sz="4000" kern="1200">
                <a:solidFill>
                  <a:schemeClr val="tx1"/>
                </a:solidFill>
                <a:latin typeface="+mj-lt"/>
                <a:ea typeface="+mj-ea"/>
                <a:cs typeface="+mj-cs"/>
              </a:rPr>
              <a:t>Introduction</a:t>
            </a:r>
          </a:p>
        </p:txBody>
      </p:sp>
      <p:sp>
        <p:nvSpPr>
          <p:cNvPr id="13" name="Rectangle 12">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2AEA1E9A-9BB6-415C-9594-40EB5EFF8804}"/>
              </a:ext>
            </a:extLst>
          </p:cNvPr>
          <p:cNvSpPr>
            <a:spLocks/>
          </p:cNvSpPr>
          <p:nvPr/>
        </p:nvSpPr>
        <p:spPr>
          <a:xfrm>
            <a:off x="5241866" y="1737360"/>
            <a:ext cx="5734545" cy="4528049"/>
          </a:xfrm>
          <a:prstGeom prst="rect">
            <a:avLst/>
          </a:prstGeom>
        </p:spPr>
        <p:txBody>
          <a:bodyPr>
            <a:normAutofit/>
          </a:bodyPr>
          <a:lstStyle/>
          <a:p>
            <a:pPr defTabSz="841248">
              <a:spcAft>
                <a:spcPts val="600"/>
              </a:spcAft>
            </a:pPr>
            <a:r>
              <a:rPr lang="en-US" sz="1656" kern="1200">
                <a:solidFill>
                  <a:schemeClr val="tx1"/>
                </a:solidFill>
                <a:latin typeface="+mn-lt"/>
                <a:ea typeface="+mn-ea"/>
                <a:cs typeface="+mn-cs"/>
              </a:rPr>
              <a:t>For some systems, our rule of thumb about acquiring at the level where we think there will be evidence means that we need to copy only files. </a:t>
            </a:r>
          </a:p>
          <a:p>
            <a:pPr defTabSz="841248">
              <a:spcAft>
                <a:spcPts val="600"/>
              </a:spcAft>
            </a:pPr>
            <a:r>
              <a:rPr lang="en-US" sz="1656" kern="1200">
                <a:solidFill>
                  <a:schemeClr val="tx1"/>
                </a:solidFill>
                <a:latin typeface="+mn-lt"/>
                <a:ea typeface="+mn-ea"/>
                <a:cs typeface="+mn-cs"/>
              </a:rPr>
              <a:t>Consider an intrusion investigation where there is an </a:t>
            </a:r>
            <a:r>
              <a:rPr lang="en-US" sz="1656" i="1" kern="1200">
                <a:solidFill>
                  <a:schemeClr val="tx1"/>
                </a:solidFill>
                <a:latin typeface="+mn-lt"/>
                <a:ea typeface="+mn-ea"/>
                <a:cs typeface="+mn-cs"/>
              </a:rPr>
              <a:t>Intrusion Detection System </a:t>
            </a:r>
            <a:r>
              <a:rPr lang="en-US" sz="1656" kern="1200">
                <a:solidFill>
                  <a:schemeClr val="tx1"/>
                </a:solidFill>
                <a:latin typeface="+mn-lt"/>
                <a:ea typeface="+mn-ea"/>
                <a:cs typeface="+mn-cs"/>
              </a:rPr>
              <a:t>(IDS) that contains log entries corresponding to the attack. </a:t>
            </a:r>
          </a:p>
          <a:p>
            <a:pPr defTabSz="841248">
              <a:spcAft>
                <a:spcPts val="600"/>
              </a:spcAft>
            </a:pPr>
            <a:r>
              <a:rPr lang="en-US" sz="1656" kern="1200">
                <a:solidFill>
                  <a:schemeClr val="tx1"/>
                </a:solidFill>
                <a:latin typeface="+mn-lt"/>
                <a:ea typeface="+mn-ea"/>
                <a:cs typeface="+mn-cs"/>
              </a:rPr>
              <a:t>If we do not think that the IDS was compromised, the only evidence on the system is at the file level, and we can simply copy the necessary logs and take the appropriate preservation steps. </a:t>
            </a:r>
          </a:p>
          <a:p>
            <a:pPr defTabSz="841248">
              <a:spcAft>
                <a:spcPts val="600"/>
              </a:spcAft>
            </a:pPr>
            <a:r>
              <a:rPr lang="en-US" sz="1656" kern="1200">
                <a:solidFill>
                  <a:schemeClr val="tx1"/>
                </a:solidFill>
                <a:latin typeface="+mn-lt"/>
                <a:ea typeface="+mn-ea"/>
                <a:cs typeface="+mn-cs"/>
              </a:rPr>
              <a:t>If we think that the IDS was compromised, we should acquire it at the disk level so that we can analyze all the data.</a:t>
            </a:r>
            <a:endParaRPr lang="en-US"/>
          </a:p>
        </p:txBody>
      </p:sp>
      <p:sp>
        <p:nvSpPr>
          <p:cNvPr id="6" name="Text Placeholder 5">
            <a:extLst>
              <a:ext uri="{FF2B5EF4-FFF2-40B4-BE49-F238E27FC236}">
                <a16:creationId xmlns:a16="http://schemas.microsoft.com/office/drawing/2014/main" id="{E71794A9-044C-400F-8D7A-EDA9A120F1CF}"/>
              </a:ext>
            </a:extLst>
          </p:cNvPr>
          <p:cNvSpPr>
            <a:spLocks/>
          </p:cNvSpPr>
          <p:nvPr/>
        </p:nvSpPr>
        <p:spPr>
          <a:xfrm>
            <a:off x="1206445" y="2731466"/>
            <a:ext cx="3653412" cy="3541318"/>
          </a:xfrm>
          <a:prstGeom prst="rect">
            <a:avLst/>
          </a:prstGeom>
        </p:spPr>
        <p:txBody>
          <a:bodyPr>
            <a:normAutofit/>
          </a:bodyPr>
          <a:lstStyle/>
          <a:p>
            <a:pPr defTabSz="841248">
              <a:spcAft>
                <a:spcPts val="600"/>
              </a:spcAft>
            </a:pPr>
            <a:r>
              <a:rPr lang="en-US" sz="2944" kern="1200">
                <a:solidFill>
                  <a:schemeClr val="tx1"/>
                </a:solidFill>
                <a:latin typeface="+mn-lt"/>
                <a:ea typeface="+mn-ea"/>
                <a:cs typeface="+mn-cs"/>
              </a:rPr>
              <a:t>Data Acquisition Layers (cont.)</a:t>
            </a:r>
            <a:endParaRPr lang="en-US" sz="3200"/>
          </a:p>
        </p:txBody>
      </p:sp>
    </p:spTree>
    <p:extLst>
      <p:ext uri="{BB962C8B-B14F-4D97-AF65-F5344CB8AC3E}">
        <p14:creationId xmlns:p14="http://schemas.microsoft.com/office/powerpoint/2010/main" val="1670526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965EEBE-2EDE-44A9-B589-E1DBDFC95711}"/>
              </a:ext>
            </a:extLst>
          </p:cNvPr>
          <p:cNvSpPr>
            <a:spLocks noGrp="1"/>
          </p:cNvSpPr>
          <p:nvPr>
            <p:ph type="title"/>
          </p:nvPr>
        </p:nvSpPr>
        <p:spPr>
          <a:xfrm>
            <a:off x="841248" y="251312"/>
            <a:ext cx="10506456" cy="1010264"/>
          </a:xfrm>
        </p:spPr>
        <p:txBody>
          <a:bodyPr vert="horz" lIns="91440" tIns="45720" rIns="91440" bIns="45720" rtlCol="0" anchor="ctr">
            <a:normAutofit/>
          </a:bodyPr>
          <a:lstStyle/>
          <a:p>
            <a:r>
              <a:rPr lang="en-US" sz="4400" kern="1200">
                <a:solidFill>
                  <a:schemeClr val="tx1"/>
                </a:solidFill>
                <a:latin typeface="+mj-lt"/>
                <a:ea typeface="+mj-ea"/>
                <a:cs typeface="+mj-cs"/>
              </a:rPr>
              <a:t>Introduction</a:t>
            </a:r>
          </a:p>
        </p:txBody>
      </p:sp>
      <p:sp>
        <p:nvSpPr>
          <p:cNvPr id="13" name="Rectangle 12">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Content Placeholder 4">
            <a:extLst>
              <a:ext uri="{FF2B5EF4-FFF2-40B4-BE49-F238E27FC236}">
                <a16:creationId xmlns:a16="http://schemas.microsoft.com/office/drawing/2014/main" id="{2AEA1E9A-9BB6-415C-9594-40EB5EFF8804}"/>
              </a:ext>
            </a:extLst>
          </p:cNvPr>
          <p:cNvSpPr>
            <a:spLocks/>
          </p:cNvSpPr>
          <p:nvPr/>
        </p:nvSpPr>
        <p:spPr>
          <a:xfrm>
            <a:off x="5232589" y="1650222"/>
            <a:ext cx="5797161" cy="4577490"/>
          </a:xfrm>
          <a:prstGeom prst="rect">
            <a:avLst/>
          </a:prstGeom>
        </p:spPr>
        <p:txBody>
          <a:bodyPr>
            <a:normAutofit/>
          </a:bodyPr>
          <a:lstStyle/>
          <a:p>
            <a:pPr defTabSz="850392">
              <a:spcAft>
                <a:spcPts val="600"/>
              </a:spcAft>
            </a:pPr>
            <a:r>
              <a:rPr lang="en-US" sz="1674" kern="1200">
                <a:solidFill>
                  <a:schemeClr val="tx1"/>
                </a:solidFill>
                <a:latin typeface="+mn-lt"/>
                <a:ea typeface="+mn-ea"/>
                <a:cs typeface="+mn-cs"/>
              </a:rPr>
              <a:t>Acquisition is a crucial part of the investigation process, and the </a:t>
            </a:r>
            <a:r>
              <a:rPr lang="en-US" sz="1674" i="1" kern="1200">
                <a:solidFill>
                  <a:schemeClr val="tx1"/>
                </a:solidFill>
                <a:latin typeface="+mn-lt"/>
                <a:ea typeface="+mn-ea"/>
                <a:cs typeface="+mn-cs"/>
              </a:rPr>
              <a:t>National Institute of Standards and Technology </a:t>
            </a:r>
            <a:r>
              <a:rPr lang="en-US" sz="1674" kern="1200">
                <a:solidFill>
                  <a:schemeClr val="tx1"/>
                </a:solidFill>
                <a:latin typeface="+mn-lt"/>
                <a:ea typeface="+mn-ea"/>
                <a:cs typeface="+mn-cs"/>
              </a:rPr>
              <a:t>(NIST) has conducted tests on common acquisition tools. </a:t>
            </a:r>
          </a:p>
          <a:p>
            <a:pPr defTabSz="850392">
              <a:spcAft>
                <a:spcPts val="600"/>
              </a:spcAft>
            </a:pPr>
            <a:r>
              <a:rPr lang="en-US" sz="1674" kern="1200">
                <a:solidFill>
                  <a:schemeClr val="tx1"/>
                </a:solidFill>
                <a:latin typeface="+mn-lt"/>
                <a:ea typeface="+mn-ea"/>
                <a:cs typeface="+mn-cs"/>
              </a:rPr>
              <a:t>The </a:t>
            </a:r>
            <a:r>
              <a:rPr lang="en-US" sz="1674" i="1" kern="1200">
                <a:solidFill>
                  <a:schemeClr val="tx1"/>
                </a:solidFill>
                <a:latin typeface="+mn-lt"/>
                <a:ea typeface="+mn-ea"/>
                <a:cs typeface="+mn-cs"/>
              </a:rPr>
              <a:t>Computer Forensic Tool Testing </a:t>
            </a:r>
            <a:r>
              <a:rPr lang="en-US" sz="1674" kern="1200">
                <a:solidFill>
                  <a:schemeClr val="tx1"/>
                </a:solidFill>
                <a:latin typeface="+mn-lt"/>
                <a:ea typeface="+mn-ea"/>
                <a:cs typeface="+mn-cs"/>
              </a:rPr>
              <a:t>(CFTT) project at NIST developed requirements and test cases for disk-imaging tools. </a:t>
            </a:r>
          </a:p>
          <a:p>
            <a:pPr defTabSz="850392">
              <a:spcAft>
                <a:spcPts val="600"/>
              </a:spcAft>
            </a:pPr>
            <a:r>
              <a:rPr lang="en-US" sz="1674" kern="1200">
                <a:solidFill>
                  <a:schemeClr val="tx1"/>
                </a:solidFill>
                <a:latin typeface="+mn-lt"/>
                <a:ea typeface="+mn-ea"/>
                <a:cs typeface="+mn-cs"/>
              </a:rPr>
              <a:t>The results and specifications can be found on their Web site (</a:t>
            </a:r>
            <a:r>
              <a:rPr lang="en-US" sz="1674" kern="1200">
                <a:solidFill>
                  <a:schemeClr val="tx1"/>
                </a:solidFill>
                <a:latin typeface="+mn-lt"/>
                <a:ea typeface="+mn-ea"/>
                <a:cs typeface="+mn-cs"/>
                <a:hlinkClick r:id="rId3"/>
              </a:rPr>
              <a:t>http://www.cftt.nist.gov/disk_imaging.htm</a:t>
            </a:r>
            <a:r>
              <a:rPr lang="en-US" sz="1674" kern="1200">
                <a:solidFill>
                  <a:schemeClr val="tx1"/>
                </a:solidFill>
                <a:latin typeface="+mn-lt"/>
                <a:ea typeface="+mn-ea"/>
                <a:cs typeface="+mn-cs"/>
              </a:rPr>
              <a:t>).</a:t>
            </a:r>
          </a:p>
          <a:p>
            <a:pPr defTabSz="850392">
              <a:spcAft>
                <a:spcPts val="600"/>
              </a:spcAft>
            </a:pPr>
            <a:r>
              <a:rPr lang="en-US" sz="1674" kern="1200">
                <a:solidFill>
                  <a:schemeClr val="tx1"/>
                </a:solidFill>
                <a:latin typeface="+mn-lt"/>
                <a:ea typeface="+mn-ea"/>
                <a:cs typeface="+mn-cs"/>
              </a:rPr>
              <a:t>How about Malaysia?</a:t>
            </a:r>
            <a:endParaRPr lang="en-US"/>
          </a:p>
        </p:txBody>
      </p:sp>
      <p:sp>
        <p:nvSpPr>
          <p:cNvPr id="6" name="Text Placeholder 5">
            <a:extLst>
              <a:ext uri="{FF2B5EF4-FFF2-40B4-BE49-F238E27FC236}">
                <a16:creationId xmlns:a16="http://schemas.microsoft.com/office/drawing/2014/main" id="{E71794A9-044C-400F-8D7A-EDA9A120F1CF}"/>
              </a:ext>
            </a:extLst>
          </p:cNvPr>
          <p:cNvSpPr>
            <a:spLocks/>
          </p:cNvSpPr>
          <p:nvPr/>
        </p:nvSpPr>
        <p:spPr>
          <a:xfrm>
            <a:off x="1153106" y="2655182"/>
            <a:ext cx="3693304" cy="3579986"/>
          </a:xfrm>
          <a:prstGeom prst="rect">
            <a:avLst/>
          </a:prstGeom>
        </p:spPr>
        <p:txBody>
          <a:bodyPr>
            <a:normAutofit/>
          </a:bodyPr>
          <a:lstStyle/>
          <a:p>
            <a:pPr defTabSz="850392">
              <a:spcAft>
                <a:spcPts val="600"/>
              </a:spcAft>
            </a:pPr>
            <a:r>
              <a:rPr lang="en-US" sz="2976" kern="1200">
                <a:solidFill>
                  <a:schemeClr val="tx1"/>
                </a:solidFill>
                <a:latin typeface="+mn-lt"/>
                <a:ea typeface="+mn-ea"/>
                <a:cs typeface="+mn-cs"/>
              </a:rPr>
              <a:t>Acquisition Tool Testing</a:t>
            </a:r>
            <a:endParaRPr lang="en-US" sz="3200"/>
          </a:p>
        </p:txBody>
      </p:sp>
    </p:spTree>
    <p:extLst>
      <p:ext uri="{BB962C8B-B14F-4D97-AF65-F5344CB8AC3E}">
        <p14:creationId xmlns:p14="http://schemas.microsoft.com/office/powerpoint/2010/main" val="3592929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F335A-07CD-1041-75A0-EA52FC3CB4AD}"/>
              </a:ext>
            </a:extLst>
          </p:cNvPr>
          <p:cNvSpPr>
            <a:spLocks noGrp="1"/>
          </p:cNvSpPr>
          <p:nvPr>
            <p:ph type="title"/>
          </p:nvPr>
        </p:nvSpPr>
        <p:spPr>
          <a:xfrm>
            <a:off x="836612" y="433135"/>
            <a:ext cx="6523538" cy="982579"/>
          </a:xfrm>
        </p:spPr>
        <p:txBody>
          <a:bodyPr/>
          <a:lstStyle/>
          <a:p>
            <a:r>
              <a:rPr lang="en-MY" dirty="0"/>
              <a:t>ISO/IEC 17025 + forensic extensions</a:t>
            </a:r>
          </a:p>
        </p:txBody>
      </p:sp>
      <p:sp>
        <p:nvSpPr>
          <p:cNvPr id="3" name="Content Placeholder 2">
            <a:extLst>
              <a:ext uri="{FF2B5EF4-FFF2-40B4-BE49-F238E27FC236}">
                <a16:creationId xmlns:a16="http://schemas.microsoft.com/office/drawing/2014/main" id="{361DD130-6337-022E-DA46-023306DC58D9}"/>
              </a:ext>
            </a:extLst>
          </p:cNvPr>
          <p:cNvSpPr>
            <a:spLocks noGrp="1"/>
          </p:cNvSpPr>
          <p:nvPr>
            <p:ph idx="1"/>
          </p:nvPr>
        </p:nvSpPr>
        <p:spPr>
          <a:xfrm>
            <a:off x="838200" y="1551240"/>
            <a:ext cx="10515600" cy="4873625"/>
          </a:xfrm>
        </p:spPr>
        <p:txBody>
          <a:bodyPr>
            <a:normAutofit fontScale="92500"/>
          </a:bodyPr>
          <a:lstStyle/>
          <a:p>
            <a:r>
              <a:rPr lang="en-US" dirty="0"/>
              <a:t>forensic labs are held to recognized quality standards through the national accreditation scheme (SAMM)</a:t>
            </a:r>
          </a:p>
          <a:p>
            <a:r>
              <a:rPr lang="en-US" dirty="0"/>
              <a:t>Legal and procedural framework demanding that labs are competent</a:t>
            </a:r>
          </a:p>
          <a:p>
            <a:r>
              <a:rPr lang="en-US" dirty="0"/>
              <a:t>Malaysia doesn’t have a widely advertised, dedicated forensic-tool testing authority.</a:t>
            </a:r>
          </a:p>
          <a:p>
            <a:pPr lvl="1"/>
            <a:r>
              <a:rPr lang="en-US" dirty="0"/>
              <a:t>What advantages would Malaysia gain if it had a national forensic tool‐testing body?</a:t>
            </a:r>
          </a:p>
          <a:p>
            <a:pPr lvl="1"/>
            <a:r>
              <a:rPr lang="en-US" dirty="0"/>
              <a:t>What risks arise if a forensic lab uses a tool without external validation?</a:t>
            </a:r>
          </a:p>
          <a:p>
            <a:pPr lvl="1"/>
            <a:r>
              <a:rPr lang="en-US" dirty="0"/>
              <a:t>How should an analyst in Malaysia validate a new open-source forensic tool to ensure it is court-admissible here?</a:t>
            </a:r>
            <a:endParaRPr lang="en-MY" dirty="0"/>
          </a:p>
        </p:txBody>
      </p:sp>
    </p:spTree>
    <p:extLst>
      <p:ext uri="{BB962C8B-B14F-4D97-AF65-F5344CB8AC3E}">
        <p14:creationId xmlns:p14="http://schemas.microsoft.com/office/powerpoint/2010/main" val="4265222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8BBE1-693A-3BA0-FF03-193B3582DF9F}"/>
              </a:ext>
            </a:extLst>
          </p:cNvPr>
          <p:cNvSpPr>
            <a:spLocks noGrp="1"/>
          </p:cNvSpPr>
          <p:nvPr>
            <p:ph type="title"/>
          </p:nvPr>
        </p:nvSpPr>
        <p:spPr>
          <a:xfrm>
            <a:off x="839788" y="457200"/>
            <a:ext cx="9202570" cy="531812"/>
          </a:xfrm>
        </p:spPr>
        <p:txBody>
          <a:bodyPr/>
          <a:lstStyle/>
          <a:p>
            <a:r>
              <a:rPr lang="en-US" dirty="0"/>
              <a:t>Examples of What a Forensic Lab Must Have</a:t>
            </a:r>
            <a:endParaRPr lang="en-MY" dirty="0"/>
          </a:p>
        </p:txBody>
      </p:sp>
      <p:graphicFrame>
        <p:nvGraphicFramePr>
          <p:cNvPr id="6" name="Table 5">
            <a:extLst>
              <a:ext uri="{FF2B5EF4-FFF2-40B4-BE49-F238E27FC236}">
                <a16:creationId xmlns:a16="http://schemas.microsoft.com/office/drawing/2014/main" id="{92FC2EA6-B0A7-EFA4-4CC4-7716A510A89D}"/>
              </a:ext>
            </a:extLst>
          </p:cNvPr>
          <p:cNvGraphicFramePr>
            <a:graphicFrameLocks noGrp="1"/>
          </p:cNvGraphicFramePr>
          <p:nvPr>
            <p:extLst>
              <p:ext uri="{D42A27DB-BD31-4B8C-83A1-F6EECF244321}">
                <p14:modId xmlns:p14="http://schemas.microsoft.com/office/powerpoint/2010/main" val="339927822"/>
              </p:ext>
            </p:extLst>
          </p:nvPr>
        </p:nvGraphicFramePr>
        <p:xfrm>
          <a:off x="838200" y="1366362"/>
          <a:ext cx="10515600" cy="4206240"/>
        </p:xfrm>
        <a:graphic>
          <a:graphicData uri="http://schemas.openxmlformats.org/drawingml/2006/table">
            <a:tbl>
              <a:tblPr/>
              <a:tblGrid>
                <a:gridCol w="3505200">
                  <a:extLst>
                    <a:ext uri="{9D8B030D-6E8A-4147-A177-3AD203B41FA5}">
                      <a16:colId xmlns:a16="http://schemas.microsoft.com/office/drawing/2014/main" val="4284195548"/>
                    </a:ext>
                  </a:extLst>
                </a:gridCol>
                <a:gridCol w="3505200">
                  <a:extLst>
                    <a:ext uri="{9D8B030D-6E8A-4147-A177-3AD203B41FA5}">
                      <a16:colId xmlns:a16="http://schemas.microsoft.com/office/drawing/2014/main" val="518298949"/>
                    </a:ext>
                  </a:extLst>
                </a:gridCol>
                <a:gridCol w="3505200">
                  <a:extLst>
                    <a:ext uri="{9D8B030D-6E8A-4147-A177-3AD203B41FA5}">
                      <a16:colId xmlns:a16="http://schemas.microsoft.com/office/drawing/2014/main" val="2622006672"/>
                    </a:ext>
                  </a:extLst>
                </a:gridCol>
              </a:tblGrid>
              <a:tr h="0">
                <a:tc>
                  <a:txBody>
                    <a:bodyPr/>
                    <a:lstStyle/>
                    <a:p>
                      <a:pPr>
                        <a:buNone/>
                      </a:pPr>
                      <a:r>
                        <a:rPr lang="en-MY" b="1"/>
                        <a:t>Aspect</a:t>
                      </a:r>
                      <a:endParaRPr lang="en-MY"/>
                    </a:p>
                  </a:txBody>
                  <a:tcPr anchor="ctr">
                    <a:lnL>
                      <a:noFill/>
                    </a:lnL>
                    <a:lnR>
                      <a:noFill/>
                    </a:lnR>
                    <a:lnT>
                      <a:noFill/>
                    </a:lnT>
                    <a:lnB>
                      <a:noFill/>
                    </a:lnB>
                    <a:noFill/>
                  </a:tcPr>
                </a:tc>
                <a:tc>
                  <a:txBody>
                    <a:bodyPr/>
                    <a:lstStyle/>
                    <a:p>
                      <a:pPr>
                        <a:buNone/>
                      </a:pPr>
                      <a:r>
                        <a:rPr lang="en-MY" b="1"/>
                        <a:t>Requirement / Practice</a:t>
                      </a:r>
                      <a:endParaRPr lang="en-MY"/>
                    </a:p>
                  </a:txBody>
                  <a:tcPr anchor="ctr">
                    <a:lnL>
                      <a:noFill/>
                    </a:lnL>
                    <a:lnR>
                      <a:noFill/>
                    </a:lnR>
                    <a:lnT>
                      <a:noFill/>
                    </a:lnT>
                    <a:lnB>
                      <a:noFill/>
                    </a:lnB>
                    <a:noFill/>
                  </a:tcPr>
                </a:tc>
                <a:tc>
                  <a:txBody>
                    <a:bodyPr/>
                    <a:lstStyle/>
                    <a:p>
                      <a:pPr>
                        <a:buNone/>
                      </a:pPr>
                      <a:r>
                        <a:rPr lang="en-MY" b="1"/>
                        <a:t>Example</a:t>
                      </a:r>
                      <a:endParaRPr lang="en-MY"/>
                    </a:p>
                  </a:txBody>
                  <a:tcPr anchor="ctr">
                    <a:lnL>
                      <a:noFill/>
                    </a:lnL>
                    <a:lnR>
                      <a:noFill/>
                    </a:lnR>
                    <a:lnT>
                      <a:noFill/>
                    </a:lnT>
                    <a:lnB>
                      <a:noFill/>
                    </a:lnB>
                    <a:noFill/>
                  </a:tcPr>
                </a:tc>
                <a:extLst>
                  <a:ext uri="{0D108BD9-81ED-4DB2-BD59-A6C34878D82A}">
                    <a16:rowId xmlns:a16="http://schemas.microsoft.com/office/drawing/2014/main" val="3602242394"/>
                  </a:ext>
                </a:extLst>
              </a:tr>
              <a:tr h="0">
                <a:tc>
                  <a:txBody>
                    <a:bodyPr/>
                    <a:lstStyle/>
                    <a:p>
                      <a:pPr>
                        <a:buNone/>
                      </a:pPr>
                      <a:r>
                        <a:rPr lang="en-MY" b="1"/>
                        <a:t>Tool Validation</a:t>
                      </a:r>
                      <a:endParaRPr lang="en-MY"/>
                    </a:p>
                  </a:txBody>
                  <a:tcPr anchor="ctr">
                    <a:lnL>
                      <a:noFill/>
                    </a:lnL>
                    <a:lnR>
                      <a:noFill/>
                    </a:lnR>
                    <a:lnT>
                      <a:noFill/>
                    </a:lnT>
                    <a:lnB>
                      <a:noFill/>
                    </a:lnB>
                    <a:noFill/>
                  </a:tcPr>
                </a:tc>
                <a:tc>
                  <a:txBody>
                    <a:bodyPr/>
                    <a:lstStyle/>
                    <a:p>
                      <a:pPr>
                        <a:buNone/>
                      </a:pPr>
                      <a:r>
                        <a:rPr lang="en-US"/>
                        <a:t>Tools must be tested for accuracy before case use.</a:t>
                      </a:r>
                    </a:p>
                  </a:txBody>
                  <a:tcPr anchor="ctr">
                    <a:lnL>
                      <a:noFill/>
                    </a:lnL>
                    <a:lnR>
                      <a:noFill/>
                    </a:lnR>
                    <a:lnT>
                      <a:noFill/>
                    </a:lnT>
                    <a:lnB>
                      <a:noFill/>
                    </a:lnB>
                    <a:noFill/>
                  </a:tcPr>
                </a:tc>
                <a:tc>
                  <a:txBody>
                    <a:bodyPr/>
                    <a:lstStyle/>
                    <a:p>
                      <a:pPr>
                        <a:buNone/>
                      </a:pPr>
                      <a:r>
                        <a:rPr lang="en-US"/>
                        <a:t>Verify FTK/EnCase produces identical image (hash match).</a:t>
                      </a:r>
                    </a:p>
                  </a:txBody>
                  <a:tcPr anchor="ctr">
                    <a:lnL>
                      <a:noFill/>
                    </a:lnL>
                    <a:lnR>
                      <a:noFill/>
                    </a:lnR>
                    <a:lnT>
                      <a:noFill/>
                    </a:lnT>
                    <a:lnB>
                      <a:noFill/>
                    </a:lnB>
                    <a:noFill/>
                  </a:tcPr>
                </a:tc>
                <a:extLst>
                  <a:ext uri="{0D108BD9-81ED-4DB2-BD59-A6C34878D82A}">
                    <a16:rowId xmlns:a16="http://schemas.microsoft.com/office/drawing/2014/main" val="3022805059"/>
                  </a:ext>
                </a:extLst>
              </a:tr>
              <a:tr h="0">
                <a:tc>
                  <a:txBody>
                    <a:bodyPr/>
                    <a:lstStyle/>
                    <a:p>
                      <a:pPr>
                        <a:buNone/>
                      </a:pPr>
                      <a:r>
                        <a:rPr lang="en-MY" b="1"/>
                        <a:t>Method Validation</a:t>
                      </a:r>
                      <a:endParaRPr lang="en-MY"/>
                    </a:p>
                  </a:txBody>
                  <a:tcPr anchor="ctr">
                    <a:lnL>
                      <a:noFill/>
                    </a:lnL>
                    <a:lnR>
                      <a:noFill/>
                    </a:lnR>
                    <a:lnT>
                      <a:noFill/>
                    </a:lnT>
                    <a:lnB>
                      <a:noFill/>
                    </a:lnB>
                    <a:noFill/>
                  </a:tcPr>
                </a:tc>
                <a:tc>
                  <a:txBody>
                    <a:bodyPr/>
                    <a:lstStyle/>
                    <a:p>
                      <a:pPr>
                        <a:buNone/>
                      </a:pPr>
                      <a:r>
                        <a:rPr lang="en-US"/>
                        <a:t>Procedures must be proven reliable.</a:t>
                      </a:r>
                    </a:p>
                  </a:txBody>
                  <a:tcPr anchor="ctr">
                    <a:lnL>
                      <a:noFill/>
                    </a:lnL>
                    <a:lnR>
                      <a:noFill/>
                    </a:lnR>
                    <a:lnT>
                      <a:noFill/>
                    </a:lnT>
                    <a:lnB>
                      <a:noFill/>
                    </a:lnB>
                    <a:noFill/>
                  </a:tcPr>
                </a:tc>
                <a:tc>
                  <a:txBody>
                    <a:bodyPr/>
                    <a:lstStyle/>
                    <a:p>
                      <a:pPr>
                        <a:buNone/>
                      </a:pPr>
                      <a:r>
                        <a:rPr lang="en-US"/>
                        <a:t>Document imaging steps using write blockers and checksum.</a:t>
                      </a:r>
                    </a:p>
                  </a:txBody>
                  <a:tcPr anchor="ctr">
                    <a:lnL>
                      <a:noFill/>
                    </a:lnL>
                    <a:lnR>
                      <a:noFill/>
                    </a:lnR>
                    <a:lnT>
                      <a:noFill/>
                    </a:lnT>
                    <a:lnB>
                      <a:noFill/>
                    </a:lnB>
                    <a:noFill/>
                  </a:tcPr>
                </a:tc>
                <a:extLst>
                  <a:ext uri="{0D108BD9-81ED-4DB2-BD59-A6C34878D82A}">
                    <a16:rowId xmlns:a16="http://schemas.microsoft.com/office/drawing/2014/main" val="2849729806"/>
                  </a:ext>
                </a:extLst>
              </a:tr>
              <a:tr h="0">
                <a:tc>
                  <a:txBody>
                    <a:bodyPr/>
                    <a:lstStyle/>
                    <a:p>
                      <a:pPr>
                        <a:buNone/>
                      </a:pPr>
                      <a:r>
                        <a:rPr lang="en-MY" b="1"/>
                        <a:t>Chain of Custody</a:t>
                      </a:r>
                      <a:endParaRPr lang="en-MY"/>
                    </a:p>
                  </a:txBody>
                  <a:tcPr anchor="ctr">
                    <a:lnL>
                      <a:noFill/>
                    </a:lnL>
                    <a:lnR>
                      <a:noFill/>
                    </a:lnR>
                    <a:lnT>
                      <a:noFill/>
                    </a:lnT>
                    <a:lnB>
                      <a:noFill/>
                    </a:lnB>
                    <a:noFill/>
                  </a:tcPr>
                </a:tc>
                <a:tc>
                  <a:txBody>
                    <a:bodyPr/>
                    <a:lstStyle/>
                    <a:p>
                      <a:pPr>
                        <a:buNone/>
                      </a:pPr>
                      <a:r>
                        <a:rPr lang="en-US"/>
                        <a:t>Evidence must be traceable at all times.</a:t>
                      </a:r>
                    </a:p>
                  </a:txBody>
                  <a:tcPr anchor="ctr">
                    <a:lnL>
                      <a:noFill/>
                    </a:lnL>
                    <a:lnR>
                      <a:noFill/>
                    </a:lnR>
                    <a:lnT>
                      <a:noFill/>
                    </a:lnT>
                    <a:lnB>
                      <a:noFill/>
                    </a:lnB>
                    <a:noFill/>
                  </a:tcPr>
                </a:tc>
                <a:tc>
                  <a:txBody>
                    <a:bodyPr/>
                    <a:lstStyle/>
                    <a:p>
                      <a:pPr>
                        <a:buNone/>
                      </a:pPr>
                      <a:r>
                        <a:rPr lang="en-MY"/>
                        <a:t>Signed log for every evidence handover.</a:t>
                      </a:r>
                    </a:p>
                  </a:txBody>
                  <a:tcPr anchor="ctr">
                    <a:lnL>
                      <a:noFill/>
                    </a:lnL>
                    <a:lnR>
                      <a:noFill/>
                    </a:lnR>
                    <a:lnT>
                      <a:noFill/>
                    </a:lnT>
                    <a:lnB>
                      <a:noFill/>
                    </a:lnB>
                    <a:noFill/>
                  </a:tcPr>
                </a:tc>
                <a:extLst>
                  <a:ext uri="{0D108BD9-81ED-4DB2-BD59-A6C34878D82A}">
                    <a16:rowId xmlns:a16="http://schemas.microsoft.com/office/drawing/2014/main" val="1453432817"/>
                  </a:ext>
                </a:extLst>
              </a:tr>
              <a:tr h="0">
                <a:tc>
                  <a:txBody>
                    <a:bodyPr/>
                    <a:lstStyle/>
                    <a:p>
                      <a:pPr>
                        <a:buNone/>
                      </a:pPr>
                      <a:r>
                        <a:rPr lang="en-MY" b="1"/>
                        <a:t>Analyst Competency</a:t>
                      </a:r>
                      <a:endParaRPr lang="en-MY"/>
                    </a:p>
                  </a:txBody>
                  <a:tcPr anchor="ctr">
                    <a:lnL>
                      <a:noFill/>
                    </a:lnL>
                    <a:lnR>
                      <a:noFill/>
                    </a:lnR>
                    <a:lnT>
                      <a:noFill/>
                    </a:lnT>
                    <a:lnB>
                      <a:noFill/>
                    </a:lnB>
                    <a:noFill/>
                  </a:tcPr>
                </a:tc>
                <a:tc>
                  <a:txBody>
                    <a:bodyPr/>
                    <a:lstStyle/>
                    <a:p>
                      <a:pPr>
                        <a:buNone/>
                      </a:pPr>
                      <a:r>
                        <a:rPr lang="en-US"/>
                        <a:t>Staff must be trained and tested.</a:t>
                      </a:r>
                    </a:p>
                  </a:txBody>
                  <a:tcPr anchor="ctr">
                    <a:lnL>
                      <a:noFill/>
                    </a:lnL>
                    <a:lnR>
                      <a:noFill/>
                    </a:lnR>
                    <a:lnT>
                      <a:noFill/>
                    </a:lnT>
                    <a:lnB>
                      <a:noFill/>
                    </a:lnB>
                    <a:noFill/>
                  </a:tcPr>
                </a:tc>
                <a:tc>
                  <a:txBody>
                    <a:bodyPr/>
                    <a:lstStyle/>
                    <a:p>
                      <a:pPr>
                        <a:buNone/>
                      </a:pPr>
                      <a:r>
                        <a:rPr lang="en-US"/>
                        <a:t>Annual proficiency tests and tool training.</a:t>
                      </a:r>
                    </a:p>
                  </a:txBody>
                  <a:tcPr anchor="ctr">
                    <a:lnL>
                      <a:noFill/>
                    </a:lnL>
                    <a:lnR>
                      <a:noFill/>
                    </a:lnR>
                    <a:lnT>
                      <a:noFill/>
                    </a:lnT>
                    <a:lnB>
                      <a:noFill/>
                    </a:lnB>
                    <a:noFill/>
                  </a:tcPr>
                </a:tc>
                <a:extLst>
                  <a:ext uri="{0D108BD9-81ED-4DB2-BD59-A6C34878D82A}">
                    <a16:rowId xmlns:a16="http://schemas.microsoft.com/office/drawing/2014/main" val="3121542067"/>
                  </a:ext>
                </a:extLst>
              </a:tr>
              <a:tr h="0">
                <a:tc>
                  <a:txBody>
                    <a:bodyPr/>
                    <a:lstStyle/>
                    <a:p>
                      <a:pPr>
                        <a:buNone/>
                      </a:pPr>
                      <a:r>
                        <a:rPr lang="en-MY" b="1"/>
                        <a:t>Quality Management</a:t>
                      </a:r>
                      <a:endParaRPr lang="en-MY"/>
                    </a:p>
                  </a:txBody>
                  <a:tcPr anchor="ctr">
                    <a:lnL>
                      <a:noFill/>
                    </a:lnL>
                    <a:lnR>
                      <a:noFill/>
                    </a:lnR>
                    <a:lnT>
                      <a:noFill/>
                    </a:lnT>
                    <a:lnB>
                      <a:noFill/>
                    </a:lnB>
                    <a:noFill/>
                  </a:tcPr>
                </a:tc>
                <a:tc>
                  <a:txBody>
                    <a:bodyPr/>
                    <a:lstStyle/>
                    <a:p>
                      <a:pPr>
                        <a:buNone/>
                      </a:pPr>
                      <a:r>
                        <a:rPr lang="en-US"/>
                        <a:t>Maintain SOPs and quality reviews.</a:t>
                      </a:r>
                    </a:p>
                  </a:txBody>
                  <a:tcPr anchor="ctr">
                    <a:lnL>
                      <a:noFill/>
                    </a:lnL>
                    <a:lnR>
                      <a:noFill/>
                    </a:lnR>
                    <a:lnT>
                      <a:noFill/>
                    </a:lnT>
                    <a:lnB>
                      <a:noFill/>
                    </a:lnB>
                    <a:noFill/>
                  </a:tcPr>
                </a:tc>
                <a:tc>
                  <a:txBody>
                    <a:bodyPr/>
                    <a:lstStyle/>
                    <a:p>
                      <a:pPr>
                        <a:buNone/>
                      </a:pPr>
                      <a:r>
                        <a:rPr lang="en-US"/>
                        <a:t>Quality Manual describing all lab procedures.</a:t>
                      </a:r>
                    </a:p>
                  </a:txBody>
                  <a:tcPr anchor="ctr">
                    <a:lnL>
                      <a:noFill/>
                    </a:lnL>
                    <a:lnR>
                      <a:noFill/>
                    </a:lnR>
                    <a:lnT>
                      <a:noFill/>
                    </a:lnT>
                    <a:lnB>
                      <a:noFill/>
                    </a:lnB>
                    <a:noFill/>
                  </a:tcPr>
                </a:tc>
                <a:extLst>
                  <a:ext uri="{0D108BD9-81ED-4DB2-BD59-A6C34878D82A}">
                    <a16:rowId xmlns:a16="http://schemas.microsoft.com/office/drawing/2014/main" val="1458230067"/>
                  </a:ext>
                </a:extLst>
              </a:tr>
              <a:tr h="0">
                <a:tc>
                  <a:txBody>
                    <a:bodyPr/>
                    <a:lstStyle/>
                    <a:p>
                      <a:pPr>
                        <a:buNone/>
                      </a:pPr>
                      <a:r>
                        <a:rPr lang="en-MY" b="1"/>
                        <a:t>Secure Environment</a:t>
                      </a:r>
                      <a:endParaRPr lang="en-MY"/>
                    </a:p>
                  </a:txBody>
                  <a:tcPr anchor="ctr">
                    <a:lnL>
                      <a:noFill/>
                    </a:lnL>
                    <a:lnR>
                      <a:noFill/>
                    </a:lnR>
                    <a:lnT>
                      <a:noFill/>
                    </a:lnT>
                    <a:lnB>
                      <a:noFill/>
                    </a:lnB>
                    <a:noFill/>
                  </a:tcPr>
                </a:tc>
                <a:tc>
                  <a:txBody>
                    <a:bodyPr/>
                    <a:lstStyle/>
                    <a:p>
                      <a:pPr>
                        <a:buNone/>
                      </a:pPr>
                      <a:r>
                        <a:rPr lang="en-US"/>
                        <a:t>Protect evidence and system integrity.</a:t>
                      </a:r>
                    </a:p>
                  </a:txBody>
                  <a:tcPr anchor="ctr">
                    <a:lnL>
                      <a:noFill/>
                    </a:lnL>
                    <a:lnR>
                      <a:noFill/>
                    </a:lnR>
                    <a:lnT>
                      <a:noFill/>
                    </a:lnT>
                    <a:lnB>
                      <a:noFill/>
                    </a:lnB>
                    <a:noFill/>
                  </a:tcPr>
                </a:tc>
                <a:tc>
                  <a:txBody>
                    <a:bodyPr/>
                    <a:lstStyle/>
                    <a:p>
                      <a:pPr>
                        <a:buNone/>
                      </a:pPr>
                      <a:r>
                        <a:rPr lang="en-US" dirty="0"/>
                        <a:t>Isolated lab, restricted access, no internet.</a:t>
                      </a:r>
                    </a:p>
                  </a:txBody>
                  <a:tcPr anchor="ctr">
                    <a:lnL>
                      <a:noFill/>
                    </a:lnL>
                    <a:lnR>
                      <a:noFill/>
                    </a:lnR>
                    <a:lnT>
                      <a:noFill/>
                    </a:lnT>
                    <a:lnB>
                      <a:noFill/>
                    </a:lnB>
                    <a:noFill/>
                  </a:tcPr>
                </a:tc>
                <a:extLst>
                  <a:ext uri="{0D108BD9-81ED-4DB2-BD59-A6C34878D82A}">
                    <a16:rowId xmlns:a16="http://schemas.microsoft.com/office/drawing/2014/main" val="3457102860"/>
                  </a:ext>
                </a:extLst>
              </a:tr>
            </a:tbl>
          </a:graphicData>
        </a:graphic>
      </p:graphicFrame>
    </p:spTree>
    <p:extLst>
      <p:ext uri="{BB962C8B-B14F-4D97-AF65-F5344CB8AC3E}">
        <p14:creationId xmlns:p14="http://schemas.microsoft.com/office/powerpoint/2010/main" val="2654018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53CCC5-D6B2-4917-8CDD-13DC595CB102}"/>
              </a:ext>
            </a:extLst>
          </p:cNvPr>
          <p:cNvSpPr>
            <a:spLocks noGrp="1"/>
          </p:cNvSpPr>
          <p:nvPr>
            <p:ph type="title"/>
          </p:nvPr>
        </p:nvSpPr>
        <p:spPr>
          <a:xfrm>
            <a:off x="841248" y="256032"/>
            <a:ext cx="10506456" cy="1014984"/>
          </a:xfrm>
        </p:spPr>
        <p:txBody>
          <a:bodyPr anchor="b">
            <a:normAutofit/>
          </a:bodyPr>
          <a:lstStyle/>
          <a:p>
            <a:r>
              <a:rPr lang="en-US" dirty="0"/>
              <a:t>Reading the Source Data</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34E2FF26-C290-8C81-ADDC-2F3B02805749}"/>
              </a:ext>
            </a:extLst>
          </p:cNvPr>
          <p:cNvGraphicFramePr>
            <a:graphicFrameLocks noGrp="1"/>
          </p:cNvGraphicFramePr>
          <p:nvPr>
            <p:ph idx="1"/>
            <p:extLst>
              <p:ext uri="{D42A27DB-BD31-4B8C-83A1-F6EECF244321}">
                <p14:modId xmlns:p14="http://schemas.microsoft.com/office/powerpoint/2010/main" val="3889701133"/>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18590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EC3376-883F-4D8F-B3BD-5CC28B2F34C5}"/>
              </a:ext>
            </a:extLst>
          </p:cNvPr>
          <p:cNvSpPr>
            <a:spLocks noGrp="1"/>
          </p:cNvSpPr>
          <p:nvPr>
            <p:ph type="title"/>
          </p:nvPr>
        </p:nvSpPr>
        <p:spPr>
          <a:xfrm>
            <a:off x="841248" y="334644"/>
            <a:ext cx="10509504" cy="1076914"/>
          </a:xfrm>
        </p:spPr>
        <p:txBody>
          <a:bodyPr vert="horz" lIns="91440" tIns="45720" rIns="91440" bIns="45720" rtlCol="0" anchor="ctr">
            <a:normAutofit/>
          </a:bodyPr>
          <a:lstStyle/>
          <a:p>
            <a:r>
              <a:rPr lang="en-US" sz="4000" kern="1200">
                <a:solidFill>
                  <a:schemeClr val="tx1"/>
                </a:solidFill>
                <a:latin typeface="+mj-lt"/>
                <a:ea typeface="+mj-ea"/>
                <a:cs typeface="+mj-cs"/>
              </a:rPr>
              <a:t>Reading the Source Data</a:t>
            </a:r>
          </a:p>
        </p:txBody>
      </p:sp>
      <p:sp>
        <p:nvSpPr>
          <p:cNvPr id="12" name="Rectangle 11">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999B9B5-36E0-4844-BB4E-669DA9E20E9B}"/>
              </a:ext>
            </a:extLst>
          </p:cNvPr>
          <p:cNvSpPr>
            <a:spLocks/>
          </p:cNvSpPr>
          <p:nvPr/>
        </p:nvSpPr>
        <p:spPr>
          <a:xfrm>
            <a:off x="5241866" y="1737360"/>
            <a:ext cx="5734545" cy="4528049"/>
          </a:xfrm>
          <a:prstGeom prst="rect">
            <a:avLst/>
          </a:prstGeom>
        </p:spPr>
        <p:txBody>
          <a:bodyPr>
            <a:normAutofit/>
          </a:bodyPr>
          <a:lstStyle/>
          <a:p>
            <a:pPr defTabSz="841248">
              <a:spcAft>
                <a:spcPts val="600"/>
              </a:spcAft>
            </a:pPr>
            <a:r>
              <a:rPr lang="en-US" sz="1656" kern="1200">
                <a:solidFill>
                  <a:schemeClr val="tx1"/>
                </a:solidFill>
                <a:latin typeface="+mn-lt"/>
                <a:ea typeface="+mn-ea"/>
                <a:cs typeface="+mn-cs"/>
              </a:rPr>
              <a:t>There are two methods in which the data on a disk can be accessed.</a:t>
            </a:r>
          </a:p>
          <a:p>
            <a:pPr marL="420624" lvl="1" defTabSz="841248">
              <a:spcAft>
                <a:spcPts val="600"/>
              </a:spcAft>
            </a:pPr>
            <a:r>
              <a:rPr lang="en-US" sz="1656" kern="1200">
                <a:solidFill>
                  <a:schemeClr val="tx1"/>
                </a:solidFill>
                <a:latin typeface="+mn-lt"/>
                <a:ea typeface="+mn-ea"/>
                <a:cs typeface="+mn-cs"/>
              </a:rPr>
              <a:t>the operating system or acquisition software accesses the hard disk directly - requires the software to know the hardware details</a:t>
            </a:r>
          </a:p>
          <a:p>
            <a:pPr marL="420624" lvl="1" defTabSz="841248">
              <a:spcAft>
                <a:spcPts val="600"/>
              </a:spcAft>
            </a:pPr>
            <a:r>
              <a:rPr lang="en-US" sz="1656" kern="1200">
                <a:solidFill>
                  <a:schemeClr val="tx1"/>
                </a:solidFill>
                <a:latin typeface="+mn-lt"/>
                <a:ea typeface="+mn-ea"/>
                <a:cs typeface="+mn-cs"/>
              </a:rPr>
              <a:t>the operating system or acquisition software accesses the hard disk through the </a:t>
            </a:r>
            <a:r>
              <a:rPr lang="en-US" sz="1656" i="1" kern="1200">
                <a:solidFill>
                  <a:schemeClr val="tx1"/>
                </a:solidFill>
                <a:latin typeface="+mn-lt"/>
                <a:ea typeface="+mn-ea"/>
                <a:cs typeface="+mn-cs"/>
              </a:rPr>
              <a:t>Basic </a:t>
            </a:r>
            <a:r>
              <a:rPr lang="en-US" sz="1656" i="1" kern="1200" err="1">
                <a:solidFill>
                  <a:schemeClr val="tx1"/>
                </a:solidFill>
                <a:latin typeface="+mn-lt"/>
                <a:ea typeface="+mn-ea"/>
                <a:cs typeface="+mn-cs"/>
              </a:rPr>
              <a:t>Input/Output</a:t>
            </a:r>
            <a:r>
              <a:rPr lang="en-US" sz="1656" i="1" kern="1200">
                <a:solidFill>
                  <a:schemeClr val="tx1"/>
                </a:solidFill>
                <a:latin typeface="+mn-lt"/>
                <a:ea typeface="+mn-ea"/>
                <a:cs typeface="+mn-cs"/>
              </a:rPr>
              <a:t> System </a:t>
            </a:r>
            <a:r>
              <a:rPr lang="en-US" sz="1656" kern="1200">
                <a:solidFill>
                  <a:schemeClr val="tx1"/>
                </a:solidFill>
                <a:latin typeface="+mn-lt"/>
                <a:ea typeface="+mn-ea"/>
                <a:cs typeface="+mn-cs"/>
              </a:rPr>
              <a:t>(BIOS) - should know all the hardware details</a:t>
            </a:r>
          </a:p>
          <a:p>
            <a:pPr defTabSz="841248">
              <a:spcAft>
                <a:spcPts val="600"/>
              </a:spcAft>
            </a:pPr>
            <a:endParaRPr lang="en-US" sz="1656" kern="1200">
              <a:solidFill>
                <a:schemeClr val="tx1"/>
              </a:solidFill>
              <a:latin typeface="+mn-lt"/>
              <a:ea typeface="+mn-ea"/>
              <a:cs typeface="+mn-cs"/>
            </a:endParaRPr>
          </a:p>
          <a:p>
            <a:pPr marL="420624" lvl="1" defTabSz="841248">
              <a:spcAft>
                <a:spcPts val="600"/>
              </a:spcAft>
            </a:pPr>
            <a:endParaRPr lang="en-US" sz="1656" kern="1200">
              <a:solidFill>
                <a:schemeClr val="tx1"/>
              </a:solidFill>
              <a:latin typeface="+mn-lt"/>
              <a:ea typeface="+mn-ea"/>
              <a:cs typeface="+mn-cs"/>
            </a:endParaRPr>
          </a:p>
          <a:p>
            <a:pPr>
              <a:spcAft>
                <a:spcPts val="600"/>
              </a:spcAft>
            </a:pPr>
            <a:endParaRPr lang="en-US"/>
          </a:p>
        </p:txBody>
      </p:sp>
      <p:sp>
        <p:nvSpPr>
          <p:cNvPr id="4" name="Text Placeholder 3">
            <a:extLst>
              <a:ext uri="{FF2B5EF4-FFF2-40B4-BE49-F238E27FC236}">
                <a16:creationId xmlns:a16="http://schemas.microsoft.com/office/drawing/2014/main" id="{74C5B399-E950-4F14-81BD-B1F96D69BFB3}"/>
              </a:ext>
            </a:extLst>
          </p:cNvPr>
          <p:cNvSpPr>
            <a:spLocks/>
          </p:cNvSpPr>
          <p:nvPr/>
        </p:nvSpPr>
        <p:spPr>
          <a:xfrm>
            <a:off x="1206445" y="2731466"/>
            <a:ext cx="3653412" cy="3541318"/>
          </a:xfrm>
          <a:prstGeom prst="rect">
            <a:avLst/>
          </a:prstGeom>
        </p:spPr>
        <p:txBody>
          <a:bodyPr>
            <a:normAutofit/>
          </a:bodyPr>
          <a:lstStyle/>
          <a:p>
            <a:pPr defTabSz="841248">
              <a:spcAft>
                <a:spcPts val="600"/>
              </a:spcAft>
            </a:pPr>
            <a:r>
              <a:rPr lang="en-US" sz="2944" kern="1200">
                <a:solidFill>
                  <a:schemeClr val="tx1"/>
                </a:solidFill>
                <a:latin typeface="+mn-lt"/>
                <a:ea typeface="+mn-ea"/>
                <a:cs typeface="+mn-cs"/>
              </a:rPr>
              <a:t>Direct versus BIOS Access</a:t>
            </a:r>
            <a:endParaRPr lang="en-US" sz="3200"/>
          </a:p>
        </p:txBody>
      </p:sp>
    </p:spTree>
    <p:extLst>
      <p:ext uri="{BB962C8B-B14F-4D97-AF65-F5344CB8AC3E}">
        <p14:creationId xmlns:p14="http://schemas.microsoft.com/office/powerpoint/2010/main" val="1829758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EC3376-883F-4D8F-B3BD-5CC28B2F34C5}"/>
              </a:ext>
            </a:extLst>
          </p:cNvPr>
          <p:cNvSpPr>
            <a:spLocks noGrp="1"/>
          </p:cNvSpPr>
          <p:nvPr>
            <p:ph type="title"/>
          </p:nvPr>
        </p:nvSpPr>
        <p:spPr>
          <a:xfrm>
            <a:off x="838200" y="556995"/>
            <a:ext cx="10515600" cy="1133693"/>
          </a:xfrm>
        </p:spPr>
        <p:txBody>
          <a:bodyPr vert="horz" lIns="91440" tIns="45720" rIns="91440" bIns="45720" rtlCol="0" anchor="ctr">
            <a:normAutofit/>
          </a:bodyPr>
          <a:lstStyle/>
          <a:p>
            <a:r>
              <a:rPr lang="en-US" sz="5200" kern="1200">
                <a:solidFill>
                  <a:schemeClr val="tx1"/>
                </a:solidFill>
                <a:latin typeface="+mj-lt"/>
                <a:ea typeface="+mj-ea"/>
                <a:cs typeface="+mj-cs"/>
              </a:rPr>
              <a:t>Reading the Source Data</a:t>
            </a:r>
          </a:p>
        </p:txBody>
      </p:sp>
      <p:sp>
        <p:nvSpPr>
          <p:cNvPr id="3" name="Content Placeholder 2">
            <a:extLst>
              <a:ext uri="{FF2B5EF4-FFF2-40B4-BE49-F238E27FC236}">
                <a16:creationId xmlns:a16="http://schemas.microsoft.com/office/drawing/2014/main" id="{4999B9B5-36E0-4844-BB4E-669DA9E20E9B}"/>
              </a:ext>
            </a:extLst>
          </p:cNvPr>
          <p:cNvSpPr>
            <a:spLocks/>
          </p:cNvSpPr>
          <p:nvPr/>
        </p:nvSpPr>
        <p:spPr>
          <a:xfrm>
            <a:off x="5541420" y="1825625"/>
            <a:ext cx="5501789" cy="4344262"/>
          </a:xfrm>
          <a:prstGeom prst="rect">
            <a:avLst/>
          </a:prstGeom>
        </p:spPr>
        <p:txBody>
          <a:bodyPr>
            <a:normAutofit/>
          </a:bodyPr>
          <a:lstStyle/>
          <a:p>
            <a:pPr defTabSz="813816">
              <a:spcAft>
                <a:spcPts val="600"/>
              </a:spcAft>
            </a:pPr>
            <a:r>
              <a:rPr lang="en-US" sz="1602" kern="1200">
                <a:solidFill>
                  <a:schemeClr val="tx1"/>
                </a:solidFill>
                <a:latin typeface="+mn-lt"/>
                <a:ea typeface="+mn-ea"/>
                <a:cs typeface="+mn-cs"/>
              </a:rPr>
              <a:t>When the BIOS is used, there is a risk that it may return incorrect information about the disk.</a:t>
            </a:r>
          </a:p>
          <a:p>
            <a:pPr defTabSz="813816">
              <a:spcAft>
                <a:spcPts val="600"/>
              </a:spcAft>
            </a:pPr>
            <a:r>
              <a:rPr lang="en-US" sz="1602" kern="1200">
                <a:solidFill>
                  <a:schemeClr val="tx1"/>
                </a:solidFill>
                <a:latin typeface="+mn-lt"/>
                <a:ea typeface="+mn-ea"/>
                <a:cs typeface="+mn-cs"/>
              </a:rPr>
              <a:t>If the BIOS thinks that a disk is 8GB, but the disk is really 12GB, the INT13h functions will give you access to only the first 8GB. </a:t>
            </a:r>
          </a:p>
          <a:p>
            <a:pPr defTabSz="813816">
              <a:spcAft>
                <a:spcPts val="600"/>
              </a:spcAft>
            </a:pPr>
            <a:r>
              <a:rPr lang="en-US" sz="1602" kern="1200">
                <a:solidFill>
                  <a:schemeClr val="tx1"/>
                </a:solidFill>
                <a:latin typeface="+mn-lt"/>
                <a:ea typeface="+mn-ea"/>
                <a:cs typeface="+mn-cs"/>
              </a:rPr>
              <a:t>Therefore, if you are doing an acquisition of the disk, you will not copy the final 4GB. </a:t>
            </a:r>
          </a:p>
          <a:p>
            <a:pPr defTabSz="813816">
              <a:spcAft>
                <a:spcPts val="600"/>
              </a:spcAft>
            </a:pPr>
            <a:r>
              <a:rPr lang="en-US" sz="1602" kern="1200">
                <a:solidFill>
                  <a:schemeClr val="tx1"/>
                </a:solidFill>
                <a:latin typeface="+mn-lt"/>
                <a:ea typeface="+mn-ea"/>
                <a:cs typeface="+mn-cs"/>
              </a:rPr>
              <a:t>We can see this in Figure 3.1, where two applications are trying to identify the size of a disk using different methods.</a:t>
            </a:r>
            <a:endParaRPr lang="en-US"/>
          </a:p>
        </p:txBody>
      </p:sp>
      <p:sp>
        <p:nvSpPr>
          <p:cNvPr id="4" name="Text Placeholder 3">
            <a:extLst>
              <a:ext uri="{FF2B5EF4-FFF2-40B4-BE49-F238E27FC236}">
                <a16:creationId xmlns:a16="http://schemas.microsoft.com/office/drawing/2014/main" id="{74C5B399-E950-4F14-81BD-B1F96D69BFB3}"/>
              </a:ext>
            </a:extLst>
          </p:cNvPr>
          <p:cNvSpPr>
            <a:spLocks/>
          </p:cNvSpPr>
          <p:nvPr/>
        </p:nvSpPr>
        <p:spPr>
          <a:xfrm>
            <a:off x="1669791" y="2779382"/>
            <a:ext cx="3505126" cy="3397581"/>
          </a:xfrm>
          <a:prstGeom prst="rect">
            <a:avLst/>
          </a:prstGeom>
        </p:spPr>
        <p:txBody>
          <a:bodyPr>
            <a:normAutofit/>
          </a:bodyPr>
          <a:lstStyle/>
          <a:p>
            <a:pPr defTabSz="813816">
              <a:spcAft>
                <a:spcPts val="600"/>
              </a:spcAft>
            </a:pPr>
            <a:r>
              <a:rPr lang="en-US" sz="2848" kern="1200">
                <a:solidFill>
                  <a:schemeClr val="tx1"/>
                </a:solidFill>
                <a:latin typeface="+mn-lt"/>
                <a:ea typeface="+mn-ea"/>
                <a:cs typeface="+mn-cs"/>
              </a:rPr>
              <a:t>Direct versus BIOS Access (cont.)</a:t>
            </a:r>
            <a:endParaRPr lang="en-US" sz="3200"/>
          </a:p>
        </p:txBody>
      </p:sp>
      <p:pic>
        <p:nvPicPr>
          <p:cNvPr id="7" name="Picture 6">
            <a:extLst>
              <a:ext uri="{FF2B5EF4-FFF2-40B4-BE49-F238E27FC236}">
                <a16:creationId xmlns:a16="http://schemas.microsoft.com/office/drawing/2014/main" id="{9123F711-116F-414A-BBA2-3C1CB461161B}"/>
              </a:ext>
            </a:extLst>
          </p:cNvPr>
          <p:cNvPicPr>
            <a:picLocks noChangeAspect="1"/>
          </p:cNvPicPr>
          <p:nvPr/>
        </p:nvPicPr>
        <p:blipFill>
          <a:blip r:embed="rId2"/>
          <a:stretch>
            <a:fillRect/>
          </a:stretch>
        </p:blipFill>
        <p:spPr>
          <a:xfrm>
            <a:off x="1881620" y="4478172"/>
            <a:ext cx="7319599" cy="1587498"/>
          </a:xfrm>
          <a:prstGeom prst="rect">
            <a:avLst/>
          </a:prstGeom>
        </p:spPr>
      </p:pic>
    </p:spTree>
    <p:extLst>
      <p:ext uri="{BB962C8B-B14F-4D97-AF65-F5344CB8AC3E}">
        <p14:creationId xmlns:p14="http://schemas.microsoft.com/office/powerpoint/2010/main" val="1613830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Slide Background">
            <a:extLst>
              <a:ext uri="{FF2B5EF4-FFF2-40B4-BE49-F238E27FC236}">
                <a16:creationId xmlns:a16="http://schemas.microsoft.com/office/drawing/2014/main" id="{924D84CD-5280-4B52-B96E-8EDAA2B20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6BC8DD5A-2177-6753-E2F9-C07A00190B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1"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EC3376-883F-4D8F-B3BD-5CC28B2F34C5}"/>
              </a:ext>
            </a:extLst>
          </p:cNvPr>
          <p:cNvSpPr>
            <a:spLocks noGrp="1"/>
          </p:cNvSpPr>
          <p:nvPr>
            <p:ph type="title"/>
          </p:nvPr>
        </p:nvSpPr>
        <p:spPr>
          <a:xfrm>
            <a:off x="1142901" y="274104"/>
            <a:ext cx="9906199" cy="1157242"/>
          </a:xfrm>
        </p:spPr>
        <p:txBody>
          <a:bodyPr vert="horz" lIns="91440" tIns="45720" rIns="91440" bIns="45720" rtlCol="0" anchor="ctr">
            <a:normAutofit/>
          </a:bodyPr>
          <a:lstStyle/>
          <a:p>
            <a:pPr algn="ctr"/>
            <a:r>
              <a:rPr lang="en-US" sz="4000" kern="1200">
                <a:solidFill>
                  <a:schemeClr val="tx1"/>
                </a:solidFill>
                <a:latin typeface="+mj-lt"/>
                <a:ea typeface="+mj-ea"/>
                <a:cs typeface="+mj-cs"/>
              </a:rPr>
              <a:t>Reading the Source Data</a:t>
            </a:r>
          </a:p>
        </p:txBody>
      </p:sp>
      <p:sp>
        <p:nvSpPr>
          <p:cNvPr id="3" name="Content Placeholder 2">
            <a:extLst>
              <a:ext uri="{FF2B5EF4-FFF2-40B4-BE49-F238E27FC236}">
                <a16:creationId xmlns:a16="http://schemas.microsoft.com/office/drawing/2014/main" id="{4999B9B5-36E0-4844-BB4E-669DA9E20E9B}"/>
              </a:ext>
            </a:extLst>
          </p:cNvPr>
          <p:cNvSpPr>
            <a:spLocks/>
          </p:cNvSpPr>
          <p:nvPr/>
        </p:nvSpPr>
        <p:spPr>
          <a:xfrm>
            <a:off x="5369975" y="2122098"/>
            <a:ext cx="4900666" cy="3869610"/>
          </a:xfrm>
          <a:prstGeom prst="rect">
            <a:avLst/>
          </a:prstGeom>
        </p:spPr>
        <p:txBody>
          <a:bodyPr>
            <a:normAutofit/>
          </a:bodyPr>
          <a:lstStyle/>
          <a:p>
            <a:pPr defTabSz="722376">
              <a:lnSpc>
                <a:spcPct val="90000"/>
              </a:lnSpc>
              <a:spcAft>
                <a:spcPts val="600"/>
              </a:spcAft>
            </a:pPr>
            <a:r>
              <a:rPr lang="en-US" sz="1422" kern="1200">
                <a:solidFill>
                  <a:schemeClr val="tx1"/>
                </a:solidFill>
                <a:latin typeface="+mn-lt"/>
                <a:ea typeface="+mn-ea"/>
                <a:cs typeface="+mn-cs"/>
              </a:rPr>
              <a:t>This scenario can happen in a couple of different ways. </a:t>
            </a:r>
          </a:p>
          <a:p>
            <a:pPr defTabSz="722376">
              <a:lnSpc>
                <a:spcPct val="90000"/>
              </a:lnSpc>
              <a:spcAft>
                <a:spcPts val="600"/>
              </a:spcAft>
            </a:pPr>
            <a:r>
              <a:rPr lang="en-US" sz="1422" kern="1200">
                <a:solidFill>
                  <a:schemeClr val="tx1"/>
                </a:solidFill>
                <a:latin typeface="+mn-lt"/>
                <a:ea typeface="+mn-ea"/>
                <a:cs typeface="+mn-cs"/>
              </a:rPr>
              <a:t>One case is when the BIOS is configured for a specific hard disk geometry that is different from the one installed. </a:t>
            </a:r>
          </a:p>
          <a:p>
            <a:pPr defTabSz="722376">
              <a:lnSpc>
                <a:spcPct val="90000"/>
              </a:lnSpc>
              <a:spcAft>
                <a:spcPts val="600"/>
              </a:spcAft>
            </a:pPr>
            <a:r>
              <a:rPr lang="en-US" sz="1422" kern="1200">
                <a:solidFill>
                  <a:schemeClr val="tx1"/>
                </a:solidFill>
                <a:latin typeface="+mn-lt"/>
                <a:ea typeface="+mn-ea"/>
                <a:cs typeface="+mn-cs"/>
              </a:rPr>
              <a:t>In another case, an acquisition tool uses a legacy method of requesting the size of the disk.</a:t>
            </a:r>
          </a:p>
          <a:p>
            <a:pPr defTabSz="722376">
              <a:lnSpc>
                <a:spcPct val="90000"/>
              </a:lnSpc>
              <a:spcAft>
                <a:spcPts val="600"/>
              </a:spcAft>
            </a:pPr>
            <a:r>
              <a:rPr lang="en-US" sz="1422" kern="1200">
                <a:solidFill>
                  <a:schemeClr val="tx1"/>
                </a:solidFill>
                <a:latin typeface="+mn-lt"/>
                <a:ea typeface="+mn-ea"/>
                <a:cs typeface="+mn-cs"/>
              </a:rPr>
              <a:t>There are two ways that an application can ask the BIOS for a disk size. </a:t>
            </a:r>
          </a:p>
          <a:p>
            <a:pPr defTabSz="722376">
              <a:lnSpc>
                <a:spcPct val="90000"/>
              </a:lnSpc>
              <a:spcAft>
                <a:spcPts val="600"/>
              </a:spcAft>
            </a:pPr>
            <a:r>
              <a:rPr lang="en-US" sz="1422" kern="1200">
                <a:solidFill>
                  <a:schemeClr val="tx1"/>
                </a:solidFill>
                <a:latin typeface="+mn-lt"/>
                <a:ea typeface="+mn-ea"/>
                <a:cs typeface="+mn-cs"/>
              </a:rPr>
              <a:t>One is through the original INT13h function that suffers from the 8GB limit and returns the size using the disk’s geometry in CHS format. </a:t>
            </a:r>
          </a:p>
          <a:p>
            <a:pPr defTabSz="722376">
              <a:lnSpc>
                <a:spcPct val="90000"/>
              </a:lnSpc>
              <a:spcAft>
                <a:spcPts val="600"/>
              </a:spcAft>
            </a:pPr>
            <a:r>
              <a:rPr lang="en-US" sz="1422" kern="1200">
                <a:solidFill>
                  <a:schemeClr val="tx1"/>
                </a:solidFill>
                <a:latin typeface="+mn-lt"/>
                <a:ea typeface="+mn-ea"/>
                <a:cs typeface="+mn-cs"/>
              </a:rPr>
              <a:t>The second method is to use an extended INT13h function that returns the size in LBA format. The CFTT group at NIST had a 2GB disk and a computer where two different sizes were returned from the INT13h and the extended INT13h functions.</a:t>
            </a:r>
          </a:p>
          <a:p>
            <a:pPr defTabSz="722376">
              <a:lnSpc>
                <a:spcPct val="90000"/>
              </a:lnSpc>
              <a:spcAft>
                <a:spcPts val="600"/>
              </a:spcAft>
            </a:pPr>
            <a:r>
              <a:rPr lang="en-US" sz="1422" kern="1200">
                <a:solidFill>
                  <a:schemeClr val="tx1"/>
                </a:solidFill>
                <a:latin typeface="+mn-lt"/>
                <a:ea typeface="+mn-ea"/>
                <a:cs typeface="+mn-cs"/>
              </a:rPr>
              <a:t>The extended INT13h result was correct, but the legacy INT13h result was too small.</a:t>
            </a:r>
            <a:endParaRPr lang="en-US"/>
          </a:p>
        </p:txBody>
      </p:sp>
      <p:sp>
        <p:nvSpPr>
          <p:cNvPr id="4" name="Text Placeholder 3">
            <a:extLst>
              <a:ext uri="{FF2B5EF4-FFF2-40B4-BE49-F238E27FC236}">
                <a16:creationId xmlns:a16="http://schemas.microsoft.com/office/drawing/2014/main" id="{74C5B399-E950-4F14-81BD-B1F96D69BFB3}"/>
              </a:ext>
            </a:extLst>
          </p:cNvPr>
          <p:cNvSpPr>
            <a:spLocks/>
          </p:cNvSpPr>
          <p:nvPr/>
        </p:nvSpPr>
        <p:spPr>
          <a:xfrm>
            <a:off x="1921358" y="2971648"/>
            <a:ext cx="3122158" cy="3026363"/>
          </a:xfrm>
          <a:prstGeom prst="rect">
            <a:avLst/>
          </a:prstGeom>
        </p:spPr>
        <p:txBody>
          <a:bodyPr>
            <a:normAutofit/>
          </a:bodyPr>
          <a:lstStyle/>
          <a:p>
            <a:pPr defTabSz="722376">
              <a:spcAft>
                <a:spcPts val="600"/>
              </a:spcAft>
            </a:pPr>
            <a:r>
              <a:rPr lang="en-US" sz="2528" kern="1200">
                <a:solidFill>
                  <a:schemeClr val="tx1"/>
                </a:solidFill>
                <a:latin typeface="+mn-lt"/>
                <a:ea typeface="+mn-ea"/>
                <a:cs typeface="+mn-cs"/>
              </a:rPr>
              <a:t>Direct versus BIOS Access (cont.)</a:t>
            </a:r>
            <a:endParaRPr lang="en-US" sz="3200"/>
          </a:p>
        </p:txBody>
      </p:sp>
    </p:spTree>
    <p:extLst>
      <p:ext uri="{BB962C8B-B14F-4D97-AF65-F5344CB8AC3E}">
        <p14:creationId xmlns:p14="http://schemas.microsoft.com/office/powerpoint/2010/main" val="39358428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EC3376-883F-4D8F-B3BD-5CC28B2F34C5}"/>
              </a:ext>
            </a:extLst>
          </p:cNvPr>
          <p:cNvSpPr>
            <a:spLocks noGrp="1"/>
          </p:cNvSpPr>
          <p:nvPr>
            <p:ph type="title"/>
          </p:nvPr>
        </p:nvSpPr>
        <p:spPr>
          <a:xfrm>
            <a:off x="841248" y="334644"/>
            <a:ext cx="10509504" cy="1076914"/>
          </a:xfrm>
        </p:spPr>
        <p:txBody>
          <a:bodyPr vert="horz" lIns="91440" tIns="45720" rIns="91440" bIns="45720" rtlCol="0" anchor="ctr">
            <a:normAutofit/>
          </a:bodyPr>
          <a:lstStyle/>
          <a:p>
            <a:r>
              <a:rPr lang="en-US" sz="4000" kern="1200">
                <a:solidFill>
                  <a:schemeClr val="tx1"/>
                </a:solidFill>
                <a:latin typeface="+mj-lt"/>
                <a:ea typeface="+mj-ea"/>
                <a:cs typeface="+mj-cs"/>
              </a:rPr>
              <a:t>Reading the Source Data</a:t>
            </a:r>
          </a:p>
        </p:txBody>
      </p:sp>
      <p:sp>
        <p:nvSpPr>
          <p:cNvPr id="12" name="Rectangle 11">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999B9B5-36E0-4844-BB4E-669DA9E20E9B}"/>
              </a:ext>
            </a:extLst>
          </p:cNvPr>
          <p:cNvSpPr>
            <a:spLocks/>
          </p:cNvSpPr>
          <p:nvPr/>
        </p:nvSpPr>
        <p:spPr>
          <a:xfrm>
            <a:off x="5241866" y="1737360"/>
            <a:ext cx="5734545" cy="4528049"/>
          </a:xfrm>
          <a:prstGeom prst="rect">
            <a:avLst/>
          </a:prstGeom>
        </p:spPr>
        <p:txBody>
          <a:bodyPr>
            <a:normAutofit/>
          </a:bodyPr>
          <a:lstStyle/>
          <a:p>
            <a:pPr defTabSz="841248">
              <a:spcAft>
                <a:spcPts val="600"/>
              </a:spcAft>
            </a:pPr>
            <a:r>
              <a:rPr lang="en-US" sz="1656" kern="1200">
                <a:solidFill>
                  <a:schemeClr val="tx1"/>
                </a:solidFill>
                <a:latin typeface="+mn-lt"/>
                <a:ea typeface="+mn-ea"/>
                <a:cs typeface="+mn-cs"/>
              </a:rPr>
              <a:t>Occasionally, an e-mail is sent to one to the digital forensic e-mail lists from someone who acquired a disk using two different tools and got different sized images. </a:t>
            </a:r>
          </a:p>
          <a:p>
            <a:pPr defTabSz="841248">
              <a:spcAft>
                <a:spcPts val="600"/>
              </a:spcAft>
            </a:pPr>
            <a:r>
              <a:rPr lang="en-US" sz="1656" kern="1200">
                <a:solidFill>
                  <a:schemeClr val="tx1"/>
                </a:solidFill>
                <a:latin typeface="+mn-lt"/>
                <a:ea typeface="+mn-ea"/>
                <a:cs typeface="+mn-cs"/>
              </a:rPr>
              <a:t>The reason is usually because one of the tools used the BIOS and the other did not. </a:t>
            </a:r>
          </a:p>
          <a:p>
            <a:pPr defTabSz="841248">
              <a:spcAft>
                <a:spcPts val="600"/>
              </a:spcAft>
            </a:pPr>
            <a:r>
              <a:rPr lang="en-US" sz="1656" kern="1200">
                <a:solidFill>
                  <a:schemeClr val="tx1"/>
                </a:solidFill>
                <a:latin typeface="+mn-lt"/>
                <a:ea typeface="+mn-ea"/>
                <a:cs typeface="+mn-cs"/>
              </a:rPr>
              <a:t>Make sure that you know how your acquisition tools access the disk, and if the tool uses the BIOS, make sure it reports the full disk before you acquire the disk. </a:t>
            </a:r>
          </a:p>
          <a:p>
            <a:pPr defTabSz="841248">
              <a:spcAft>
                <a:spcPts val="600"/>
              </a:spcAft>
            </a:pPr>
            <a:r>
              <a:rPr lang="en-US" sz="1656" kern="1200">
                <a:solidFill>
                  <a:schemeClr val="tx1"/>
                </a:solidFill>
                <a:latin typeface="+mn-lt"/>
                <a:ea typeface="+mn-ea"/>
                <a:cs typeface="+mn-cs"/>
              </a:rPr>
              <a:t>The BIOS adds one more location where an error can be introduced into the final image, and it should be avoided if better alternatives exist.</a:t>
            </a:r>
            <a:endParaRPr lang="en-US"/>
          </a:p>
        </p:txBody>
      </p:sp>
      <p:sp>
        <p:nvSpPr>
          <p:cNvPr id="4" name="Text Placeholder 3">
            <a:extLst>
              <a:ext uri="{FF2B5EF4-FFF2-40B4-BE49-F238E27FC236}">
                <a16:creationId xmlns:a16="http://schemas.microsoft.com/office/drawing/2014/main" id="{74C5B399-E950-4F14-81BD-B1F96D69BFB3}"/>
              </a:ext>
            </a:extLst>
          </p:cNvPr>
          <p:cNvSpPr>
            <a:spLocks/>
          </p:cNvSpPr>
          <p:nvPr/>
        </p:nvSpPr>
        <p:spPr>
          <a:xfrm>
            <a:off x="1206445" y="2731466"/>
            <a:ext cx="3653412" cy="3541318"/>
          </a:xfrm>
          <a:prstGeom prst="rect">
            <a:avLst/>
          </a:prstGeom>
        </p:spPr>
        <p:txBody>
          <a:bodyPr>
            <a:normAutofit/>
          </a:bodyPr>
          <a:lstStyle/>
          <a:p>
            <a:pPr defTabSz="841248">
              <a:spcAft>
                <a:spcPts val="600"/>
              </a:spcAft>
            </a:pPr>
            <a:r>
              <a:rPr lang="en-US" sz="2944" kern="1200">
                <a:solidFill>
                  <a:schemeClr val="tx1"/>
                </a:solidFill>
                <a:latin typeface="+mn-lt"/>
                <a:ea typeface="+mn-ea"/>
                <a:cs typeface="+mn-cs"/>
              </a:rPr>
              <a:t>Direct versus BIOS Access (cont.)</a:t>
            </a:r>
            <a:endParaRPr lang="en-US" sz="3200"/>
          </a:p>
        </p:txBody>
      </p:sp>
    </p:spTree>
    <p:extLst>
      <p:ext uri="{BB962C8B-B14F-4D97-AF65-F5344CB8AC3E}">
        <p14:creationId xmlns:p14="http://schemas.microsoft.com/office/powerpoint/2010/main" val="28049034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EC3376-883F-4D8F-B3BD-5CC28B2F34C5}"/>
              </a:ext>
            </a:extLst>
          </p:cNvPr>
          <p:cNvSpPr>
            <a:spLocks noGrp="1"/>
          </p:cNvSpPr>
          <p:nvPr>
            <p:ph type="title"/>
          </p:nvPr>
        </p:nvSpPr>
        <p:spPr>
          <a:xfrm>
            <a:off x="841248" y="334644"/>
            <a:ext cx="10509504" cy="1076914"/>
          </a:xfrm>
        </p:spPr>
        <p:txBody>
          <a:bodyPr vert="horz" lIns="91440" tIns="45720" rIns="91440" bIns="45720" rtlCol="0" anchor="ctr">
            <a:normAutofit/>
          </a:bodyPr>
          <a:lstStyle/>
          <a:p>
            <a:r>
              <a:rPr lang="en-US" sz="4000" kern="1200">
                <a:solidFill>
                  <a:schemeClr val="tx1"/>
                </a:solidFill>
                <a:latin typeface="+mj-lt"/>
                <a:ea typeface="+mj-ea"/>
                <a:cs typeface="+mj-cs"/>
              </a:rPr>
              <a:t>Reading the Source Data</a:t>
            </a:r>
          </a:p>
        </p:txBody>
      </p:sp>
      <p:sp>
        <p:nvSpPr>
          <p:cNvPr id="12" name="Rectangle 11">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999B9B5-36E0-4844-BB4E-669DA9E20E9B}"/>
              </a:ext>
            </a:extLst>
          </p:cNvPr>
          <p:cNvSpPr>
            <a:spLocks/>
          </p:cNvSpPr>
          <p:nvPr/>
        </p:nvSpPr>
        <p:spPr>
          <a:xfrm>
            <a:off x="5241866" y="1737360"/>
            <a:ext cx="5734545" cy="4528049"/>
          </a:xfrm>
          <a:prstGeom prst="rect">
            <a:avLst/>
          </a:prstGeom>
        </p:spPr>
        <p:txBody>
          <a:bodyPr>
            <a:normAutofit/>
          </a:bodyPr>
          <a:lstStyle/>
          <a:p>
            <a:pPr defTabSz="841248">
              <a:spcAft>
                <a:spcPts val="600"/>
              </a:spcAft>
            </a:pPr>
            <a:r>
              <a:rPr lang="en-US" sz="1656" kern="1200">
                <a:solidFill>
                  <a:schemeClr val="tx1"/>
                </a:solidFill>
                <a:latin typeface="+mn-lt"/>
                <a:ea typeface="+mn-ea"/>
                <a:cs typeface="+mn-cs"/>
              </a:rPr>
              <a:t>An investigator has the choice of performing a dead or a live acquisition of data. </a:t>
            </a:r>
          </a:p>
          <a:p>
            <a:pPr defTabSz="841248">
              <a:spcAft>
                <a:spcPts val="600"/>
              </a:spcAft>
            </a:pPr>
            <a:r>
              <a:rPr lang="en-US" sz="1656" kern="1200">
                <a:solidFill>
                  <a:schemeClr val="tx1"/>
                </a:solidFill>
                <a:latin typeface="+mn-lt"/>
                <a:ea typeface="+mn-ea"/>
                <a:cs typeface="+mn-cs"/>
              </a:rPr>
              <a:t>A </a:t>
            </a:r>
            <a:r>
              <a:rPr lang="en-US" sz="1656" i="1" kern="1200">
                <a:solidFill>
                  <a:schemeClr val="tx1"/>
                </a:solidFill>
                <a:latin typeface="+mn-lt"/>
                <a:ea typeface="+mn-ea"/>
                <a:cs typeface="+mn-cs"/>
              </a:rPr>
              <a:t>dead acquisition </a:t>
            </a:r>
            <a:r>
              <a:rPr lang="en-US" sz="1656" kern="1200">
                <a:solidFill>
                  <a:schemeClr val="tx1"/>
                </a:solidFill>
                <a:latin typeface="+mn-lt"/>
                <a:ea typeface="+mn-ea"/>
                <a:cs typeface="+mn-cs"/>
              </a:rPr>
              <a:t>occurs when the data from a suspect system is being copied without the assistance of the suspect operating system. </a:t>
            </a:r>
          </a:p>
          <a:p>
            <a:pPr defTabSz="841248">
              <a:spcAft>
                <a:spcPts val="600"/>
              </a:spcAft>
            </a:pPr>
            <a:r>
              <a:rPr lang="en-US" sz="1656" kern="1200">
                <a:solidFill>
                  <a:schemeClr val="tx1"/>
                </a:solidFill>
                <a:latin typeface="+mn-lt"/>
                <a:ea typeface="+mn-ea"/>
                <a:cs typeface="+mn-cs"/>
              </a:rPr>
              <a:t>Historically, the term dead refers to the state of only the operating system, so a dead acquisition can use the hardware from the suspect system as long as it is booted from a trusted CD or floppy. </a:t>
            </a:r>
          </a:p>
          <a:p>
            <a:pPr defTabSz="841248">
              <a:spcAft>
                <a:spcPts val="600"/>
              </a:spcAft>
            </a:pPr>
            <a:r>
              <a:rPr lang="en-US" sz="1656" kern="1200">
                <a:solidFill>
                  <a:schemeClr val="tx1"/>
                </a:solidFill>
                <a:latin typeface="+mn-lt"/>
                <a:ea typeface="+mn-ea"/>
                <a:cs typeface="+mn-cs"/>
              </a:rPr>
              <a:t>A </a:t>
            </a:r>
            <a:r>
              <a:rPr lang="en-US" sz="1656" i="1" kern="1200">
                <a:solidFill>
                  <a:schemeClr val="tx1"/>
                </a:solidFill>
                <a:latin typeface="+mn-lt"/>
                <a:ea typeface="+mn-ea"/>
                <a:cs typeface="+mn-cs"/>
              </a:rPr>
              <a:t>live acquisition </a:t>
            </a:r>
            <a:r>
              <a:rPr lang="en-US" sz="1656" kern="1200">
                <a:solidFill>
                  <a:schemeClr val="tx1"/>
                </a:solidFill>
                <a:latin typeface="+mn-lt"/>
                <a:ea typeface="+mn-ea"/>
                <a:cs typeface="+mn-cs"/>
              </a:rPr>
              <a:t>is one where the suspect operating system is still running and being used to copy data.</a:t>
            </a:r>
            <a:endParaRPr lang="en-US"/>
          </a:p>
        </p:txBody>
      </p:sp>
      <p:sp>
        <p:nvSpPr>
          <p:cNvPr id="4" name="Text Placeholder 3">
            <a:extLst>
              <a:ext uri="{FF2B5EF4-FFF2-40B4-BE49-F238E27FC236}">
                <a16:creationId xmlns:a16="http://schemas.microsoft.com/office/drawing/2014/main" id="{74C5B399-E950-4F14-81BD-B1F96D69BFB3}"/>
              </a:ext>
            </a:extLst>
          </p:cNvPr>
          <p:cNvSpPr>
            <a:spLocks/>
          </p:cNvSpPr>
          <p:nvPr/>
        </p:nvSpPr>
        <p:spPr>
          <a:xfrm>
            <a:off x="1206445" y="2731466"/>
            <a:ext cx="3653412" cy="3541318"/>
          </a:xfrm>
          <a:prstGeom prst="rect">
            <a:avLst/>
          </a:prstGeom>
        </p:spPr>
        <p:txBody>
          <a:bodyPr>
            <a:normAutofit/>
          </a:bodyPr>
          <a:lstStyle/>
          <a:p>
            <a:pPr defTabSz="841248">
              <a:spcAft>
                <a:spcPts val="600"/>
              </a:spcAft>
            </a:pPr>
            <a:r>
              <a:rPr lang="en-US" sz="2944" kern="1200">
                <a:solidFill>
                  <a:schemeClr val="tx1"/>
                </a:solidFill>
                <a:latin typeface="+mn-lt"/>
                <a:ea typeface="+mn-ea"/>
                <a:cs typeface="+mn-cs"/>
              </a:rPr>
              <a:t>Dead Versus Live Acquisition</a:t>
            </a:r>
            <a:endParaRPr lang="en-US" sz="3200"/>
          </a:p>
        </p:txBody>
      </p:sp>
    </p:spTree>
    <p:extLst>
      <p:ext uri="{BB962C8B-B14F-4D97-AF65-F5344CB8AC3E}">
        <p14:creationId xmlns:p14="http://schemas.microsoft.com/office/powerpoint/2010/main" val="19312477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EC3376-883F-4D8F-B3BD-5CC28B2F34C5}"/>
              </a:ext>
            </a:extLst>
          </p:cNvPr>
          <p:cNvSpPr>
            <a:spLocks noGrp="1"/>
          </p:cNvSpPr>
          <p:nvPr>
            <p:ph type="title"/>
          </p:nvPr>
        </p:nvSpPr>
        <p:spPr>
          <a:xfrm>
            <a:off x="841248" y="334644"/>
            <a:ext cx="10509504" cy="1076914"/>
          </a:xfrm>
        </p:spPr>
        <p:txBody>
          <a:bodyPr vert="horz" lIns="91440" tIns="45720" rIns="91440" bIns="45720" rtlCol="0" anchor="ctr">
            <a:normAutofit/>
          </a:bodyPr>
          <a:lstStyle/>
          <a:p>
            <a:r>
              <a:rPr lang="en-US" sz="4000" kern="1200">
                <a:solidFill>
                  <a:schemeClr val="tx1"/>
                </a:solidFill>
                <a:latin typeface="+mj-lt"/>
                <a:ea typeface="+mj-ea"/>
                <a:cs typeface="+mj-cs"/>
              </a:rPr>
              <a:t>Reading the Source Data</a:t>
            </a:r>
          </a:p>
        </p:txBody>
      </p:sp>
      <p:sp>
        <p:nvSpPr>
          <p:cNvPr id="12" name="Rectangle 11">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999B9B5-36E0-4844-BB4E-669DA9E20E9B}"/>
              </a:ext>
            </a:extLst>
          </p:cNvPr>
          <p:cNvSpPr>
            <a:spLocks/>
          </p:cNvSpPr>
          <p:nvPr/>
        </p:nvSpPr>
        <p:spPr>
          <a:xfrm>
            <a:off x="5241866" y="1737360"/>
            <a:ext cx="5734545" cy="4528049"/>
          </a:xfrm>
          <a:prstGeom prst="rect">
            <a:avLst/>
          </a:prstGeom>
        </p:spPr>
        <p:txBody>
          <a:bodyPr>
            <a:normAutofit/>
          </a:bodyPr>
          <a:lstStyle/>
          <a:p>
            <a:pPr defTabSz="841248">
              <a:lnSpc>
                <a:spcPct val="90000"/>
              </a:lnSpc>
              <a:spcAft>
                <a:spcPts val="600"/>
              </a:spcAft>
            </a:pPr>
            <a:r>
              <a:rPr lang="en-US" sz="1656" kern="1200">
                <a:solidFill>
                  <a:schemeClr val="tx1"/>
                </a:solidFill>
                <a:latin typeface="+mn-lt"/>
                <a:ea typeface="+mn-ea"/>
                <a:cs typeface="+mn-cs"/>
              </a:rPr>
              <a:t>The risk of conducting a live acquisition is that the attacker has modified the operating system or other software to provide false data during the acquisition. </a:t>
            </a:r>
          </a:p>
          <a:p>
            <a:pPr defTabSz="841248">
              <a:lnSpc>
                <a:spcPct val="90000"/>
              </a:lnSpc>
              <a:spcAft>
                <a:spcPts val="600"/>
              </a:spcAft>
            </a:pPr>
            <a:r>
              <a:rPr lang="en-US" sz="1656" kern="1200">
                <a:solidFill>
                  <a:schemeClr val="tx1"/>
                </a:solidFill>
                <a:latin typeface="+mn-lt"/>
                <a:ea typeface="+mn-ea"/>
                <a:cs typeface="+mn-cs"/>
              </a:rPr>
              <a:t>Attackers frequently install tools called rootkits into systems that they compromise, and they return false information to a user. </a:t>
            </a:r>
          </a:p>
          <a:p>
            <a:pPr defTabSz="841248">
              <a:lnSpc>
                <a:spcPct val="90000"/>
              </a:lnSpc>
              <a:spcAft>
                <a:spcPts val="600"/>
              </a:spcAft>
            </a:pPr>
            <a:r>
              <a:rPr lang="en-US" sz="1656" kern="1200">
                <a:solidFill>
                  <a:schemeClr val="tx1"/>
                </a:solidFill>
                <a:latin typeface="+mn-lt"/>
                <a:ea typeface="+mn-ea"/>
                <a:cs typeface="+mn-cs"/>
              </a:rPr>
              <a:t>The rootkits hide certain files in a directory or hide running processes. </a:t>
            </a:r>
          </a:p>
          <a:p>
            <a:pPr defTabSz="841248">
              <a:lnSpc>
                <a:spcPct val="90000"/>
              </a:lnSpc>
              <a:spcAft>
                <a:spcPts val="600"/>
              </a:spcAft>
            </a:pPr>
            <a:r>
              <a:rPr lang="en-US" sz="1656" kern="1200">
                <a:solidFill>
                  <a:schemeClr val="tx1"/>
                </a:solidFill>
                <a:latin typeface="+mn-lt"/>
                <a:ea typeface="+mn-ea"/>
                <a:cs typeface="+mn-cs"/>
              </a:rPr>
              <a:t>Typically, the attackers hide the files that they installed after compromising the system. </a:t>
            </a:r>
          </a:p>
          <a:p>
            <a:pPr defTabSz="841248">
              <a:lnSpc>
                <a:spcPct val="90000"/>
              </a:lnSpc>
              <a:spcAft>
                <a:spcPts val="600"/>
              </a:spcAft>
            </a:pPr>
            <a:r>
              <a:rPr lang="en-US" sz="1656" kern="1200">
                <a:solidFill>
                  <a:schemeClr val="tx1"/>
                </a:solidFill>
                <a:latin typeface="+mn-lt"/>
                <a:ea typeface="+mn-ea"/>
                <a:cs typeface="+mn-cs"/>
              </a:rPr>
              <a:t>An attacker could also modify the operating system so that it replaces data in certain sectors of the disk while it is being acquired. </a:t>
            </a:r>
          </a:p>
          <a:p>
            <a:pPr defTabSz="841248">
              <a:lnSpc>
                <a:spcPct val="90000"/>
              </a:lnSpc>
              <a:spcAft>
                <a:spcPts val="600"/>
              </a:spcAft>
            </a:pPr>
            <a:r>
              <a:rPr lang="en-US" sz="1656" kern="1200">
                <a:solidFill>
                  <a:schemeClr val="tx1"/>
                </a:solidFill>
                <a:latin typeface="+mn-lt"/>
                <a:ea typeface="+mn-ea"/>
                <a:cs typeface="+mn-cs"/>
              </a:rPr>
              <a:t>The resulting image might not have any evidence of the incident because it was replaced. </a:t>
            </a:r>
          </a:p>
          <a:p>
            <a:pPr defTabSz="841248">
              <a:lnSpc>
                <a:spcPct val="90000"/>
              </a:lnSpc>
              <a:spcAft>
                <a:spcPts val="600"/>
              </a:spcAft>
            </a:pPr>
            <a:r>
              <a:rPr lang="en-US" sz="1656" kern="1200">
                <a:solidFill>
                  <a:schemeClr val="tx1"/>
                </a:solidFill>
                <a:latin typeface="+mn-lt"/>
                <a:ea typeface="+mn-ea"/>
                <a:cs typeface="+mn-cs"/>
              </a:rPr>
              <a:t>When possible, live acquisition should be avoided so that all evidence can be reliably collected.</a:t>
            </a:r>
            <a:endParaRPr lang="en-US"/>
          </a:p>
        </p:txBody>
      </p:sp>
      <p:sp>
        <p:nvSpPr>
          <p:cNvPr id="4" name="Text Placeholder 3">
            <a:extLst>
              <a:ext uri="{FF2B5EF4-FFF2-40B4-BE49-F238E27FC236}">
                <a16:creationId xmlns:a16="http://schemas.microsoft.com/office/drawing/2014/main" id="{74C5B399-E950-4F14-81BD-B1F96D69BFB3}"/>
              </a:ext>
            </a:extLst>
          </p:cNvPr>
          <p:cNvSpPr>
            <a:spLocks/>
          </p:cNvSpPr>
          <p:nvPr/>
        </p:nvSpPr>
        <p:spPr>
          <a:xfrm>
            <a:off x="1206445" y="2731466"/>
            <a:ext cx="3653412" cy="3541318"/>
          </a:xfrm>
          <a:prstGeom prst="rect">
            <a:avLst/>
          </a:prstGeom>
        </p:spPr>
        <p:txBody>
          <a:bodyPr>
            <a:normAutofit/>
          </a:bodyPr>
          <a:lstStyle/>
          <a:p>
            <a:pPr defTabSz="841248">
              <a:spcAft>
                <a:spcPts val="600"/>
              </a:spcAft>
            </a:pPr>
            <a:r>
              <a:rPr lang="en-US" sz="2944" kern="1200">
                <a:solidFill>
                  <a:schemeClr val="tx1"/>
                </a:solidFill>
                <a:latin typeface="+mn-lt"/>
                <a:ea typeface="+mn-ea"/>
                <a:cs typeface="+mn-cs"/>
              </a:rPr>
              <a:t>Dead Versus Live Acquisition (cont.)</a:t>
            </a:r>
            <a:endParaRPr lang="en-US" sz="3200"/>
          </a:p>
        </p:txBody>
      </p:sp>
    </p:spTree>
    <p:extLst>
      <p:ext uri="{BB962C8B-B14F-4D97-AF65-F5344CB8AC3E}">
        <p14:creationId xmlns:p14="http://schemas.microsoft.com/office/powerpoint/2010/main" val="7014999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EC3376-883F-4D8F-B3BD-5CC28B2F34C5}"/>
              </a:ext>
            </a:extLst>
          </p:cNvPr>
          <p:cNvSpPr>
            <a:spLocks noGrp="1"/>
          </p:cNvSpPr>
          <p:nvPr>
            <p:ph type="title"/>
          </p:nvPr>
        </p:nvSpPr>
        <p:spPr>
          <a:xfrm>
            <a:off x="841248" y="334644"/>
            <a:ext cx="10509504" cy="1076914"/>
          </a:xfrm>
        </p:spPr>
        <p:txBody>
          <a:bodyPr vert="horz" lIns="91440" tIns="45720" rIns="91440" bIns="45720" rtlCol="0" anchor="ctr">
            <a:normAutofit/>
          </a:bodyPr>
          <a:lstStyle/>
          <a:p>
            <a:r>
              <a:rPr lang="en-US" sz="4000" kern="1200">
                <a:solidFill>
                  <a:schemeClr val="tx1"/>
                </a:solidFill>
                <a:latin typeface="+mj-lt"/>
                <a:ea typeface="+mj-ea"/>
                <a:cs typeface="+mj-cs"/>
              </a:rPr>
              <a:t>Reading the Source Data</a:t>
            </a:r>
          </a:p>
        </p:txBody>
      </p:sp>
      <p:sp>
        <p:nvSpPr>
          <p:cNvPr id="12" name="Rectangle 11">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999B9B5-36E0-4844-BB4E-669DA9E20E9B}"/>
              </a:ext>
            </a:extLst>
          </p:cNvPr>
          <p:cNvSpPr>
            <a:spLocks/>
          </p:cNvSpPr>
          <p:nvPr/>
        </p:nvSpPr>
        <p:spPr>
          <a:xfrm>
            <a:off x="5241866" y="1737360"/>
            <a:ext cx="5734545" cy="4528049"/>
          </a:xfrm>
          <a:prstGeom prst="rect">
            <a:avLst/>
          </a:prstGeom>
        </p:spPr>
        <p:txBody>
          <a:bodyPr>
            <a:normAutofit/>
          </a:bodyPr>
          <a:lstStyle/>
          <a:p>
            <a:pPr defTabSz="841248">
              <a:spcAft>
                <a:spcPts val="600"/>
              </a:spcAft>
            </a:pPr>
            <a:r>
              <a:rPr lang="en-US" sz="1656" kern="1200">
                <a:solidFill>
                  <a:schemeClr val="tx1"/>
                </a:solidFill>
                <a:latin typeface="+mn-lt"/>
                <a:ea typeface="+mn-ea"/>
                <a:cs typeface="+mn-cs"/>
              </a:rPr>
              <a:t>It is common for an investigator to boot a suspect system using a trusted DOS floppy or Linux CD that has been configured to not mount drives or modify any data.</a:t>
            </a:r>
          </a:p>
          <a:p>
            <a:pPr defTabSz="841248">
              <a:spcAft>
                <a:spcPts val="600"/>
              </a:spcAft>
            </a:pPr>
            <a:r>
              <a:rPr lang="en-US" sz="1656" kern="1200">
                <a:solidFill>
                  <a:schemeClr val="tx1"/>
                </a:solidFill>
                <a:latin typeface="+mn-lt"/>
                <a:ea typeface="+mn-ea"/>
                <a:cs typeface="+mn-cs"/>
              </a:rPr>
              <a:t>Technically, it is possible for the suspect to have modified their hardware so that it returns false data even with a trusted operating system, but that is much less likely than the operating system being tampered with.</a:t>
            </a:r>
            <a:endParaRPr lang="en-US"/>
          </a:p>
        </p:txBody>
      </p:sp>
      <p:sp>
        <p:nvSpPr>
          <p:cNvPr id="4" name="Text Placeholder 3">
            <a:extLst>
              <a:ext uri="{FF2B5EF4-FFF2-40B4-BE49-F238E27FC236}">
                <a16:creationId xmlns:a16="http://schemas.microsoft.com/office/drawing/2014/main" id="{74C5B399-E950-4F14-81BD-B1F96D69BFB3}"/>
              </a:ext>
            </a:extLst>
          </p:cNvPr>
          <p:cNvSpPr>
            <a:spLocks/>
          </p:cNvSpPr>
          <p:nvPr/>
        </p:nvSpPr>
        <p:spPr>
          <a:xfrm>
            <a:off x="1206445" y="2731466"/>
            <a:ext cx="3653412" cy="3541318"/>
          </a:xfrm>
          <a:prstGeom prst="rect">
            <a:avLst/>
          </a:prstGeom>
        </p:spPr>
        <p:txBody>
          <a:bodyPr>
            <a:normAutofit/>
          </a:bodyPr>
          <a:lstStyle/>
          <a:p>
            <a:pPr defTabSz="841248">
              <a:spcAft>
                <a:spcPts val="600"/>
              </a:spcAft>
            </a:pPr>
            <a:r>
              <a:rPr lang="en-US" sz="2944" kern="1200">
                <a:solidFill>
                  <a:schemeClr val="tx1"/>
                </a:solidFill>
                <a:latin typeface="+mn-lt"/>
                <a:ea typeface="+mn-ea"/>
                <a:cs typeface="+mn-cs"/>
              </a:rPr>
              <a:t>Dead Versus Live Acquisition (cont.)</a:t>
            </a:r>
            <a:endParaRPr lang="en-US" sz="3200"/>
          </a:p>
        </p:txBody>
      </p:sp>
    </p:spTree>
    <p:extLst>
      <p:ext uri="{BB962C8B-B14F-4D97-AF65-F5344CB8AC3E}">
        <p14:creationId xmlns:p14="http://schemas.microsoft.com/office/powerpoint/2010/main" val="2979915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020EF-FC13-8AAF-5501-307C0E752A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DBE184-3D55-3924-03AA-0C1206415A07}"/>
              </a:ext>
            </a:extLst>
          </p:cNvPr>
          <p:cNvSpPr>
            <a:spLocks noGrp="1"/>
          </p:cNvSpPr>
          <p:nvPr>
            <p:ph type="title"/>
          </p:nvPr>
        </p:nvSpPr>
        <p:spPr>
          <a:xfrm>
            <a:off x="841248" y="334644"/>
            <a:ext cx="10509504" cy="1076914"/>
          </a:xfrm>
        </p:spPr>
        <p:txBody>
          <a:bodyPr vert="horz" lIns="91440" tIns="45720" rIns="91440" bIns="45720" rtlCol="0" anchor="ctr">
            <a:normAutofit/>
          </a:bodyPr>
          <a:lstStyle/>
          <a:p>
            <a:r>
              <a:rPr lang="en-MY" sz="4000" dirty="0"/>
              <a:t>Dead vs. Live Acquisition</a:t>
            </a:r>
            <a:endParaRPr lang="en-US" sz="4000" kern="1200" dirty="0">
              <a:solidFill>
                <a:schemeClr val="tx1"/>
              </a:solidFill>
              <a:latin typeface="+mj-lt"/>
              <a:ea typeface="+mj-ea"/>
              <a:cs typeface="+mj-cs"/>
            </a:endParaRPr>
          </a:p>
        </p:txBody>
      </p:sp>
      <p:graphicFrame>
        <p:nvGraphicFramePr>
          <p:cNvPr id="5" name="Table 4">
            <a:extLst>
              <a:ext uri="{FF2B5EF4-FFF2-40B4-BE49-F238E27FC236}">
                <a16:creationId xmlns:a16="http://schemas.microsoft.com/office/drawing/2014/main" id="{6E0C90C8-16FD-ECA3-270A-2418857BE46B}"/>
              </a:ext>
            </a:extLst>
          </p:cNvPr>
          <p:cNvGraphicFramePr>
            <a:graphicFrameLocks noGrp="1"/>
          </p:cNvGraphicFramePr>
          <p:nvPr>
            <p:extLst>
              <p:ext uri="{D42A27DB-BD31-4B8C-83A1-F6EECF244321}">
                <p14:modId xmlns:p14="http://schemas.microsoft.com/office/powerpoint/2010/main" val="3718139926"/>
              </p:ext>
            </p:extLst>
          </p:nvPr>
        </p:nvGraphicFramePr>
        <p:xfrm>
          <a:off x="1030705" y="1411558"/>
          <a:ext cx="10515600" cy="1645920"/>
        </p:xfrm>
        <a:graphic>
          <a:graphicData uri="http://schemas.openxmlformats.org/drawingml/2006/table">
            <a:tbl>
              <a:tblPr/>
              <a:tblGrid>
                <a:gridCol w="3505200">
                  <a:extLst>
                    <a:ext uri="{9D8B030D-6E8A-4147-A177-3AD203B41FA5}">
                      <a16:colId xmlns:a16="http://schemas.microsoft.com/office/drawing/2014/main" val="2399926772"/>
                    </a:ext>
                  </a:extLst>
                </a:gridCol>
                <a:gridCol w="3505200">
                  <a:extLst>
                    <a:ext uri="{9D8B030D-6E8A-4147-A177-3AD203B41FA5}">
                      <a16:colId xmlns:a16="http://schemas.microsoft.com/office/drawing/2014/main" val="2645694200"/>
                    </a:ext>
                  </a:extLst>
                </a:gridCol>
                <a:gridCol w="3505200">
                  <a:extLst>
                    <a:ext uri="{9D8B030D-6E8A-4147-A177-3AD203B41FA5}">
                      <a16:colId xmlns:a16="http://schemas.microsoft.com/office/drawing/2014/main" val="2387230165"/>
                    </a:ext>
                  </a:extLst>
                </a:gridCol>
              </a:tblGrid>
              <a:tr h="0">
                <a:tc>
                  <a:txBody>
                    <a:bodyPr/>
                    <a:lstStyle/>
                    <a:p>
                      <a:pPr>
                        <a:buNone/>
                      </a:pPr>
                      <a:r>
                        <a:rPr lang="en-MY"/>
                        <a:t>Type</a:t>
                      </a:r>
                    </a:p>
                  </a:txBody>
                  <a:tcPr anchor="ctr">
                    <a:lnL>
                      <a:noFill/>
                    </a:lnL>
                    <a:lnR>
                      <a:noFill/>
                    </a:lnR>
                    <a:lnT>
                      <a:noFill/>
                    </a:lnT>
                    <a:lnB>
                      <a:noFill/>
                    </a:lnB>
                    <a:noFill/>
                  </a:tcPr>
                </a:tc>
                <a:tc>
                  <a:txBody>
                    <a:bodyPr/>
                    <a:lstStyle/>
                    <a:p>
                      <a:pPr>
                        <a:buNone/>
                      </a:pPr>
                      <a:r>
                        <a:rPr lang="en-MY"/>
                        <a:t>Description</a:t>
                      </a:r>
                    </a:p>
                  </a:txBody>
                  <a:tcPr anchor="ctr">
                    <a:lnL>
                      <a:noFill/>
                    </a:lnL>
                    <a:lnR>
                      <a:noFill/>
                    </a:lnR>
                    <a:lnT>
                      <a:noFill/>
                    </a:lnT>
                    <a:lnB>
                      <a:noFill/>
                    </a:lnB>
                    <a:noFill/>
                  </a:tcPr>
                </a:tc>
                <a:tc>
                  <a:txBody>
                    <a:bodyPr/>
                    <a:lstStyle/>
                    <a:p>
                      <a:pPr>
                        <a:buNone/>
                      </a:pPr>
                      <a:r>
                        <a:rPr lang="en-MY"/>
                        <a:t>Risks</a:t>
                      </a:r>
                    </a:p>
                  </a:txBody>
                  <a:tcPr anchor="ctr">
                    <a:lnL>
                      <a:noFill/>
                    </a:lnL>
                    <a:lnR>
                      <a:noFill/>
                    </a:lnR>
                    <a:lnT>
                      <a:noFill/>
                    </a:lnT>
                    <a:lnB>
                      <a:noFill/>
                    </a:lnB>
                    <a:noFill/>
                  </a:tcPr>
                </a:tc>
                <a:extLst>
                  <a:ext uri="{0D108BD9-81ED-4DB2-BD59-A6C34878D82A}">
                    <a16:rowId xmlns:a16="http://schemas.microsoft.com/office/drawing/2014/main" val="1117509143"/>
                  </a:ext>
                </a:extLst>
              </a:tr>
              <a:tr h="0">
                <a:tc>
                  <a:txBody>
                    <a:bodyPr/>
                    <a:lstStyle/>
                    <a:p>
                      <a:pPr>
                        <a:buNone/>
                      </a:pPr>
                      <a:r>
                        <a:rPr lang="en-MY" b="1"/>
                        <a:t>Dead Acquisition</a:t>
                      </a:r>
                      <a:endParaRPr lang="en-MY"/>
                    </a:p>
                  </a:txBody>
                  <a:tcPr anchor="ctr">
                    <a:lnL>
                      <a:noFill/>
                    </a:lnL>
                    <a:lnR>
                      <a:noFill/>
                    </a:lnR>
                    <a:lnT>
                      <a:noFill/>
                    </a:lnT>
                    <a:lnB>
                      <a:noFill/>
                    </a:lnB>
                    <a:noFill/>
                  </a:tcPr>
                </a:tc>
                <a:tc>
                  <a:txBody>
                    <a:bodyPr/>
                    <a:lstStyle/>
                    <a:p>
                      <a:pPr>
                        <a:buNone/>
                      </a:pPr>
                      <a:r>
                        <a:rPr lang="en-US"/>
                        <a:t>Done when system is off or booted from trusted media.</a:t>
                      </a:r>
                    </a:p>
                  </a:txBody>
                  <a:tcPr anchor="ctr">
                    <a:lnL>
                      <a:noFill/>
                    </a:lnL>
                    <a:lnR>
                      <a:noFill/>
                    </a:lnR>
                    <a:lnT>
                      <a:noFill/>
                    </a:lnT>
                    <a:lnB>
                      <a:noFill/>
                    </a:lnB>
                    <a:noFill/>
                  </a:tcPr>
                </a:tc>
                <a:tc>
                  <a:txBody>
                    <a:bodyPr/>
                    <a:lstStyle/>
                    <a:p>
                      <a:pPr>
                        <a:buNone/>
                      </a:pPr>
                      <a:r>
                        <a:rPr lang="en-MY"/>
                        <a:t>More reliable; minimizes tampering.</a:t>
                      </a:r>
                    </a:p>
                  </a:txBody>
                  <a:tcPr anchor="ctr">
                    <a:lnL>
                      <a:noFill/>
                    </a:lnL>
                    <a:lnR>
                      <a:noFill/>
                    </a:lnR>
                    <a:lnT>
                      <a:noFill/>
                    </a:lnT>
                    <a:lnB>
                      <a:noFill/>
                    </a:lnB>
                    <a:noFill/>
                  </a:tcPr>
                </a:tc>
                <a:extLst>
                  <a:ext uri="{0D108BD9-81ED-4DB2-BD59-A6C34878D82A}">
                    <a16:rowId xmlns:a16="http://schemas.microsoft.com/office/drawing/2014/main" val="1489581914"/>
                  </a:ext>
                </a:extLst>
              </a:tr>
              <a:tr h="0">
                <a:tc>
                  <a:txBody>
                    <a:bodyPr/>
                    <a:lstStyle/>
                    <a:p>
                      <a:pPr>
                        <a:buNone/>
                      </a:pPr>
                      <a:r>
                        <a:rPr lang="en-MY" b="1"/>
                        <a:t>Live Acquisition</a:t>
                      </a:r>
                      <a:endParaRPr lang="en-MY"/>
                    </a:p>
                  </a:txBody>
                  <a:tcPr anchor="ctr">
                    <a:lnL>
                      <a:noFill/>
                    </a:lnL>
                    <a:lnR>
                      <a:noFill/>
                    </a:lnR>
                    <a:lnT>
                      <a:noFill/>
                    </a:lnT>
                    <a:lnB>
                      <a:noFill/>
                    </a:lnB>
                    <a:noFill/>
                  </a:tcPr>
                </a:tc>
                <a:tc>
                  <a:txBody>
                    <a:bodyPr/>
                    <a:lstStyle/>
                    <a:p>
                      <a:pPr>
                        <a:buNone/>
                      </a:pPr>
                      <a:r>
                        <a:rPr lang="en-US"/>
                        <a:t>Done while suspect’s OS is running.</a:t>
                      </a:r>
                    </a:p>
                  </a:txBody>
                  <a:tcPr anchor="ctr">
                    <a:lnL>
                      <a:noFill/>
                    </a:lnL>
                    <a:lnR>
                      <a:noFill/>
                    </a:lnR>
                    <a:lnT>
                      <a:noFill/>
                    </a:lnT>
                    <a:lnB>
                      <a:noFill/>
                    </a:lnB>
                    <a:noFill/>
                  </a:tcPr>
                </a:tc>
                <a:tc>
                  <a:txBody>
                    <a:bodyPr/>
                    <a:lstStyle/>
                    <a:p>
                      <a:pPr>
                        <a:buNone/>
                      </a:pPr>
                      <a:r>
                        <a:rPr lang="en-US" dirty="0"/>
                        <a:t>Risk of false data (rootkits, altered OS).</a:t>
                      </a:r>
                    </a:p>
                  </a:txBody>
                  <a:tcPr anchor="ctr">
                    <a:lnL>
                      <a:noFill/>
                    </a:lnL>
                    <a:lnR>
                      <a:noFill/>
                    </a:lnR>
                    <a:lnT>
                      <a:noFill/>
                    </a:lnT>
                    <a:lnB>
                      <a:noFill/>
                    </a:lnB>
                    <a:noFill/>
                  </a:tcPr>
                </a:tc>
                <a:extLst>
                  <a:ext uri="{0D108BD9-81ED-4DB2-BD59-A6C34878D82A}">
                    <a16:rowId xmlns:a16="http://schemas.microsoft.com/office/drawing/2014/main" val="1785565396"/>
                  </a:ext>
                </a:extLst>
              </a:tr>
            </a:tbl>
          </a:graphicData>
        </a:graphic>
      </p:graphicFrame>
    </p:spTree>
    <p:extLst>
      <p:ext uri="{BB962C8B-B14F-4D97-AF65-F5344CB8AC3E}">
        <p14:creationId xmlns:p14="http://schemas.microsoft.com/office/powerpoint/2010/main" val="40588427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EC3376-883F-4D8F-B3BD-5CC28B2F34C5}"/>
              </a:ext>
            </a:extLst>
          </p:cNvPr>
          <p:cNvSpPr>
            <a:spLocks noGrp="1"/>
          </p:cNvSpPr>
          <p:nvPr>
            <p:ph type="title"/>
          </p:nvPr>
        </p:nvSpPr>
        <p:spPr>
          <a:xfrm>
            <a:off x="841248" y="334644"/>
            <a:ext cx="10509504" cy="1076914"/>
          </a:xfrm>
        </p:spPr>
        <p:txBody>
          <a:bodyPr vert="horz" lIns="91440" tIns="45720" rIns="91440" bIns="45720" rtlCol="0" anchor="ctr">
            <a:normAutofit/>
          </a:bodyPr>
          <a:lstStyle/>
          <a:p>
            <a:r>
              <a:rPr lang="en-US" sz="4000" kern="1200">
                <a:solidFill>
                  <a:schemeClr val="tx1"/>
                </a:solidFill>
                <a:latin typeface="+mj-lt"/>
                <a:ea typeface="+mj-ea"/>
                <a:cs typeface="+mj-cs"/>
              </a:rPr>
              <a:t>Reading the Source Data</a:t>
            </a:r>
          </a:p>
        </p:txBody>
      </p:sp>
      <p:sp>
        <p:nvSpPr>
          <p:cNvPr id="12" name="Rectangle 11">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999B9B5-36E0-4844-BB4E-669DA9E20E9B}"/>
              </a:ext>
            </a:extLst>
          </p:cNvPr>
          <p:cNvSpPr>
            <a:spLocks/>
          </p:cNvSpPr>
          <p:nvPr/>
        </p:nvSpPr>
        <p:spPr>
          <a:xfrm>
            <a:off x="5241866" y="1737360"/>
            <a:ext cx="5734545" cy="4528049"/>
          </a:xfrm>
          <a:prstGeom prst="rect">
            <a:avLst/>
          </a:prstGeom>
        </p:spPr>
        <p:txBody>
          <a:bodyPr>
            <a:normAutofit/>
          </a:bodyPr>
          <a:lstStyle/>
          <a:p>
            <a:pPr defTabSz="841248">
              <a:spcAft>
                <a:spcPts val="600"/>
              </a:spcAft>
            </a:pPr>
            <a:r>
              <a:rPr lang="en-US" sz="1656" kern="1200">
                <a:solidFill>
                  <a:schemeClr val="tx1"/>
                </a:solidFill>
                <a:latin typeface="+mn-lt"/>
                <a:ea typeface="+mn-ea"/>
                <a:cs typeface="+mn-cs"/>
              </a:rPr>
              <a:t>When an acquisition tool is reading data from a disk, it needs to be capable of handling errors. </a:t>
            </a:r>
          </a:p>
          <a:p>
            <a:pPr defTabSz="841248">
              <a:spcAft>
                <a:spcPts val="600"/>
              </a:spcAft>
            </a:pPr>
            <a:r>
              <a:rPr lang="en-US" sz="1656" kern="1200">
                <a:solidFill>
                  <a:schemeClr val="tx1"/>
                </a:solidFill>
                <a:latin typeface="+mn-lt"/>
                <a:ea typeface="+mn-ea"/>
                <a:cs typeface="+mn-cs"/>
              </a:rPr>
              <a:t>The errors could be caused by a physical problem where the entire drive no longer works, or the errors could be in a limited number of sectors. </a:t>
            </a:r>
          </a:p>
          <a:p>
            <a:pPr defTabSz="841248">
              <a:spcAft>
                <a:spcPts val="600"/>
              </a:spcAft>
            </a:pPr>
            <a:r>
              <a:rPr lang="en-US" sz="1656" kern="1200">
                <a:solidFill>
                  <a:schemeClr val="tx1"/>
                </a:solidFill>
                <a:latin typeface="+mn-lt"/>
                <a:ea typeface="+mn-ea"/>
                <a:cs typeface="+mn-cs"/>
              </a:rPr>
              <a:t>If only a limited number of sectors is damaged, a normal acquisition can occur, provided that the acquisition tool properly handles the errors.</a:t>
            </a:r>
            <a:endParaRPr lang="en-US"/>
          </a:p>
        </p:txBody>
      </p:sp>
      <p:sp>
        <p:nvSpPr>
          <p:cNvPr id="4" name="Text Placeholder 3">
            <a:extLst>
              <a:ext uri="{FF2B5EF4-FFF2-40B4-BE49-F238E27FC236}">
                <a16:creationId xmlns:a16="http://schemas.microsoft.com/office/drawing/2014/main" id="{74C5B399-E950-4F14-81BD-B1F96D69BFB3}"/>
              </a:ext>
            </a:extLst>
          </p:cNvPr>
          <p:cNvSpPr>
            <a:spLocks/>
          </p:cNvSpPr>
          <p:nvPr/>
        </p:nvSpPr>
        <p:spPr>
          <a:xfrm>
            <a:off x="1206445" y="2731466"/>
            <a:ext cx="3653412" cy="3541318"/>
          </a:xfrm>
          <a:prstGeom prst="rect">
            <a:avLst/>
          </a:prstGeom>
        </p:spPr>
        <p:txBody>
          <a:bodyPr>
            <a:normAutofit/>
          </a:bodyPr>
          <a:lstStyle/>
          <a:p>
            <a:pPr defTabSz="841248">
              <a:spcAft>
                <a:spcPts val="600"/>
              </a:spcAft>
            </a:pPr>
            <a:r>
              <a:rPr lang="en-US" sz="2944" kern="1200">
                <a:solidFill>
                  <a:schemeClr val="tx1"/>
                </a:solidFill>
                <a:latin typeface="+mn-lt"/>
                <a:ea typeface="+mn-ea"/>
                <a:cs typeface="+mn-cs"/>
              </a:rPr>
              <a:t>Error Handling</a:t>
            </a:r>
            <a:endParaRPr lang="en-US" sz="3200"/>
          </a:p>
        </p:txBody>
      </p:sp>
    </p:spTree>
    <p:extLst>
      <p:ext uri="{BB962C8B-B14F-4D97-AF65-F5344CB8AC3E}">
        <p14:creationId xmlns:p14="http://schemas.microsoft.com/office/powerpoint/2010/main" val="285822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EC3376-883F-4D8F-B3BD-5CC28B2F34C5}"/>
              </a:ext>
            </a:extLst>
          </p:cNvPr>
          <p:cNvSpPr>
            <a:spLocks noGrp="1"/>
          </p:cNvSpPr>
          <p:nvPr>
            <p:ph type="title"/>
          </p:nvPr>
        </p:nvSpPr>
        <p:spPr>
          <a:xfrm>
            <a:off x="841248" y="334644"/>
            <a:ext cx="10509504" cy="1076914"/>
          </a:xfrm>
        </p:spPr>
        <p:txBody>
          <a:bodyPr vert="horz" lIns="91440" tIns="45720" rIns="91440" bIns="45720" rtlCol="0" anchor="ctr">
            <a:normAutofit/>
          </a:bodyPr>
          <a:lstStyle/>
          <a:p>
            <a:r>
              <a:rPr lang="en-US" sz="4000" kern="1200">
                <a:solidFill>
                  <a:schemeClr val="tx1"/>
                </a:solidFill>
                <a:latin typeface="+mj-lt"/>
                <a:ea typeface="+mj-ea"/>
                <a:cs typeface="+mj-cs"/>
              </a:rPr>
              <a:t>Reading the Source Data</a:t>
            </a:r>
          </a:p>
        </p:txBody>
      </p:sp>
      <p:sp>
        <p:nvSpPr>
          <p:cNvPr id="12" name="Rectangle 11">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999B9B5-36E0-4844-BB4E-669DA9E20E9B}"/>
              </a:ext>
            </a:extLst>
          </p:cNvPr>
          <p:cNvSpPr>
            <a:spLocks/>
          </p:cNvSpPr>
          <p:nvPr/>
        </p:nvSpPr>
        <p:spPr>
          <a:xfrm>
            <a:off x="5241866" y="1737360"/>
            <a:ext cx="5734545" cy="4528049"/>
          </a:xfrm>
          <a:prstGeom prst="rect">
            <a:avLst/>
          </a:prstGeom>
        </p:spPr>
        <p:txBody>
          <a:bodyPr>
            <a:normAutofit/>
          </a:bodyPr>
          <a:lstStyle/>
          <a:p>
            <a:pPr defTabSz="841248">
              <a:spcAft>
                <a:spcPts val="600"/>
              </a:spcAft>
            </a:pPr>
            <a:r>
              <a:rPr lang="en-US" sz="1656" kern="1200">
                <a:solidFill>
                  <a:schemeClr val="tx1"/>
                </a:solidFill>
                <a:latin typeface="+mn-lt"/>
                <a:ea typeface="+mn-ea"/>
                <a:cs typeface="+mn-cs"/>
              </a:rPr>
              <a:t>The generally accepted behavior for dealing with a bad sector is to log its address and write 0s for the data that could not be read. </a:t>
            </a:r>
          </a:p>
          <a:p>
            <a:pPr defTabSz="841248">
              <a:spcAft>
                <a:spcPts val="600"/>
              </a:spcAft>
            </a:pPr>
            <a:r>
              <a:rPr lang="en-US" sz="1656" kern="1200">
                <a:solidFill>
                  <a:schemeClr val="tx1"/>
                </a:solidFill>
                <a:latin typeface="+mn-lt"/>
                <a:ea typeface="+mn-ea"/>
                <a:cs typeface="+mn-cs"/>
              </a:rPr>
              <a:t>Writing 0s keeps the other data in its correct location. </a:t>
            </a:r>
          </a:p>
          <a:p>
            <a:pPr defTabSz="841248">
              <a:spcAft>
                <a:spcPts val="600"/>
              </a:spcAft>
            </a:pPr>
            <a:r>
              <a:rPr lang="en-US" sz="1656" kern="1200">
                <a:solidFill>
                  <a:schemeClr val="tx1"/>
                </a:solidFill>
                <a:latin typeface="+mn-lt"/>
                <a:ea typeface="+mn-ea"/>
                <a:cs typeface="+mn-cs"/>
              </a:rPr>
              <a:t>If the sector were ignored instead of writing 0s, the resulting copy would be too small, and most analysis tools would not work. </a:t>
            </a:r>
          </a:p>
          <a:p>
            <a:pPr defTabSz="841248">
              <a:spcAft>
                <a:spcPts val="600"/>
              </a:spcAft>
            </a:pPr>
            <a:r>
              <a:rPr lang="en-US" sz="1656" kern="1200">
                <a:solidFill>
                  <a:schemeClr val="tx1"/>
                </a:solidFill>
                <a:latin typeface="+mn-lt"/>
                <a:ea typeface="+mn-ea"/>
                <a:cs typeface="+mn-cs"/>
              </a:rPr>
              <a:t>Figure 3.2 shows a series of values that are being acquired.</a:t>
            </a:r>
          </a:p>
          <a:p>
            <a:pPr defTabSz="841248">
              <a:spcAft>
                <a:spcPts val="600"/>
              </a:spcAft>
            </a:pPr>
            <a:r>
              <a:rPr lang="en-US" sz="1656" kern="1200">
                <a:solidFill>
                  <a:schemeClr val="tx1"/>
                </a:solidFill>
                <a:latin typeface="+mn-lt"/>
                <a:ea typeface="+mn-ea"/>
                <a:cs typeface="+mn-cs"/>
              </a:rPr>
              <a:t>Three of the values have errors and cannot be read, so 0s are written to the copy.</a:t>
            </a:r>
            <a:endParaRPr lang="en-US"/>
          </a:p>
        </p:txBody>
      </p:sp>
      <p:sp>
        <p:nvSpPr>
          <p:cNvPr id="4" name="Text Placeholder 3">
            <a:extLst>
              <a:ext uri="{FF2B5EF4-FFF2-40B4-BE49-F238E27FC236}">
                <a16:creationId xmlns:a16="http://schemas.microsoft.com/office/drawing/2014/main" id="{74C5B399-E950-4F14-81BD-B1F96D69BFB3}"/>
              </a:ext>
            </a:extLst>
          </p:cNvPr>
          <p:cNvSpPr>
            <a:spLocks/>
          </p:cNvSpPr>
          <p:nvPr/>
        </p:nvSpPr>
        <p:spPr>
          <a:xfrm>
            <a:off x="1206445" y="2731466"/>
            <a:ext cx="3653412" cy="3541318"/>
          </a:xfrm>
          <a:prstGeom prst="rect">
            <a:avLst/>
          </a:prstGeom>
        </p:spPr>
        <p:txBody>
          <a:bodyPr>
            <a:normAutofit/>
          </a:bodyPr>
          <a:lstStyle/>
          <a:p>
            <a:pPr defTabSz="841248">
              <a:spcAft>
                <a:spcPts val="600"/>
              </a:spcAft>
            </a:pPr>
            <a:r>
              <a:rPr lang="en-US" sz="2944" kern="1200">
                <a:solidFill>
                  <a:schemeClr val="tx1"/>
                </a:solidFill>
                <a:latin typeface="+mn-lt"/>
                <a:ea typeface="+mn-ea"/>
                <a:cs typeface="+mn-cs"/>
              </a:rPr>
              <a:t>Error Handling (cont.)</a:t>
            </a:r>
            <a:endParaRPr lang="en-US" sz="3200"/>
          </a:p>
        </p:txBody>
      </p:sp>
    </p:spTree>
    <p:extLst>
      <p:ext uri="{BB962C8B-B14F-4D97-AF65-F5344CB8AC3E}">
        <p14:creationId xmlns:p14="http://schemas.microsoft.com/office/powerpoint/2010/main" val="13246919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1A1C5D3-C053-4EE9-BE1A-419B6E27C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0EC3376-883F-4D8F-B3BD-5CC28B2F34C5}"/>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4000" kern="1200">
                <a:solidFill>
                  <a:schemeClr val="tx1"/>
                </a:solidFill>
                <a:latin typeface="+mj-lt"/>
                <a:ea typeface="+mj-ea"/>
                <a:cs typeface="+mj-cs"/>
              </a:rPr>
              <a:t>Reading the Source Data</a:t>
            </a:r>
          </a:p>
        </p:txBody>
      </p:sp>
      <p:sp>
        <p:nvSpPr>
          <p:cNvPr id="15" name="Rectangle: Rounded Corners 14">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Text Placeholder 3">
            <a:extLst>
              <a:ext uri="{FF2B5EF4-FFF2-40B4-BE49-F238E27FC236}">
                <a16:creationId xmlns:a16="http://schemas.microsoft.com/office/drawing/2014/main" id="{74C5B399-E950-4F14-81BD-B1F96D69BFB3}"/>
              </a:ext>
            </a:extLst>
          </p:cNvPr>
          <p:cNvSpPr>
            <a:spLocks noGrp="1"/>
          </p:cNvSpPr>
          <p:nvPr>
            <p:ph type="body" sz="half" idx="2"/>
          </p:nvPr>
        </p:nvSpPr>
        <p:spPr>
          <a:xfrm>
            <a:off x="2615738" y="1263807"/>
            <a:ext cx="6960524" cy="598516"/>
          </a:xfrm>
        </p:spPr>
        <p:txBody>
          <a:bodyPr vert="horz" lIns="91440" tIns="45720" rIns="91440" bIns="45720" rtlCol="0" anchor="ctr">
            <a:normAutofit/>
          </a:bodyPr>
          <a:lstStyle/>
          <a:p>
            <a:pPr algn="ctr"/>
            <a:r>
              <a:rPr lang="en-US" sz="2000" kern="1200">
                <a:solidFill>
                  <a:schemeClr val="bg1"/>
                </a:solidFill>
                <a:latin typeface="+mn-lt"/>
                <a:ea typeface="+mn-ea"/>
                <a:cs typeface="+mn-cs"/>
              </a:rPr>
              <a:t>Error Handling (cont.)</a:t>
            </a:r>
          </a:p>
        </p:txBody>
      </p:sp>
      <p:pic>
        <p:nvPicPr>
          <p:cNvPr id="6" name="Content Placeholder 5" descr="A picture containing screenshot&#10;&#10;Description automatically generated">
            <a:extLst>
              <a:ext uri="{FF2B5EF4-FFF2-40B4-BE49-F238E27FC236}">
                <a16:creationId xmlns:a16="http://schemas.microsoft.com/office/drawing/2014/main" id="{7E47F80B-0623-45E2-BEFD-802B2F0763C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5572" y="2974274"/>
            <a:ext cx="11420856" cy="2426931"/>
          </a:xfrm>
          <a:prstGeom prst="rect">
            <a:avLst/>
          </a:prstGeom>
        </p:spPr>
      </p:pic>
    </p:spTree>
    <p:extLst>
      <p:ext uri="{BB962C8B-B14F-4D97-AF65-F5344CB8AC3E}">
        <p14:creationId xmlns:p14="http://schemas.microsoft.com/office/powerpoint/2010/main" val="4703524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EC3376-883F-4D8F-B3BD-5CC28B2F34C5}"/>
              </a:ext>
            </a:extLst>
          </p:cNvPr>
          <p:cNvSpPr>
            <a:spLocks noGrp="1"/>
          </p:cNvSpPr>
          <p:nvPr>
            <p:ph type="title"/>
          </p:nvPr>
        </p:nvSpPr>
        <p:spPr>
          <a:xfrm>
            <a:off x="841248" y="334644"/>
            <a:ext cx="10509504" cy="1076914"/>
          </a:xfrm>
        </p:spPr>
        <p:txBody>
          <a:bodyPr vert="horz" lIns="91440" tIns="45720" rIns="91440" bIns="45720" rtlCol="0" anchor="ctr">
            <a:normAutofit/>
          </a:bodyPr>
          <a:lstStyle/>
          <a:p>
            <a:r>
              <a:rPr lang="en-US" sz="4000" kern="1200">
                <a:solidFill>
                  <a:schemeClr val="tx1"/>
                </a:solidFill>
                <a:latin typeface="+mj-lt"/>
                <a:ea typeface="+mj-ea"/>
                <a:cs typeface="+mj-cs"/>
              </a:rPr>
              <a:t>Reading the Source Data</a:t>
            </a:r>
          </a:p>
        </p:txBody>
      </p:sp>
      <p:sp>
        <p:nvSpPr>
          <p:cNvPr id="12" name="Rectangle 11">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999B9B5-36E0-4844-BB4E-669DA9E20E9B}"/>
              </a:ext>
            </a:extLst>
          </p:cNvPr>
          <p:cNvSpPr>
            <a:spLocks/>
          </p:cNvSpPr>
          <p:nvPr/>
        </p:nvSpPr>
        <p:spPr>
          <a:xfrm>
            <a:off x="5241866" y="1737360"/>
            <a:ext cx="5734545" cy="4528049"/>
          </a:xfrm>
          <a:prstGeom prst="rect">
            <a:avLst/>
          </a:prstGeom>
        </p:spPr>
        <p:txBody>
          <a:bodyPr>
            <a:normAutofit/>
          </a:bodyPr>
          <a:lstStyle/>
          <a:p>
            <a:pPr defTabSz="841248">
              <a:spcAft>
                <a:spcPts val="600"/>
              </a:spcAft>
            </a:pPr>
            <a:r>
              <a:rPr lang="en-US" sz="1656" kern="1200">
                <a:solidFill>
                  <a:schemeClr val="tx1"/>
                </a:solidFill>
                <a:latin typeface="+mn-lt"/>
                <a:ea typeface="+mn-ea"/>
                <a:cs typeface="+mn-cs"/>
              </a:rPr>
              <a:t>When acquiring data from an ATA disk, you should pay attention to the </a:t>
            </a:r>
            <a:r>
              <a:rPr lang="en-US" sz="1656" i="1" kern="1200">
                <a:solidFill>
                  <a:schemeClr val="tx1"/>
                </a:solidFill>
                <a:latin typeface="+mn-lt"/>
                <a:ea typeface="+mn-ea"/>
                <a:cs typeface="+mn-cs"/>
              </a:rPr>
              <a:t>Host Protected Area </a:t>
            </a:r>
            <a:r>
              <a:rPr lang="en-US" sz="1656" kern="1200">
                <a:solidFill>
                  <a:schemeClr val="tx1"/>
                </a:solidFill>
                <a:latin typeface="+mn-lt"/>
                <a:ea typeface="+mn-ea"/>
                <a:cs typeface="+mn-cs"/>
              </a:rPr>
              <a:t>(HPA) of the disk because it could contain hidden data. </a:t>
            </a:r>
          </a:p>
          <a:p>
            <a:pPr defTabSz="841248">
              <a:spcAft>
                <a:spcPts val="600"/>
              </a:spcAft>
            </a:pPr>
            <a:r>
              <a:rPr lang="en-US" sz="1656" kern="1200">
                <a:solidFill>
                  <a:schemeClr val="tx1"/>
                </a:solidFill>
                <a:latin typeface="+mn-lt"/>
                <a:ea typeface="+mn-ea"/>
                <a:cs typeface="+mn-cs"/>
              </a:rPr>
              <a:t>Unless an acquisition tool looks for an HPA, it will not be acquired. </a:t>
            </a:r>
          </a:p>
          <a:p>
            <a:pPr defTabSz="841248">
              <a:spcAft>
                <a:spcPts val="600"/>
              </a:spcAft>
            </a:pPr>
            <a:r>
              <a:rPr lang="en-US" sz="1656" kern="1200">
                <a:solidFill>
                  <a:schemeClr val="tx1"/>
                </a:solidFill>
                <a:latin typeface="+mn-lt"/>
                <a:ea typeface="+mn-ea"/>
                <a:cs typeface="+mn-cs"/>
              </a:rPr>
              <a:t>A tool can detect an HPA by comparing the output of two ATA commands. </a:t>
            </a:r>
          </a:p>
          <a:p>
            <a:pPr defTabSz="841248">
              <a:spcAft>
                <a:spcPts val="600"/>
              </a:spcAft>
            </a:pPr>
            <a:r>
              <a:rPr lang="en-US" sz="1656" kern="1200">
                <a:solidFill>
                  <a:schemeClr val="tx1"/>
                </a:solidFill>
                <a:latin typeface="+mn-lt"/>
                <a:ea typeface="+mn-ea"/>
                <a:cs typeface="+mn-cs"/>
              </a:rPr>
              <a:t>The READ_NATIVE_MAX_ADDRESS command gives the total number of sectors on the disk, and the IDENTIFY_DEVICE returns the total number of sectors that a user can access. </a:t>
            </a:r>
          </a:p>
          <a:p>
            <a:pPr defTabSz="841248">
              <a:spcAft>
                <a:spcPts val="600"/>
              </a:spcAft>
            </a:pPr>
            <a:r>
              <a:rPr lang="en-US" sz="1656" kern="1200">
                <a:solidFill>
                  <a:schemeClr val="tx1"/>
                </a:solidFill>
                <a:latin typeface="+mn-lt"/>
                <a:ea typeface="+mn-ea"/>
                <a:cs typeface="+mn-cs"/>
              </a:rPr>
              <a:t>If an HPA exists, these two values will be different.</a:t>
            </a:r>
            <a:endParaRPr lang="en-US"/>
          </a:p>
        </p:txBody>
      </p:sp>
      <p:sp>
        <p:nvSpPr>
          <p:cNvPr id="4" name="Text Placeholder 3">
            <a:extLst>
              <a:ext uri="{FF2B5EF4-FFF2-40B4-BE49-F238E27FC236}">
                <a16:creationId xmlns:a16="http://schemas.microsoft.com/office/drawing/2014/main" id="{74C5B399-E950-4F14-81BD-B1F96D69BFB3}"/>
              </a:ext>
            </a:extLst>
          </p:cNvPr>
          <p:cNvSpPr>
            <a:spLocks/>
          </p:cNvSpPr>
          <p:nvPr/>
        </p:nvSpPr>
        <p:spPr>
          <a:xfrm>
            <a:off x="1206445" y="2731466"/>
            <a:ext cx="3653412" cy="3541318"/>
          </a:xfrm>
          <a:prstGeom prst="rect">
            <a:avLst/>
          </a:prstGeom>
        </p:spPr>
        <p:txBody>
          <a:bodyPr>
            <a:normAutofit/>
          </a:bodyPr>
          <a:lstStyle/>
          <a:p>
            <a:pPr defTabSz="841248">
              <a:spcAft>
                <a:spcPts val="600"/>
              </a:spcAft>
            </a:pPr>
            <a:r>
              <a:rPr lang="en-US" sz="2944" kern="1200">
                <a:solidFill>
                  <a:schemeClr val="tx1"/>
                </a:solidFill>
                <a:latin typeface="+mn-lt"/>
                <a:ea typeface="+mn-ea"/>
                <a:cs typeface="+mn-cs"/>
              </a:rPr>
              <a:t>Host Protected Area (HPA)</a:t>
            </a:r>
            <a:endParaRPr lang="en-US" sz="3200"/>
          </a:p>
        </p:txBody>
      </p:sp>
    </p:spTree>
    <p:extLst>
      <p:ext uri="{BB962C8B-B14F-4D97-AF65-F5344CB8AC3E}">
        <p14:creationId xmlns:p14="http://schemas.microsoft.com/office/powerpoint/2010/main" val="3184642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4E4D846-3AFC-4F86-8C35-24B0542A26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Magnifying glass on clear background">
            <a:extLst>
              <a:ext uri="{FF2B5EF4-FFF2-40B4-BE49-F238E27FC236}">
                <a16:creationId xmlns:a16="http://schemas.microsoft.com/office/drawing/2014/main" id="{0C0B5E0F-61D1-ACF9-9AFA-0CBF02C87A03}"/>
              </a:ext>
            </a:extLst>
          </p:cNvPr>
          <p:cNvPicPr>
            <a:picLocks noChangeAspect="1"/>
          </p:cNvPicPr>
          <p:nvPr/>
        </p:nvPicPr>
        <p:blipFill rotWithShape="1">
          <a:blip r:embed="rId2"/>
          <a:srcRect l="15628" r="-1" b="-1"/>
          <a:stretch/>
        </p:blipFill>
        <p:spPr>
          <a:xfrm>
            <a:off x="20" y="10"/>
            <a:ext cx="8668492" cy="6857990"/>
          </a:xfrm>
          <a:prstGeom prst="rect">
            <a:avLst/>
          </a:prstGeom>
        </p:spPr>
      </p:pic>
      <p:sp>
        <p:nvSpPr>
          <p:cNvPr id="13" name="Rectangle 12">
            <a:extLst>
              <a:ext uri="{FF2B5EF4-FFF2-40B4-BE49-F238E27FC236}">
                <a16:creationId xmlns:a16="http://schemas.microsoft.com/office/drawing/2014/main" id="{284781B9-12CB-45C3-907A-9ED93FF72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435399" y="0"/>
            <a:ext cx="9756601" cy="6858000"/>
          </a:xfrm>
          <a:prstGeom prst="rect">
            <a:avLst/>
          </a:prstGeom>
          <a:gradFill>
            <a:gsLst>
              <a:gs pos="53000">
                <a:schemeClr val="bg1"/>
              </a:gs>
              <a:gs pos="35000">
                <a:schemeClr val="bg1">
                  <a:alpha val="76000"/>
                </a:schemeClr>
              </a:gs>
              <a:gs pos="19000">
                <a:schemeClr val="bg1">
                  <a:alpha val="40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687333"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3018" y="2443480"/>
            <a:ext cx="3218688"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003B5199-2783-41C7-AC29-BF8D2931DFE6}"/>
              </a:ext>
            </a:extLst>
          </p:cNvPr>
          <p:cNvSpPr txBox="1"/>
          <p:nvPr/>
        </p:nvSpPr>
        <p:spPr>
          <a:xfrm>
            <a:off x="8370470" y="2718054"/>
            <a:ext cx="3438906" cy="3207258"/>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700"/>
              <a:t>Thank you</a:t>
            </a:r>
          </a:p>
          <a:p>
            <a:pPr indent="-228600">
              <a:lnSpc>
                <a:spcPct val="90000"/>
              </a:lnSpc>
              <a:spcAft>
                <a:spcPts val="600"/>
              </a:spcAft>
              <a:buFont typeface="Arial" panose="020B0604020202020204" pitchFamily="34" charset="0"/>
              <a:buChar char="•"/>
            </a:pPr>
            <a:r>
              <a:rPr lang="en-US" sz="1700"/>
              <a:t>تريما کاسيه</a:t>
            </a:r>
          </a:p>
          <a:p>
            <a:pPr indent="-228600">
              <a:lnSpc>
                <a:spcPct val="90000"/>
              </a:lnSpc>
              <a:spcAft>
                <a:spcPts val="600"/>
              </a:spcAft>
              <a:buFont typeface="Arial" panose="020B0604020202020204" pitchFamily="34" charset="0"/>
              <a:buChar char="•"/>
            </a:pPr>
            <a:r>
              <a:rPr lang="en-US" sz="1700"/>
              <a:t>شكرا</a:t>
            </a:r>
          </a:p>
          <a:p>
            <a:pPr indent="-228600">
              <a:lnSpc>
                <a:spcPct val="90000"/>
              </a:lnSpc>
              <a:spcAft>
                <a:spcPts val="600"/>
              </a:spcAft>
              <a:buFont typeface="Arial" panose="020B0604020202020204" pitchFamily="34" charset="0"/>
              <a:buChar char="•"/>
            </a:pPr>
            <a:r>
              <a:rPr lang="ja-JP" altLang="en-US" sz="1700"/>
              <a:t>谢谢</a:t>
            </a:r>
            <a:endParaRPr lang="en-US" altLang="ja-JP" sz="1700"/>
          </a:p>
          <a:p>
            <a:pPr indent="-228600">
              <a:lnSpc>
                <a:spcPct val="90000"/>
              </a:lnSpc>
              <a:spcAft>
                <a:spcPts val="600"/>
              </a:spcAft>
              <a:buFont typeface="Arial" panose="020B0604020202020204" pitchFamily="34" charset="0"/>
              <a:buChar char="•"/>
            </a:pPr>
            <a:r>
              <a:rPr lang="en-US" sz="1700"/>
              <a:t>நன்றி</a:t>
            </a:r>
          </a:p>
        </p:txBody>
      </p:sp>
    </p:spTree>
    <p:extLst>
      <p:ext uri="{BB962C8B-B14F-4D97-AF65-F5344CB8AC3E}">
        <p14:creationId xmlns:p14="http://schemas.microsoft.com/office/powerpoint/2010/main" val="13030760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4705</TotalTime>
  <Words>2723</Words>
  <Application>Microsoft Office PowerPoint</Application>
  <PresentationFormat>Widescreen</PresentationFormat>
  <Paragraphs>210</Paragraphs>
  <Slides>24</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Meiryo</vt:lpstr>
      <vt:lpstr>Aptos</vt:lpstr>
      <vt:lpstr>Arial</vt:lpstr>
      <vt:lpstr>Calibri</vt:lpstr>
      <vt:lpstr>Calibri Light</vt:lpstr>
      <vt:lpstr>Office Theme</vt:lpstr>
      <vt:lpstr>  TSF3313 FILE SYSTEM FORENSICS Chapter 3 Hard Disk Data Acquisition</vt:lpstr>
      <vt:lpstr>Hard Disk Data Acquisition</vt:lpstr>
      <vt:lpstr>Introduction</vt:lpstr>
      <vt:lpstr>Introduction</vt:lpstr>
      <vt:lpstr>Introduction</vt:lpstr>
      <vt:lpstr>Introduction</vt:lpstr>
      <vt:lpstr>Introduction</vt:lpstr>
      <vt:lpstr>Introduction</vt:lpstr>
      <vt:lpstr>ISO/IEC 17025 + forensic extensions</vt:lpstr>
      <vt:lpstr>Examples of What a Forensic Lab Must Have</vt:lpstr>
      <vt:lpstr>Reading the Source Data</vt:lpstr>
      <vt:lpstr>Reading the Source Data</vt:lpstr>
      <vt:lpstr>Reading the Source Data</vt:lpstr>
      <vt:lpstr>Reading the Source Data</vt:lpstr>
      <vt:lpstr>Reading the Source Data</vt:lpstr>
      <vt:lpstr>Reading the Source Data</vt:lpstr>
      <vt:lpstr>Reading the Source Data</vt:lpstr>
      <vt:lpstr>Reading the Source Data</vt:lpstr>
      <vt:lpstr>Dead vs. Live Acquisition</vt:lpstr>
      <vt:lpstr>Reading the Source Data</vt:lpstr>
      <vt:lpstr>Reading the Source Data</vt:lpstr>
      <vt:lpstr>Reading the Source Data</vt:lpstr>
      <vt:lpstr>Reading the Source Data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Hassan Mohamed</dc:creator>
  <cp:lastModifiedBy>Afiqah binti Mohammad Azahari</cp:lastModifiedBy>
  <cp:revision>231</cp:revision>
  <dcterms:created xsi:type="dcterms:W3CDTF">2020-02-20T00:45:27Z</dcterms:created>
  <dcterms:modified xsi:type="dcterms:W3CDTF">2025-10-12T03:33:17Z</dcterms:modified>
</cp:coreProperties>
</file>